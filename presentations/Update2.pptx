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slides/slide21.xml" ContentType="application/vnd.openxmlformats-officedocument.presentationml.slide+xml"/>
  <Override PartName="/ppt/slides/slide2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5.xml" ContentType="application/vnd.openxmlformats-officedocument.presentationml.slide+xml"/>
  <Override PartName="/ppt/slides/slide17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18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27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tableStyles.xml" ContentType="application/vnd.openxmlformats-officedocument.presentationml.tableStyles+xml"/>
</Types>
</file>

<file path=_rels/.rels><?xml version="1.0" encoding="UTF-8" standalone="yes"?><Relationships xmlns="http://schemas.openxmlformats.org/package/2006/relationships"><Relationship Target="ppt/presentation.xml" Type="http://schemas.openxmlformats.org/officeDocument/2006/relationships/officeDocument" Id="rId1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aveSubsetFonts="1" autoCompressPictures="0" mc:PreserveAttributes="mv:*" mc:Ignorable="mv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9144000"/>
  <p:notesSz cy="9144000" cx="6858000"/>
  <p:defaultTextStyle>
    <a:defPPr algn="l" rtl="0" marR="0">
      <a:lnSpc>
        <a:spcPct val="100000"/>
      </a:lnSpc>
      <a:spcBef>
        <a:spcPts val="0"/>
      </a:spcBef>
      <a:spcAft>
        <a:spcPts val="0"/>
      </a:spcAft>
    </a:defPPr>
    <a:lvl1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97649D8B-2F51-45C9-BCD0-68BC1B8C9F0F}">
  <a:tblStyle styleName="Table_0" styleId="{97649D8B-2F51-45C9-BCD0-68BC1B8C9F0F}">
    <a:wholeTbl>
      <a:tcStyle>
        <a:tcBdr>
          <a:left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left>
          <a:right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right>
          <a:top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top>
          <a:bottom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bottom>
          <a:insideH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insideH>
          <a:insideV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insideV>
        </a:tcBdr>
      </a:tcStyle>
    </a:wholeTbl>
  </a:tblStyle>
</a:tblStyleLst>
</file>

<file path=ppt/_rels/presentation.xml.rels><?xml version="1.0" encoding="UTF-8" standalone="yes"?><Relationships xmlns="http://schemas.openxmlformats.org/package/2006/relationships"><Relationship Target="slides/slide14.xml" Type="http://schemas.openxmlformats.org/officeDocument/2006/relationships/slide" Id="rId19"/><Relationship Target="slides/slide13.xml" Type="http://schemas.openxmlformats.org/officeDocument/2006/relationships/slide" Id="rId18"/><Relationship Target="slides/slide12.xml" Type="http://schemas.openxmlformats.org/officeDocument/2006/relationships/slide" Id="rId17"/><Relationship Target="slides/slide11.xml" Type="http://schemas.openxmlformats.org/officeDocument/2006/relationships/slide" Id="rId16"/><Relationship Target="slides/slide10.xml" Type="http://schemas.openxmlformats.org/officeDocument/2006/relationships/slide" Id="rId15"/><Relationship Target="slides/slide9.xml" Type="http://schemas.openxmlformats.org/officeDocument/2006/relationships/slide" Id="rId14"/><Relationship Target="slides/slide25.xml" Type="http://schemas.openxmlformats.org/officeDocument/2006/relationships/slide" Id="rId30"/><Relationship Target="slides/slide7.xml" Type="http://schemas.openxmlformats.org/officeDocument/2006/relationships/slide" Id="rId12"/><Relationship Target="slides/slide26.xml" Type="http://schemas.openxmlformats.org/officeDocument/2006/relationships/slide" Id="rId31"/><Relationship Target="slides/slide8.xml" Type="http://schemas.openxmlformats.org/officeDocument/2006/relationships/slide" Id="rId13"/><Relationship Target="slides/slide5.xml" Type="http://schemas.openxmlformats.org/officeDocument/2006/relationships/slide" Id="rId10"/><Relationship Target="slides/slide6.xml" Type="http://schemas.openxmlformats.org/officeDocument/2006/relationships/slide" Id="rId11"/><Relationship Target="slides/slide27.xml" Type="http://schemas.openxmlformats.org/officeDocument/2006/relationships/slide" Id="rId32"/><Relationship Target="slides/slide28.xml" Type="http://schemas.openxmlformats.org/officeDocument/2006/relationships/slide" Id="rId33"/><Relationship Target="slides/slide24.xml" Type="http://schemas.openxmlformats.org/officeDocument/2006/relationships/slide" Id="rId29"/><Relationship Target="slides/slide21.xml" Type="http://schemas.openxmlformats.org/officeDocument/2006/relationships/slide" Id="rId26"/><Relationship Target="slides/slide20.xml" Type="http://schemas.openxmlformats.org/officeDocument/2006/relationships/slide" Id="rId25"/><Relationship Target="slides/slide23.xml" Type="http://schemas.openxmlformats.org/officeDocument/2006/relationships/slide" Id="rId28"/><Relationship Target="slides/slide22.xml" Type="http://schemas.openxmlformats.org/officeDocument/2006/relationships/slide" Id="rId27"/><Relationship Target="presProps.xml" Type="http://schemas.openxmlformats.org/officeDocument/2006/relationships/presProps" Id="rId2"/><Relationship Target="slides/slide16.xml" Type="http://schemas.openxmlformats.org/officeDocument/2006/relationships/slide" Id="rId21"/><Relationship Target="theme/theme1.xml" Type="http://schemas.openxmlformats.org/officeDocument/2006/relationships/theme" Id="rId1"/><Relationship Target="slides/slide17.xml" Type="http://schemas.openxmlformats.org/officeDocument/2006/relationships/slide" Id="rId22"/><Relationship Target="slideMasters/slideMaster1.xml" Type="http://schemas.openxmlformats.org/officeDocument/2006/relationships/slideMaster" Id="rId4"/><Relationship Target="slides/slide18.xml" Type="http://schemas.openxmlformats.org/officeDocument/2006/relationships/slide" Id="rId23"/><Relationship Target="tableStyles.xml" Type="http://schemas.openxmlformats.org/officeDocument/2006/relationships/tableStyles" Id="rId3"/><Relationship Target="slides/slide19.xml" Type="http://schemas.openxmlformats.org/officeDocument/2006/relationships/slide" Id="rId24"/><Relationship Target="slides/slide15.xml" Type="http://schemas.openxmlformats.org/officeDocument/2006/relationships/slide" Id="rId20"/><Relationship Target="slides/slide4.xml" Type="http://schemas.openxmlformats.org/officeDocument/2006/relationships/slide" Id="rId9"/><Relationship Target="slides/slide1.xml" Type="http://schemas.openxmlformats.org/officeDocument/2006/relationships/slide" Id="rId6"/><Relationship Target="notesMasters/notesMaster1.xml" Type="http://schemas.openxmlformats.org/officeDocument/2006/relationships/notesMaster" Id="rId5"/><Relationship Target="slides/slide3.xml" Type="http://schemas.openxmlformats.org/officeDocument/2006/relationships/slide" Id="rId8"/><Relationship Target="slides/slide2.xml" Type="http://schemas.openxmlformats.org/officeDocument/2006/relationships/slide" Id="rId7"/></Relationships>
</file>

<file path=ppt/notesMasters/_rels/notesMaster1.xml.rels><?xml version="1.0" encoding="UTF-8" standalone="yes"?><Relationships xmlns="http://schemas.openxmlformats.org/package/2006/relationships"><Relationship Target="../theme/theme2.xml" Type="http://schemas.openxmlformats.org/officeDocument/2006/relationships/theme" Id="rId1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" name="Shape 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Shape 2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" name="Shape 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</p:notesMaster>
</file>

<file path=ppt/notesSlides/_rels/notesSlide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60" name="Shape 6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1" name="Shape 6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62" name="Shape 6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65" name="Shape 6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6" name="Shape 66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67" name="Shape 6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77" name="Shape 7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8" name="Shape 7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79" name="Shape 7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89" name="Shape 8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0" name="Shape 90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91" name="Shape 9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00" name="Shape 10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1" name="Shape 10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02" name="Shape 10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08" name="Shape 10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9" name="Shape 109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10" name="Shape 11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16" name="Shape 11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7" name="Shape 117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18" name="Shape 11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24" name="Shape 12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5" name="Shape 125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26" name="Shape 12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32" name="Shape 13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3" name="Shape 133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34" name="Shape 13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40" name="Shape 14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1" name="Shape 14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42" name="Shape 14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55" name="Shape 15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6" name="Shape 156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57" name="Shape 15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72" name="Shape 17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3" name="Shape 173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74" name="Shape 17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78" name="Shape 17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9" name="Shape 179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80" name="Shape 18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83" name="Shape 18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4" name="Shape 184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85" name="Shape 18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89" name="Shape 18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90" name="Shape 190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91" name="Shape 19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96" name="Shape 19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97" name="Shape 197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98" name="Shape 19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03" name="Shape 20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4" name="Shape 204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05" name="Shape 20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11" name="Shape 21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12" name="Shape 21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13" name="Shape 21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19" name="Shape 21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0" name="Shape 220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21" name="Shape 22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26" name="Shape 22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7" name="Shape 227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28" name="Shape 22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33" name="Shape 23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4" name="Shape 234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35" name="Shape 23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40" name="Shape 24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41" name="Shape 24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42" name="Shape 24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46" name="Shape 24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47" name="Shape 247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48" name="Shape 24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51" name="Shape 25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2" name="Shape 25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53" name="Shape 25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57" name="Shape 25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8" name="Shape 25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59" name="Shape 25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63" name="Shape 26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4" name="Shape 264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65" name="Shape 26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69" name="Shape 26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70" name="Shape 270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71" name="Shape 27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75" name="Shape 27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76" name="Shape 276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77" name="Shape 27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2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3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4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5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6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" type="title">
  <p:cSld name="title">
    <p:spTree>
      <p:nvGrpSpPr>
        <p:cNvPr id="7" name="Shape 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" name="Shape 8"/>
          <p:cNvSpPr/>
          <p:nvPr/>
        </p:nvSpPr>
        <p:spPr>
          <a:xfrm>
            <a:off y="4056001" x="381000"/>
            <a:ext cy="803275" cx="2835275"/>
          </a:xfrm>
          <a:custGeom>
            <a:pathLst>
              <a:path w="3572" extrusionOk="0" h="1012">
                <a:moveTo>
                  <a:pt y="303" x="1427"/>
                </a:moveTo>
                <a:lnTo>
                  <a:pt y="303" x="1427"/>
                </a:lnTo>
                <a:lnTo>
                  <a:pt y="0" x="1427"/>
                </a:lnTo>
                <a:lnTo>
                  <a:pt y="0" x="0"/>
                </a:lnTo>
                <a:lnTo>
                  <a:pt y="594" x="0"/>
                </a:lnTo>
                <a:lnTo>
                  <a:pt y="594" x="0"/>
                </a:lnTo>
                <a:lnTo>
                  <a:pt y="615" x="0"/>
                </a:lnTo>
                <a:lnTo>
                  <a:pt y="636" x="1"/>
                </a:lnTo>
                <a:lnTo>
                  <a:pt y="658" x="5"/>
                </a:lnTo>
                <a:lnTo>
                  <a:pt y="679" x="10"/>
                </a:lnTo>
                <a:lnTo>
                  <a:pt y="698" x="16"/>
                </a:lnTo>
                <a:lnTo>
                  <a:pt y="718" x="23"/>
                </a:lnTo>
                <a:lnTo>
                  <a:pt y="738" x="31"/>
                </a:lnTo>
                <a:lnTo>
                  <a:pt y="757" x="39"/>
                </a:lnTo>
                <a:lnTo>
                  <a:pt y="775" x="49"/>
                </a:lnTo>
                <a:lnTo>
                  <a:pt y="793" x="60"/>
                </a:lnTo>
                <a:lnTo>
                  <a:pt y="811" x="73"/>
                </a:lnTo>
                <a:lnTo>
                  <a:pt y="827" x="86"/>
                </a:lnTo>
                <a:lnTo>
                  <a:pt y="844" x="99"/>
                </a:lnTo>
                <a:lnTo>
                  <a:pt y="860" x="114"/>
                </a:lnTo>
                <a:lnTo>
                  <a:pt y="875" x="130"/>
                </a:lnTo>
                <a:lnTo>
                  <a:pt y="889" x="147"/>
                </a:lnTo>
                <a:lnTo>
                  <a:pt y="902" x="165"/>
                </a:lnTo>
                <a:lnTo>
                  <a:pt y="917" x="183"/>
                </a:lnTo>
                <a:lnTo>
                  <a:pt y="929" x="202"/>
                </a:lnTo>
                <a:lnTo>
                  <a:pt y="940" x="222"/>
                </a:lnTo>
                <a:lnTo>
                  <a:pt y="951" x="243"/>
                </a:lnTo>
                <a:lnTo>
                  <a:pt y="961" x="264"/>
                </a:lnTo>
                <a:lnTo>
                  <a:pt y="971" x="285"/>
                </a:lnTo>
                <a:lnTo>
                  <a:pt y="979" x="308"/>
                </a:lnTo>
                <a:lnTo>
                  <a:pt y="986" x="331"/>
                </a:lnTo>
                <a:lnTo>
                  <a:pt y="992" x="354"/>
                </a:lnTo>
                <a:lnTo>
                  <a:pt y="999" x="378"/>
                </a:lnTo>
                <a:lnTo>
                  <a:pt y="1004" x="403"/>
                </a:lnTo>
                <a:lnTo>
                  <a:pt y="1007" x="427"/>
                </a:lnTo>
                <a:lnTo>
                  <a:pt y="1010" x="454"/>
                </a:lnTo>
                <a:lnTo>
                  <a:pt y="1012" x="478"/>
                </a:lnTo>
                <a:lnTo>
                  <a:pt y="1012" x="504"/>
                </a:lnTo>
                <a:lnTo>
                  <a:pt y="1012" x="3572"/>
                </a:lnTo>
                <a:lnTo>
                  <a:pt y="760" x="3572"/>
                </a:lnTo>
                <a:lnTo>
                  <a:pt y="760" x="1882"/>
                </a:lnTo>
                <a:lnTo>
                  <a:pt y="760" x="1882"/>
                </a:lnTo>
                <a:lnTo>
                  <a:pt y="759" x="1859"/>
                </a:lnTo>
                <a:lnTo>
                  <a:pt y="757" x="1836"/>
                </a:lnTo>
                <a:lnTo>
                  <a:pt y="754" x="1814"/>
                </a:lnTo>
                <a:lnTo>
                  <a:pt y="751" x="1791"/>
                </a:lnTo>
                <a:lnTo>
                  <a:pt y="746" x="1768"/>
                </a:lnTo>
                <a:lnTo>
                  <a:pt y="739" x="1747"/>
                </a:lnTo>
                <a:lnTo>
                  <a:pt y="733" x="1725"/>
                </a:lnTo>
                <a:lnTo>
                  <a:pt y="724" x="1704"/>
                </a:lnTo>
                <a:lnTo>
                  <a:pt y="715" x="1685"/>
                </a:lnTo>
                <a:lnTo>
                  <a:pt y="705" x="1665"/>
                </a:lnTo>
                <a:lnTo>
                  <a:pt y="693" x="1645"/>
                </a:lnTo>
                <a:lnTo>
                  <a:pt y="682" x="1627"/>
                </a:lnTo>
                <a:lnTo>
                  <a:pt y="669" x="1609"/>
                </a:lnTo>
                <a:lnTo>
                  <a:pt y="656" x="1592"/>
                </a:lnTo>
                <a:lnTo>
                  <a:pt y="641" x="1575"/>
                </a:lnTo>
                <a:lnTo>
                  <a:pt y="627" x="1560"/>
                </a:lnTo>
                <a:lnTo>
                  <a:pt y="610" x="1544"/>
                </a:lnTo>
                <a:lnTo>
                  <a:pt y="594" x="1529"/>
                </a:lnTo>
                <a:lnTo>
                  <a:pt y="576" x="1516"/>
                </a:lnTo>
                <a:lnTo>
                  <a:pt y="558" x="1503"/>
                </a:lnTo>
                <a:lnTo>
                  <a:pt y="540" x="1492"/>
                </a:lnTo>
                <a:lnTo>
                  <a:pt y="520" x="1480"/>
                </a:lnTo>
                <a:lnTo>
                  <a:pt y="501" x="1471"/>
                </a:lnTo>
                <a:lnTo>
                  <a:pt y="481" x="1463"/>
                </a:lnTo>
                <a:lnTo>
                  <a:pt y="460" x="1454"/>
                </a:lnTo>
                <a:lnTo>
                  <a:pt y="439" x="1446"/>
                </a:lnTo>
                <a:lnTo>
                  <a:pt y="418" x="1440"/>
                </a:lnTo>
                <a:lnTo>
                  <a:pt y="395" x="1435"/>
                </a:lnTo>
                <a:lnTo>
                  <a:pt y="372" x="1432"/>
                </a:lnTo>
                <a:lnTo>
                  <a:pt y="349" x="1428"/>
                </a:lnTo>
                <a:lnTo>
                  <a:pt y="326" x="1427"/>
                </a:lnTo>
                <a:lnTo>
                  <a:pt y="303" x="1427"/>
                </a:lnTo>
                <a:lnTo>
                  <a:pt y="303" x="14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9" name="Shape 9"/>
          <p:cNvSpPr/>
          <p:nvPr/>
        </p:nvSpPr>
        <p:spPr>
          <a:xfrm>
            <a:off y="4659251" x="6781800"/>
            <a:ext cy="736601" cx="1903412"/>
          </a:xfrm>
          <a:custGeom>
            <a:pathLst>
              <a:path w="2398" extrusionOk="0" h="927">
                <a:moveTo>
                  <a:pt y="708" x="971"/>
                </a:moveTo>
                <a:lnTo>
                  <a:pt y="708" x="971"/>
                </a:lnTo>
                <a:lnTo>
                  <a:pt y="927" x="971"/>
                </a:lnTo>
                <a:lnTo>
                  <a:pt y="927" x="2398"/>
                </a:lnTo>
                <a:lnTo>
                  <a:pt y="418" x="2398"/>
                </a:lnTo>
                <a:lnTo>
                  <a:pt y="418" x="2398"/>
                </a:lnTo>
                <a:lnTo>
                  <a:pt y="395" x="2398"/>
                </a:lnTo>
                <a:lnTo>
                  <a:pt y="374" x="2395"/>
                </a:lnTo>
                <a:lnTo>
                  <a:pt y="354" x="2392"/>
                </a:lnTo>
                <a:lnTo>
                  <a:pt y="333" x="2389"/>
                </a:lnTo>
                <a:lnTo>
                  <a:pt y="313" x="2382"/>
                </a:lnTo>
                <a:lnTo>
                  <a:pt y="294" x="2375"/>
                </a:lnTo>
                <a:lnTo>
                  <a:pt y="274" x="2367"/>
                </a:lnTo>
                <a:lnTo>
                  <a:pt y="254" x="2359"/>
                </a:lnTo>
                <a:lnTo>
                  <a:pt y="236" x="2348"/>
                </a:lnTo>
                <a:lnTo>
                  <a:pt y="219" x="2338"/>
                </a:lnTo>
                <a:lnTo>
                  <a:pt y="201" x="2325"/>
                </a:lnTo>
                <a:lnTo>
                  <a:pt y="184" x="2312"/>
                </a:lnTo>
                <a:lnTo>
                  <a:pt y="168" x="2299"/>
                </a:lnTo>
                <a:lnTo>
                  <a:pt y="152" x="2282"/>
                </a:lnTo>
                <a:lnTo>
                  <a:pt y="137" x="2268"/>
                </a:lnTo>
                <a:lnTo>
                  <a:pt y="122" x="2250"/>
                </a:lnTo>
                <a:lnTo>
                  <a:pt y="108" x="2233"/>
                </a:lnTo>
                <a:lnTo>
                  <a:pt y="94" x="2214"/>
                </a:lnTo>
                <a:lnTo>
                  <a:pt y="83" x="2196"/>
                </a:lnTo>
                <a:lnTo>
                  <a:pt y="70" x="2176"/>
                </a:lnTo>
                <a:lnTo>
                  <a:pt y="60" x="2155"/>
                </a:lnTo>
                <a:lnTo>
                  <a:pt y="50" x="2134"/>
                </a:lnTo>
                <a:lnTo>
                  <a:pt y="41" x="2113"/>
                </a:lnTo>
                <a:lnTo>
                  <a:pt y="32" x="2090"/>
                </a:lnTo>
                <a:lnTo>
                  <a:pt y="24" x="2067"/>
                </a:lnTo>
                <a:lnTo>
                  <a:pt y="18" x="2044"/>
                </a:lnTo>
                <a:lnTo>
                  <a:pt y="13" x="2020"/>
                </a:lnTo>
                <a:lnTo>
                  <a:pt y="8" x="1995"/>
                </a:lnTo>
                <a:lnTo>
                  <a:pt y="5" x="1971"/>
                </a:lnTo>
                <a:lnTo>
                  <a:pt y="1" x="1944"/>
                </a:lnTo>
                <a:lnTo>
                  <a:pt y="0" x="1920"/>
                </a:lnTo>
                <a:lnTo>
                  <a:pt y="0" x="1894"/>
                </a:lnTo>
                <a:lnTo>
                  <a:pt y="0" x="0"/>
                </a:lnTo>
                <a:lnTo>
                  <a:pt y="251" x="0"/>
                </a:lnTo>
                <a:lnTo>
                  <a:pt y="251" x="514"/>
                </a:lnTo>
                <a:lnTo>
                  <a:pt y="251" x="514"/>
                </a:lnTo>
                <a:lnTo>
                  <a:pt y="251" x="539"/>
                </a:lnTo>
                <a:lnTo>
                  <a:pt y="254" x="562"/>
                </a:lnTo>
                <a:lnTo>
                  <a:pt y="256" x="585"/>
                </a:lnTo>
                <a:lnTo>
                  <a:pt y="261" x="607"/>
                </a:lnTo>
                <a:lnTo>
                  <a:pt y="266" x="629"/>
                </a:lnTo>
                <a:lnTo>
                  <a:pt y="272" x="651"/>
                </a:lnTo>
                <a:lnTo>
                  <a:pt y="279" x="673"/>
                </a:lnTo>
                <a:lnTo>
                  <a:pt y="287" x="692"/>
                </a:lnTo>
                <a:lnTo>
                  <a:pt y="297" x="713"/>
                </a:lnTo>
                <a:lnTo>
                  <a:pt y="307" x="733"/>
                </a:lnTo>
                <a:lnTo>
                  <a:pt y="318" x="753"/>
                </a:lnTo>
                <a:lnTo>
                  <a:pt y="330" x="771"/>
                </a:lnTo>
                <a:lnTo>
                  <a:pt y="343" x="789"/>
                </a:lnTo>
                <a:lnTo>
                  <a:pt y="356" x="805"/>
                </a:lnTo>
                <a:lnTo>
                  <a:pt y="370" x="823"/>
                </a:lnTo>
                <a:lnTo>
                  <a:pt y="385" x="838"/>
                </a:lnTo>
                <a:lnTo>
                  <a:pt y="401" x="854"/>
                </a:lnTo>
                <a:lnTo>
                  <a:pt y="418" x="867"/>
                </a:lnTo>
                <a:lnTo>
                  <a:pt y="434" x="882"/>
                </a:lnTo>
                <a:lnTo>
                  <a:pt y="452" x="893"/>
                </a:lnTo>
                <a:lnTo>
                  <a:pt y="472" x="906"/>
                </a:lnTo>
                <a:lnTo>
                  <a:pt y="491" x="918"/>
                </a:lnTo>
                <a:lnTo>
                  <a:pt y="511" x="927"/>
                </a:lnTo>
                <a:lnTo>
                  <a:pt y="530" x="936"/>
                </a:lnTo>
                <a:lnTo>
                  <a:pt y="552" x="944"/>
                </a:lnTo>
                <a:lnTo>
                  <a:pt y="573" x="952"/>
                </a:lnTo>
                <a:lnTo>
                  <a:pt y="594" x="957"/>
                </a:lnTo>
                <a:lnTo>
                  <a:pt y="617" x="963"/>
                </a:lnTo>
                <a:lnTo>
                  <a:pt y="638" x="967"/>
                </a:lnTo>
                <a:lnTo>
                  <a:pt y="661" x="970"/>
                </a:lnTo>
                <a:lnTo>
                  <a:pt y="685" x="971"/>
                </a:lnTo>
                <a:lnTo>
                  <a:pt y="708" x="971"/>
                </a:lnTo>
                <a:lnTo>
                  <a:pt y="708" x="97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10" name="Shape 10"/>
          <p:cNvSpPr/>
          <p:nvPr/>
        </p:nvSpPr>
        <p:spPr>
          <a:xfrm>
            <a:off y="0" x="381000"/>
            <a:ext cy="3962399" cx="11366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11" name="Shape 11"/>
          <p:cNvSpPr/>
          <p:nvPr/>
        </p:nvSpPr>
        <p:spPr>
          <a:xfrm>
            <a:off y="4659251" x="3268663"/>
            <a:ext cy="200099" cx="1700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12" name="Shape 12"/>
          <p:cNvSpPr/>
          <p:nvPr/>
        </p:nvSpPr>
        <p:spPr>
          <a:xfrm>
            <a:off y="4659251" x="5021262"/>
            <a:ext cy="200099" cx="16841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13" name="Shape 13"/>
          <p:cNvSpPr/>
          <p:nvPr/>
        </p:nvSpPr>
        <p:spPr>
          <a:xfrm>
            <a:off y="5449826" x="7546975"/>
            <a:ext cy="1409700" cx="1139824"/>
          </a:xfrm>
          <a:custGeom>
            <a:pathLst>
              <a:path w="1437" extrusionOk="0" h="1776">
                <a:moveTo>
                  <a:pt y="1776" x="1435"/>
                </a:moveTo>
                <a:lnTo>
                  <a:pt y="1776" x="0"/>
                </a:lnTo>
                <a:lnTo>
                  <a:pt y="0" x="2"/>
                </a:lnTo>
                <a:lnTo>
                  <a:pt y="0" x="1437"/>
                </a:lnTo>
                <a:lnTo>
                  <a:pt y="1776" x="143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14" name="Shape 14"/>
          <p:cNvSpPr txBox="1"/>
          <p:nvPr>
            <p:ph type="ctrTitle"/>
          </p:nvPr>
        </p:nvSpPr>
        <p:spPr>
          <a:xfrm>
            <a:off y="2916233" x="2220060"/>
            <a:ext cy="1650599" cx="47100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ctr" rtl="0" indent="3048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rtl="0" indent="3048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rtl="0" indent="3048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rtl="0" indent="3048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rtl="0" indent="3048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rtl="0" indent="3048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rtl="0" indent="3048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rtl="0" indent="3048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rtl="0" indent="3048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48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Shape 15"/>
          <p:cNvSpPr txBox="1"/>
          <p:nvPr>
            <p:ph idx="1" type="subTitle"/>
          </p:nvPr>
        </p:nvSpPr>
        <p:spPr>
          <a:xfrm>
            <a:off y="4974907" x="2220060"/>
            <a:ext cy="884999" cx="47100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ctr" rtl="0" indent="152400" mar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trike="noStrike" u="none" b="0" cap="none" baseline="0" sz="24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rtl="0" indent="152400" mar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trike="noStrike" u="none" b="0" cap="none" baseline="0" sz="24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rtl="0" indent="152400" mar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trike="noStrike" u="none" b="0" cap="none" baseline="0" sz="24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rtl="0" indent="152400" mar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trike="noStrike" u="none" b="0" cap="none" baseline="0" sz="24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rtl="0" indent="152400" mar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trike="noStrike" u="none" b="0" cap="none" baseline="0" sz="24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rtl="0" indent="152400" mar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trike="noStrike" u="none" b="0" cap="none" baseline="0" sz="24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rtl="0" indent="152400" mar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trike="noStrike" u="none" b="0" cap="none" baseline="0" sz="24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rtl="0" indent="152400" mar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trike="noStrike" u="none" b="0" cap="none" baseline="0" sz="24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rtl="0" indent="152400" mar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trike="noStrike" u="none" b="0" cap="none" baseline="0" sz="24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x" type="tx">
  <p:cSld name="tx">
    <p:spTree>
      <p:nvGrpSpPr>
        <p:cNvPr id="16" name="Shape 1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" name="Shape 17"/>
          <p:cNvSpPr/>
          <p:nvPr/>
        </p:nvSpPr>
        <p:spPr>
          <a:xfrm>
            <a:off y="1371600" x="152401"/>
            <a:ext cy="3182937" cx="2208212"/>
          </a:xfrm>
          <a:custGeom>
            <a:pathLst>
              <a:path w="2782" extrusionOk="0" h="4010">
                <a:moveTo>
                  <a:pt y="719" x="635"/>
                </a:moveTo>
                <a:lnTo>
                  <a:pt y="719" x="635"/>
                </a:lnTo>
                <a:lnTo>
                  <a:pt y="4010" x="635"/>
                </a:lnTo>
                <a:lnTo>
                  <a:pt y="4010" x="0"/>
                </a:lnTo>
                <a:lnTo>
                  <a:pt y="418" x="0"/>
                </a:lnTo>
                <a:lnTo>
                  <a:pt y="418" x="0"/>
                </a:lnTo>
                <a:lnTo>
                  <a:pt y="397" x="0"/>
                </a:lnTo>
                <a:lnTo>
                  <a:pt y="376" x="2"/>
                </a:lnTo>
                <a:lnTo>
                  <a:pt y="355" x="5"/>
                </a:lnTo>
                <a:lnTo>
                  <a:pt y="333" x="10"/>
                </a:lnTo>
                <a:lnTo>
                  <a:pt y="314" x="15"/>
                </a:lnTo>
                <a:lnTo>
                  <a:pt y="294" x="21"/>
                </a:lnTo>
                <a:lnTo>
                  <a:pt y="275" x="29"/>
                </a:lnTo>
                <a:lnTo>
                  <a:pt y="255" x="39"/>
                </a:lnTo>
                <a:lnTo>
                  <a:pt y="237" x="49"/>
                </a:lnTo>
                <a:lnTo>
                  <a:pt y="219" x="60"/>
                </a:lnTo>
                <a:lnTo>
                  <a:pt y="201" x="72"/>
                </a:lnTo>
                <a:lnTo>
                  <a:pt y="185" x="85"/>
                </a:lnTo>
                <a:lnTo>
                  <a:pt y="169" x="100"/>
                </a:lnTo>
                <a:lnTo>
                  <a:pt y="152" x="114"/>
                </a:lnTo>
                <a:lnTo>
                  <a:pt y="137" x="131"/>
                </a:lnTo>
                <a:lnTo>
                  <a:pt y="123" x="147"/>
                </a:lnTo>
                <a:lnTo>
                  <a:pt y="110" x="165"/>
                </a:lnTo>
                <a:lnTo>
                  <a:pt y="97" x="183"/>
                </a:lnTo>
                <a:lnTo>
                  <a:pt y="84" x="202"/>
                </a:lnTo>
                <a:lnTo>
                  <a:pt y="72" x="222"/>
                </a:lnTo>
                <a:lnTo>
                  <a:pt y="61" x="242"/>
                </a:lnTo>
                <a:lnTo>
                  <a:pt y="51" x="263"/>
                </a:lnTo>
                <a:lnTo>
                  <a:pt y="41" x="286"/>
                </a:lnTo>
                <a:lnTo>
                  <a:pt y="33" x="307"/>
                </a:lnTo>
                <a:lnTo>
                  <a:pt y="26" x="330"/>
                </a:lnTo>
                <a:lnTo>
                  <a:pt y="20" x="354"/>
                </a:lnTo>
                <a:lnTo>
                  <a:pt y="13" x="379"/>
                </a:lnTo>
                <a:lnTo>
                  <a:pt y="9" x="403"/>
                </a:lnTo>
                <a:lnTo>
                  <a:pt y="5" x="428"/>
                </a:lnTo>
                <a:lnTo>
                  <a:pt y="4" x="452"/>
                </a:lnTo>
                <a:lnTo>
                  <a:pt y="2" x="478"/>
                </a:lnTo>
                <a:lnTo>
                  <a:pt y="0" x="504"/>
                </a:lnTo>
                <a:lnTo>
                  <a:pt y="0" x="2782"/>
                </a:lnTo>
                <a:lnTo>
                  <a:pt y="263" x="2782"/>
                </a:lnTo>
                <a:lnTo>
                  <a:pt y="263" x="1092"/>
                </a:lnTo>
                <a:lnTo>
                  <a:pt y="263" x="1092"/>
                </a:lnTo>
                <a:lnTo>
                  <a:pt y="263" x="1069"/>
                </a:lnTo>
                <a:lnTo>
                  <a:pt y="265" x="1045"/>
                </a:lnTo>
                <a:lnTo>
                  <a:pt y="268" x="1022"/>
                </a:lnTo>
                <a:lnTo>
                  <a:pt y="271" x="1001"/>
                </a:lnTo>
                <a:lnTo>
                  <a:pt y="276" x="978"/>
                </a:lnTo>
                <a:lnTo>
                  <a:pt y="283" x="957"/>
                </a:lnTo>
                <a:lnTo>
                  <a:pt y="291" x="935"/>
                </a:lnTo>
                <a:lnTo>
                  <a:pt y="299" x="914"/>
                </a:lnTo>
                <a:lnTo>
                  <a:pt y="307" x="895"/>
                </a:lnTo>
                <a:lnTo>
                  <a:pt y="317" x="875"/>
                </a:lnTo>
                <a:lnTo>
                  <a:pt y="329" x="855"/>
                </a:lnTo>
                <a:lnTo>
                  <a:pt y="340" x="838"/>
                </a:lnTo>
                <a:lnTo>
                  <a:pt y="353" x="820"/>
                </a:lnTo>
                <a:lnTo>
                  <a:pt y="368" x="802"/>
                </a:lnTo>
                <a:lnTo>
                  <a:pt y="381" x="785"/>
                </a:lnTo>
                <a:lnTo>
                  <a:pt y="397" x="769"/>
                </a:lnTo>
                <a:lnTo>
                  <a:pt y="412" x="754"/>
                </a:lnTo>
                <a:lnTo>
                  <a:pt y="428" x="740"/>
                </a:lnTo>
                <a:lnTo>
                  <a:pt y="446" x="727"/>
                </a:lnTo>
                <a:lnTo>
                  <a:pt y="464" x="713"/>
                </a:lnTo>
                <a:lnTo>
                  <a:pt y="482" x="702"/>
                </a:lnTo>
                <a:lnTo>
                  <a:pt y="502" x="691"/>
                </a:lnTo>
                <a:lnTo>
                  <a:pt y="521" x="681"/>
                </a:lnTo>
                <a:lnTo>
                  <a:pt y="542" x="671"/>
                </a:lnTo>
                <a:lnTo>
                  <a:pt y="562" x="663"/>
                </a:lnTo>
                <a:lnTo>
                  <a:pt y="583" x="656"/>
                </a:lnTo>
                <a:lnTo>
                  <a:pt y="606" x="650"/>
                </a:lnTo>
                <a:lnTo>
                  <a:pt y="627" x="645"/>
                </a:lnTo>
                <a:lnTo>
                  <a:pt y="650" x="640"/>
                </a:lnTo>
                <a:lnTo>
                  <a:pt y="673" x="638"/>
                </a:lnTo>
                <a:lnTo>
                  <a:pt y="696" x="637"/>
                </a:lnTo>
                <a:lnTo>
                  <a:pt y="719" x="635"/>
                </a:lnTo>
                <a:lnTo>
                  <a:pt y="719" x="63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18" name="Shape 18"/>
          <p:cNvSpPr/>
          <p:nvPr/>
        </p:nvSpPr>
        <p:spPr>
          <a:xfrm>
            <a:off y="4641850" x="152401"/>
            <a:ext cy="2216099" cx="4985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19" name="Shape 19"/>
          <p:cNvSpPr/>
          <p:nvPr/>
        </p:nvSpPr>
        <p:spPr>
          <a:xfrm>
            <a:off y="1371600" x="2413000"/>
            <a:ext cy="207900" cx="2432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20" name="Shape 20"/>
          <p:cNvSpPr/>
          <p:nvPr/>
        </p:nvSpPr>
        <p:spPr>
          <a:xfrm>
            <a:off y="1371600" x="4911726"/>
            <a:ext cy="207900" cx="1965299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21" name="Shape 21"/>
          <p:cNvSpPr/>
          <p:nvPr/>
        </p:nvSpPr>
        <p:spPr>
          <a:xfrm>
            <a:off y="1371600" x="6943725"/>
            <a:ext cy="207900" cx="2200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y="1579562" x="854948"/>
            <a:ext cy="49881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 indent="-457200" marL="457200">
              <a:defRPr>
                <a:solidFill>
                  <a:schemeClr val="lt2"/>
                </a:solidFill>
              </a:defRPr>
            </a:lvl1pPr>
            <a:lvl2pPr rtl="0" indent="-342900" marL="800100">
              <a:defRPr>
                <a:solidFill>
                  <a:schemeClr val="lt2"/>
                </a:solidFill>
              </a:defRPr>
            </a:lvl2pPr>
            <a:lvl3pPr rtl="0" indent="-342900" marL="1257300">
              <a:defRPr>
                <a:solidFill>
                  <a:schemeClr val="lt2"/>
                </a:solidFill>
              </a:defRPr>
            </a:lvl3pPr>
            <a:lvl4pPr rtl="0" indent="-285750" marL="1657350">
              <a:defRPr>
                <a:solidFill>
                  <a:schemeClr val="lt2"/>
                </a:solidFill>
              </a:defRPr>
            </a:lvl4pPr>
            <a:lvl5pPr rtl="0" indent="-285750" marL="2114550">
              <a:defRPr sz="1800">
                <a:solidFill>
                  <a:schemeClr val="lt2"/>
                </a:solidFill>
              </a:defRPr>
            </a:lvl5pPr>
            <a:lvl6pPr rtl="0" indent="-285750" marL="2571750">
              <a:defRPr sz="1800">
                <a:solidFill>
                  <a:schemeClr val="lt2"/>
                </a:solidFill>
              </a:defRPr>
            </a:lvl6pPr>
            <a:lvl7pPr rtl="0" indent="-285750" marL="3028950">
              <a:defRPr sz="1800">
                <a:solidFill>
                  <a:schemeClr val="lt2"/>
                </a:solidFill>
              </a:defRPr>
            </a:lvl7pPr>
            <a:lvl8pPr rtl="0" indent="-285750" marL="3486150">
              <a:defRPr sz="1800">
                <a:solidFill>
                  <a:schemeClr val="lt2"/>
                </a:solidFill>
              </a:defRPr>
            </a:lvl8pPr>
            <a:lvl9pPr rtl="0" indent="-285750" marL="3943350"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" name="Shape 23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woColTx" type="twoColTx">
  <p:cSld name="twoColTx">
    <p:spTree>
      <p:nvGrpSpPr>
        <p:cNvPr id="24" name="Shape 2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" name="Shape 25"/>
          <p:cNvSpPr/>
          <p:nvPr/>
        </p:nvSpPr>
        <p:spPr>
          <a:xfrm>
            <a:off y="1371600" x="152401"/>
            <a:ext cy="3182937" cx="2208212"/>
          </a:xfrm>
          <a:custGeom>
            <a:pathLst>
              <a:path w="2782" extrusionOk="0" h="4010">
                <a:moveTo>
                  <a:pt y="719" x="635"/>
                </a:moveTo>
                <a:lnTo>
                  <a:pt y="719" x="635"/>
                </a:lnTo>
                <a:lnTo>
                  <a:pt y="4010" x="635"/>
                </a:lnTo>
                <a:lnTo>
                  <a:pt y="4010" x="0"/>
                </a:lnTo>
                <a:lnTo>
                  <a:pt y="418" x="0"/>
                </a:lnTo>
                <a:lnTo>
                  <a:pt y="418" x="0"/>
                </a:lnTo>
                <a:lnTo>
                  <a:pt y="397" x="0"/>
                </a:lnTo>
                <a:lnTo>
                  <a:pt y="376" x="2"/>
                </a:lnTo>
                <a:lnTo>
                  <a:pt y="355" x="5"/>
                </a:lnTo>
                <a:lnTo>
                  <a:pt y="333" x="10"/>
                </a:lnTo>
                <a:lnTo>
                  <a:pt y="314" x="15"/>
                </a:lnTo>
                <a:lnTo>
                  <a:pt y="294" x="21"/>
                </a:lnTo>
                <a:lnTo>
                  <a:pt y="275" x="29"/>
                </a:lnTo>
                <a:lnTo>
                  <a:pt y="255" x="39"/>
                </a:lnTo>
                <a:lnTo>
                  <a:pt y="237" x="49"/>
                </a:lnTo>
                <a:lnTo>
                  <a:pt y="219" x="60"/>
                </a:lnTo>
                <a:lnTo>
                  <a:pt y="201" x="72"/>
                </a:lnTo>
                <a:lnTo>
                  <a:pt y="185" x="85"/>
                </a:lnTo>
                <a:lnTo>
                  <a:pt y="169" x="100"/>
                </a:lnTo>
                <a:lnTo>
                  <a:pt y="152" x="114"/>
                </a:lnTo>
                <a:lnTo>
                  <a:pt y="137" x="131"/>
                </a:lnTo>
                <a:lnTo>
                  <a:pt y="123" x="147"/>
                </a:lnTo>
                <a:lnTo>
                  <a:pt y="110" x="165"/>
                </a:lnTo>
                <a:lnTo>
                  <a:pt y="97" x="183"/>
                </a:lnTo>
                <a:lnTo>
                  <a:pt y="84" x="202"/>
                </a:lnTo>
                <a:lnTo>
                  <a:pt y="72" x="222"/>
                </a:lnTo>
                <a:lnTo>
                  <a:pt y="61" x="242"/>
                </a:lnTo>
                <a:lnTo>
                  <a:pt y="51" x="263"/>
                </a:lnTo>
                <a:lnTo>
                  <a:pt y="41" x="286"/>
                </a:lnTo>
                <a:lnTo>
                  <a:pt y="33" x="307"/>
                </a:lnTo>
                <a:lnTo>
                  <a:pt y="26" x="330"/>
                </a:lnTo>
                <a:lnTo>
                  <a:pt y="20" x="354"/>
                </a:lnTo>
                <a:lnTo>
                  <a:pt y="13" x="379"/>
                </a:lnTo>
                <a:lnTo>
                  <a:pt y="9" x="403"/>
                </a:lnTo>
                <a:lnTo>
                  <a:pt y="5" x="428"/>
                </a:lnTo>
                <a:lnTo>
                  <a:pt y="4" x="452"/>
                </a:lnTo>
                <a:lnTo>
                  <a:pt y="2" x="478"/>
                </a:lnTo>
                <a:lnTo>
                  <a:pt y="0" x="504"/>
                </a:lnTo>
                <a:lnTo>
                  <a:pt y="0" x="2782"/>
                </a:lnTo>
                <a:lnTo>
                  <a:pt y="263" x="2782"/>
                </a:lnTo>
                <a:lnTo>
                  <a:pt y="263" x="1092"/>
                </a:lnTo>
                <a:lnTo>
                  <a:pt y="263" x="1092"/>
                </a:lnTo>
                <a:lnTo>
                  <a:pt y="263" x="1069"/>
                </a:lnTo>
                <a:lnTo>
                  <a:pt y="265" x="1045"/>
                </a:lnTo>
                <a:lnTo>
                  <a:pt y="268" x="1022"/>
                </a:lnTo>
                <a:lnTo>
                  <a:pt y="271" x="1001"/>
                </a:lnTo>
                <a:lnTo>
                  <a:pt y="276" x="978"/>
                </a:lnTo>
                <a:lnTo>
                  <a:pt y="283" x="957"/>
                </a:lnTo>
                <a:lnTo>
                  <a:pt y="291" x="935"/>
                </a:lnTo>
                <a:lnTo>
                  <a:pt y="299" x="914"/>
                </a:lnTo>
                <a:lnTo>
                  <a:pt y="307" x="895"/>
                </a:lnTo>
                <a:lnTo>
                  <a:pt y="317" x="875"/>
                </a:lnTo>
                <a:lnTo>
                  <a:pt y="329" x="855"/>
                </a:lnTo>
                <a:lnTo>
                  <a:pt y="340" x="838"/>
                </a:lnTo>
                <a:lnTo>
                  <a:pt y="353" x="820"/>
                </a:lnTo>
                <a:lnTo>
                  <a:pt y="368" x="802"/>
                </a:lnTo>
                <a:lnTo>
                  <a:pt y="381" x="785"/>
                </a:lnTo>
                <a:lnTo>
                  <a:pt y="397" x="769"/>
                </a:lnTo>
                <a:lnTo>
                  <a:pt y="412" x="754"/>
                </a:lnTo>
                <a:lnTo>
                  <a:pt y="428" x="740"/>
                </a:lnTo>
                <a:lnTo>
                  <a:pt y="446" x="727"/>
                </a:lnTo>
                <a:lnTo>
                  <a:pt y="464" x="713"/>
                </a:lnTo>
                <a:lnTo>
                  <a:pt y="482" x="702"/>
                </a:lnTo>
                <a:lnTo>
                  <a:pt y="502" x="691"/>
                </a:lnTo>
                <a:lnTo>
                  <a:pt y="521" x="681"/>
                </a:lnTo>
                <a:lnTo>
                  <a:pt y="542" x="671"/>
                </a:lnTo>
                <a:lnTo>
                  <a:pt y="562" x="663"/>
                </a:lnTo>
                <a:lnTo>
                  <a:pt y="583" x="656"/>
                </a:lnTo>
                <a:lnTo>
                  <a:pt y="606" x="650"/>
                </a:lnTo>
                <a:lnTo>
                  <a:pt y="627" x="645"/>
                </a:lnTo>
                <a:lnTo>
                  <a:pt y="650" x="640"/>
                </a:lnTo>
                <a:lnTo>
                  <a:pt y="673" x="638"/>
                </a:lnTo>
                <a:lnTo>
                  <a:pt y="696" x="637"/>
                </a:lnTo>
                <a:lnTo>
                  <a:pt y="719" x="635"/>
                </a:lnTo>
                <a:lnTo>
                  <a:pt y="719" x="63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26" name="Shape 26"/>
          <p:cNvSpPr/>
          <p:nvPr/>
        </p:nvSpPr>
        <p:spPr>
          <a:xfrm>
            <a:off y="4641850" x="152401"/>
            <a:ext cy="2216099" cx="4985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27" name="Shape 27"/>
          <p:cNvSpPr/>
          <p:nvPr/>
        </p:nvSpPr>
        <p:spPr>
          <a:xfrm>
            <a:off y="1371600" x="2413000"/>
            <a:ext cy="207900" cx="2432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28" name="Shape 28"/>
          <p:cNvSpPr/>
          <p:nvPr/>
        </p:nvSpPr>
        <p:spPr>
          <a:xfrm>
            <a:off y="1371600" x="4911726"/>
            <a:ext cy="207900" cx="1965299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29" name="Shape 29"/>
          <p:cNvSpPr/>
          <p:nvPr/>
        </p:nvSpPr>
        <p:spPr>
          <a:xfrm>
            <a:off y="1371600" x="6943725"/>
            <a:ext cy="207900" cx="2200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y="1579562" x="854948"/>
            <a:ext cy="4988100" cx="3859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 indent="-457200" marL="457200">
              <a:defRPr>
                <a:solidFill>
                  <a:schemeClr val="lt2"/>
                </a:solidFill>
              </a:defRPr>
            </a:lvl1pPr>
            <a:lvl2pPr rtl="0">
              <a:defRPr>
                <a:solidFill>
                  <a:schemeClr val="lt2"/>
                </a:solidFill>
              </a:defRPr>
            </a:lvl2pPr>
            <a:lvl3pPr rtl="0">
              <a:defRPr>
                <a:solidFill>
                  <a:schemeClr val="lt2"/>
                </a:solidFill>
              </a:defRPr>
            </a:lvl3pPr>
            <a:lvl4pPr rtl="0">
              <a:defRPr>
                <a:solidFill>
                  <a:schemeClr val="lt2"/>
                </a:solidFill>
              </a:defRPr>
            </a:lvl4pPr>
            <a:lvl5pPr rtl="0">
              <a:defRPr sz="1800">
                <a:solidFill>
                  <a:schemeClr val="lt2"/>
                </a:solidFill>
              </a:defRPr>
            </a:lvl5pPr>
            <a:lvl6pPr rtl="0">
              <a:defRPr sz="1800">
                <a:solidFill>
                  <a:schemeClr val="lt2"/>
                </a:solidFill>
              </a:defRPr>
            </a:lvl6pPr>
            <a:lvl7pPr rtl="0">
              <a:defRPr sz="1800">
                <a:solidFill>
                  <a:schemeClr val="lt2"/>
                </a:solidFill>
              </a:defRPr>
            </a:lvl7pPr>
            <a:lvl8pPr rtl="0">
              <a:defRPr sz="1800">
                <a:solidFill>
                  <a:schemeClr val="lt2"/>
                </a:solidFill>
              </a:defRPr>
            </a:lvl8pPr>
            <a:lvl9pPr rtl="0"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" name="Shape 31"/>
          <p:cNvSpPr txBox="1"/>
          <p:nvPr>
            <p:ph idx="2" type="body"/>
          </p:nvPr>
        </p:nvSpPr>
        <p:spPr>
          <a:xfrm>
            <a:off y="1579562" x="4827083"/>
            <a:ext cy="4988100" cx="3859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 indent="-457200" marL="457200">
              <a:defRPr>
                <a:solidFill>
                  <a:schemeClr val="lt2"/>
                </a:solidFill>
              </a:defRPr>
            </a:lvl1pPr>
            <a:lvl2pPr rtl="0">
              <a:defRPr>
                <a:solidFill>
                  <a:schemeClr val="lt2"/>
                </a:solidFill>
              </a:defRPr>
            </a:lvl2pPr>
            <a:lvl3pPr rtl="0">
              <a:defRPr>
                <a:solidFill>
                  <a:schemeClr val="lt2"/>
                </a:solidFill>
              </a:defRPr>
            </a:lvl3pPr>
            <a:lvl4pPr rtl="0">
              <a:defRPr>
                <a:solidFill>
                  <a:schemeClr val="lt2"/>
                </a:solidFill>
              </a:defRPr>
            </a:lvl4pPr>
            <a:lvl5pPr rtl="0">
              <a:defRPr sz="1800">
                <a:solidFill>
                  <a:schemeClr val="lt2"/>
                </a:solidFill>
              </a:defRPr>
            </a:lvl5pPr>
            <a:lvl6pPr rtl="0">
              <a:defRPr sz="1800">
                <a:solidFill>
                  <a:schemeClr val="lt2"/>
                </a:solidFill>
              </a:defRPr>
            </a:lvl6pPr>
            <a:lvl7pPr rtl="0">
              <a:defRPr sz="1800">
                <a:solidFill>
                  <a:schemeClr val="lt2"/>
                </a:solidFill>
              </a:defRPr>
            </a:lvl7pPr>
            <a:lvl8pPr rtl="0">
              <a:defRPr sz="1800">
                <a:solidFill>
                  <a:schemeClr val="lt2"/>
                </a:solidFill>
              </a:defRPr>
            </a:lvl8pPr>
            <a:lvl9pPr rtl="0"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" name="Shape 32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Only" type="titleOnly">
  <p:cSld name="titleOnly">
    <p:spTree>
      <p:nvGrpSpPr>
        <p:cNvPr id="33" name="Shape 3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" name="Shape 34"/>
          <p:cNvSpPr/>
          <p:nvPr/>
        </p:nvSpPr>
        <p:spPr>
          <a:xfrm>
            <a:off y="1371600" x="152401"/>
            <a:ext cy="3182937" cx="2208212"/>
          </a:xfrm>
          <a:custGeom>
            <a:pathLst>
              <a:path w="2782" extrusionOk="0" h="4010">
                <a:moveTo>
                  <a:pt y="719" x="635"/>
                </a:moveTo>
                <a:lnTo>
                  <a:pt y="719" x="635"/>
                </a:lnTo>
                <a:lnTo>
                  <a:pt y="4010" x="635"/>
                </a:lnTo>
                <a:lnTo>
                  <a:pt y="4010" x="0"/>
                </a:lnTo>
                <a:lnTo>
                  <a:pt y="418" x="0"/>
                </a:lnTo>
                <a:lnTo>
                  <a:pt y="418" x="0"/>
                </a:lnTo>
                <a:lnTo>
                  <a:pt y="397" x="0"/>
                </a:lnTo>
                <a:lnTo>
                  <a:pt y="376" x="2"/>
                </a:lnTo>
                <a:lnTo>
                  <a:pt y="355" x="5"/>
                </a:lnTo>
                <a:lnTo>
                  <a:pt y="333" x="10"/>
                </a:lnTo>
                <a:lnTo>
                  <a:pt y="314" x="15"/>
                </a:lnTo>
                <a:lnTo>
                  <a:pt y="294" x="21"/>
                </a:lnTo>
                <a:lnTo>
                  <a:pt y="275" x="29"/>
                </a:lnTo>
                <a:lnTo>
                  <a:pt y="255" x="39"/>
                </a:lnTo>
                <a:lnTo>
                  <a:pt y="237" x="49"/>
                </a:lnTo>
                <a:lnTo>
                  <a:pt y="219" x="60"/>
                </a:lnTo>
                <a:lnTo>
                  <a:pt y="201" x="72"/>
                </a:lnTo>
                <a:lnTo>
                  <a:pt y="185" x="85"/>
                </a:lnTo>
                <a:lnTo>
                  <a:pt y="169" x="100"/>
                </a:lnTo>
                <a:lnTo>
                  <a:pt y="152" x="114"/>
                </a:lnTo>
                <a:lnTo>
                  <a:pt y="137" x="131"/>
                </a:lnTo>
                <a:lnTo>
                  <a:pt y="123" x="147"/>
                </a:lnTo>
                <a:lnTo>
                  <a:pt y="110" x="165"/>
                </a:lnTo>
                <a:lnTo>
                  <a:pt y="97" x="183"/>
                </a:lnTo>
                <a:lnTo>
                  <a:pt y="84" x="202"/>
                </a:lnTo>
                <a:lnTo>
                  <a:pt y="72" x="222"/>
                </a:lnTo>
                <a:lnTo>
                  <a:pt y="61" x="242"/>
                </a:lnTo>
                <a:lnTo>
                  <a:pt y="51" x="263"/>
                </a:lnTo>
                <a:lnTo>
                  <a:pt y="41" x="286"/>
                </a:lnTo>
                <a:lnTo>
                  <a:pt y="33" x="307"/>
                </a:lnTo>
                <a:lnTo>
                  <a:pt y="26" x="330"/>
                </a:lnTo>
                <a:lnTo>
                  <a:pt y="20" x="354"/>
                </a:lnTo>
                <a:lnTo>
                  <a:pt y="13" x="379"/>
                </a:lnTo>
                <a:lnTo>
                  <a:pt y="9" x="403"/>
                </a:lnTo>
                <a:lnTo>
                  <a:pt y="5" x="428"/>
                </a:lnTo>
                <a:lnTo>
                  <a:pt y="4" x="452"/>
                </a:lnTo>
                <a:lnTo>
                  <a:pt y="2" x="478"/>
                </a:lnTo>
                <a:lnTo>
                  <a:pt y="0" x="504"/>
                </a:lnTo>
                <a:lnTo>
                  <a:pt y="0" x="2782"/>
                </a:lnTo>
                <a:lnTo>
                  <a:pt y="263" x="2782"/>
                </a:lnTo>
                <a:lnTo>
                  <a:pt y="263" x="1092"/>
                </a:lnTo>
                <a:lnTo>
                  <a:pt y="263" x="1092"/>
                </a:lnTo>
                <a:lnTo>
                  <a:pt y="263" x="1069"/>
                </a:lnTo>
                <a:lnTo>
                  <a:pt y="265" x="1045"/>
                </a:lnTo>
                <a:lnTo>
                  <a:pt y="268" x="1022"/>
                </a:lnTo>
                <a:lnTo>
                  <a:pt y="271" x="1001"/>
                </a:lnTo>
                <a:lnTo>
                  <a:pt y="276" x="978"/>
                </a:lnTo>
                <a:lnTo>
                  <a:pt y="283" x="957"/>
                </a:lnTo>
                <a:lnTo>
                  <a:pt y="291" x="935"/>
                </a:lnTo>
                <a:lnTo>
                  <a:pt y="299" x="914"/>
                </a:lnTo>
                <a:lnTo>
                  <a:pt y="307" x="895"/>
                </a:lnTo>
                <a:lnTo>
                  <a:pt y="317" x="875"/>
                </a:lnTo>
                <a:lnTo>
                  <a:pt y="329" x="855"/>
                </a:lnTo>
                <a:lnTo>
                  <a:pt y="340" x="838"/>
                </a:lnTo>
                <a:lnTo>
                  <a:pt y="353" x="820"/>
                </a:lnTo>
                <a:lnTo>
                  <a:pt y="368" x="802"/>
                </a:lnTo>
                <a:lnTo>
                  <a:pt y="381" x="785"/>
                </a:lnTo>
                <a:lnTo>
                  <a:pt y="397" x="769"/>
                </a:lnTo>
                <a:lnTo>
                  <a:pt y="412" x="754"/>
                </a:lnTo>
                <a:lnTo>
                  <a:pt y="428" x="740"/>
                </a:lnTo>
                <a:lnTo>
                  <a:pt y="446" x="727"/>
                </a:lnTo>
                <a:lnTo>
                  <a:pt y="464" x="713"/>
                </a:lnTo>
                <a:lnTo>
                  <a:pt y="482" x="702"/>
                </a:lnTo>
                <a:lnTo>
                  <a:pt y="502" x="691"/>
                </a:lnTo>
                <a:lnTo>
                  <a:pt y="521" x="681"/>
                </a:lnTo>
                <a:lnTo>
                  <a:pt y="542" x="671"/>
                </a:lnTo>
                <a:lnTo>
                  <a:pt y="562" x="663"/>
                </a:lnTo>
                <a:lnTo>
                  <a:pt y="583" x="656"/>
                </a:lnTo>
                <a:lnTo>
                  <a:pt y="606" x="650"/>
                </a:lnTo>
                <a:lnTo>
                  <a:pt y="627" x="645"/>
                </a:lnTo>
                <a:lnTo>
                  <a:pt y="650" x="640"/>
                </a:lnTo>
                <a:lnTo>
                  <a:pt y="673" x="638"/>
                </a:lnTo>
                <a:lnTo>
                  <a:pt y="696" x="637"/>
                </a:lnTo>
                <a:lnTo>
                  <a:pt y="719" x="635"/>
                </a:lnTo>
                <a:lnTo>
                  <a:pt y="719" x="63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35" name="Shape 35"/>
          <p:cNvSpPr/>
          <p:nvPr/>
        </p:nvSpPr>
        <p:spPr>
          <a:xfrm>
            <a:off y="4641850" x="152401"/>
            <a:ext cy="2216099" cx="4985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36" name="Shape 36"/>
          <p:cNvSpPr/>
          <p:nvPr/>
        </p:nvSpPr>
        <p:spPr>
          <a:xfrm>
            <a:off y="1371600" x="2413000"/>
            <a:ext cy="207900" cx="2432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37" name="Shape 37"/>
          <p:cNvSpPr/>
          <p:nvPr/>
        </p:nvSpPr>
        <p:spPr>
          <a:xfrm>
            <a:off y="1371600" x="4911726"/>
            <a:ext cy="207900" cx="1965299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38" name="Shape 38"/>
          <p:cNvSpPr/>
          <p:nvPr/>
        </p:nvSpPr>
        <p:spPr>
          <a:xfrm>
            <a:off y="1371600" x="6943725"/>
            <a:ext cy="207900" cx="2200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39" name="Shape 39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CAPTION_ONLY">
  <p:cSld name="CAPTION_ONLY">
    <p:spTree>
      <p:nvGrpSpPr>
        <p:cNvPr id="40" name="Shape 4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1" name="Shape 41"/>
          <p:cNvSpPr/>
          <p:nvPr/>
        </p:nvSpPr>
        <p:spPr>
          <a:xfrm rot="10800000" flipH="1">
            <a:off y="5333978" x="228600"/>
            <a:ext cy="1527698" cx="2208225"/>
          </a:xfrm>
          <a:custGeom>
            <a:pathLst>
              <a:path w="10000" extrusionOk="0" h="18832">
                <a:moveTo>
                  <a:pt y="11895" x="2283"/>
                </a:moveTo>
                <a:lnTo>
                  <a:pt y="11895" x="2283"/>
                </a:lnTo>
                <a:cubicBezTo>
                  <a:pt y="7997" x="2258"/>
                  <a:pt y="3898" x="2271"/>
                  <a:pt y="0" x="2246"/>
                </a:cubicBezTo>
                <a:lnTo>
                  <a:pt y="98" x="37"/>
                </a:lnTo>
                <a:cubicBezTo>
                  <a:pt y="4986" x="25"/>
                  <a:pt y="9874" x="12"/>
                  <a:pt y="14762" x="0"/>
                </a:cubicBezTo>
                <a:lnTo>
                  <a:pt y="14762" x="0"/>
                </a:lnTo>
                <a:lnTo>
                  <a:pt y="14967" x="0"/>
                </a:lnTo>
                <a:cubicBezTo>
                  <a:pt y="15036" x="2"/>
                  <a:pt y="15104" x="5"/>
                  <a:pt y="15173" x="7"/>
                </a:cubicBezTo>
                <a:cubicBezTo>
                  <a:pt y="15241" x="11"/>
                  <a:pt y="15310" x="14"/>
                  <a:pt y="15378" x="18"/>
                </a:cubicBezTo>
                <a:cubicBezTo>
                  <a:pt y="15443" x="24"/>
                  <a:pt y="15509" x="30"/>
                  <a:pt y="15574" x="36"/>
                </a:cubicBezTo>
                <a:cubicBezTo>
                  <a:pt y="15642" x="42"/>
                  <a:pt y="15711" x="48"/>
                  <a:pt y="15779" x="54"/>
                </a:cubicBezTo>
                <a:cubicBezTo>
                  <a:pt y="15844" x="61"/>
                  <a:pt y="15910" x="68"/>
                  <a:pt y="15975" x="75"/>
                </a:cubicBezTo>
                <a:cubicBezTo>
                  <a:pt y="16037" x="85"/>
                  <a:pt y="16099" x="94"/>
                  <a:pt y="16161" x="104"/>
                </a:cubicBezTo>
                <a:cubicBezTo>
                  <a:pt y="16220" x="116"/>
                  <a:pt y="16278" x="128"/>
                  <a:pt y="16337" x="140"/>
                </a:cubicBezTo>
                <a:cubicBezTo>
                  <a:pt y="16402" x="152"/>
                  <a:pt y="16468" x="164"/>
                  <a:pt y="16533" x="176"/>
                </a:cubicBezTo>
                <a:cubicBezTo>
                  <a:pt y="16592" x="189"/>
                  <a:pt y="16650" x="203"/>
                  <a:pt y="16709" x="216"/>
                </a:cubicBezTo>
                <a:cubicBezTo>
                  <a:pt y="16761" x="230"/>
                  <a:pt y="16813" x="245"/>
                  <a:pt y="16865" x="259"/>
                </a:cubicBezTo>
                <a:cubicBezTo>
                  <a:pt y="16924" x="275"/>
                  <a:pt y="16982" x="290"/>
                  <a:pt y="17041" x="306"/>
                </a:cubicBezTo>
                <a:cubicBezTo>
                  <a:pt y="17097" x="324"/>
                  <a:pt y="17152" x="341"/>
                  <a:pt y="17208" x="359"/>
                </a:cubicBezTo>
                <a:cubicBezTo>
                  <a:pt y="17254" x="376"/>
                  <a:pt y="17299" x="393"/>
                  <a:pt y="17345" x="410"/>
                </a:cubicBezTo>
                <a:cubicBezTo>
                  <a:pt y="17400" x="430"/>
                  <a:pt y="17456" x="451"/>
                  <a:pt y="17511" x="471"/>
                </a:cubicBezTo>
                <a:cubicBezTo>
                  <a:pt y="17557" x="490"/>
                  <a:pt y="17602" x="509"/>
                  <a:pt y="17648" x="528"/>
                </a:cubicBezTo>
                <a:cubicBezTo>
                  <a:pt y="17690" x="550"/>
                  <a:pt y="17733" x="571"/>
                  <a:pt y="17775" x="593"/>
                </a:cubicBezTo>
                <a:cubicBezTo>
                  <a:pt y="17817" x="615"/>
                  <a:pt y="17860" x="636"/>
                  <a:pt y="17902" x="658"/>
                </a:cubicBezTo>
                <a:cubicBezTo>
                  <a:pt y="17945" x="681"/>
                  <a:pt y="17987" x="703"/>
                  <a:pt y="18030" x="726"/>
                </a:cubicBezTo>
                <a:lnTo>
                  <a:pt y="18147" x="798"/>
                </a:lnTo>
                <a:cubicBezTo>
                  <a:pt y="18180" x="822"/>
                  <a:pt y="18212" x="846"/>
                  <a:pt y="18245" x="870"/>
                </a:cubicBezTo>
                <a:lnTo>
                  <a:pt y="18353" x="945"/>
                </a:lnTo>
                <a:cubicBezTo>
                  <a:pt y="18379" x="973"/>
                  <a:pt y="18405" x="1000"/>
                  <a:pt y="18431" x="1028"/>
                </a:cubicBezTo>
                <a:cubicBezTo>
                  <a:pt y="18457" x="1053"/>
                  <a:pt y="18483" x="1079"/>
                  <a:pt y="18509" x="1104"/>
                </a:cubicBezTo>
                <a:lnTo>
                  <a:pt y="18597" x="1186"/>
                </a:lnTo>
                <a:lnTo>
                  <a:pt y="18656" x="1272"/>
                </a:lnTo>
                <a:cubicBezTo>
                  <a:pt y="18672" x="1302"/>
                  <a:pt y="18689" x="1332"/>
                  <a:pt y="18705" x="1362"/>
                </a:cubicBezTo>
                <a:cubicBezTo>
                  <a:pt y="18721" x="1391"/>
                  <a:pt y="18738" x="1420"/>
                  <a:pt y="18754" x="1449"/>
                </a:cubicBezTo>
                <a:cubicBezTo>
                  <a:pt y="18770" x="1479"/>
                  <a:pt y="18787" x="1508"/>
                  <a:pt y="18803" x="1538"/>
                </a:cubicBezTo>
                <a:lnTo>
                  <a:pt y="18812" x="1625"/>
                </a:lnTo>
                <a:cubicBezTo>
                  <a:pt y="18819" x="1656"/>
                  <a:pt y="18825" x="1687"/>
                  <a:pt y="18832" x="1718"/>
                </a:cubicBezTo>
                <a:lnTo>
                  <a:pt y="18832" x="1812"/>
                </a:lnTo>
                <a:lnTo>
                  <a:pt y="18832" x="10000"/>
                </a:lnTo>
                <a:lnTo>
                  <a:pt y="16278" x="10000"/>
                </a:lnTo>
                <a:lnTo>
                  <a:pt y="16278" x="3925"/>
                </a:lnTo>
                <a:lnTo>
                  <a:pt y="16278" x="3925"/>
                </a:lnTo>
                <a:lnTo>
                  <a:pt y="16278" x="3843"/>
                </a:lnTo>
                <a:cubicBezTo>
                  <a:pt y="16272" x="3814"/>
                  <a:pt y="16265" x="3785"/>
                  <a:pt y="16259" x="3756"/>
                </a:cubicBezTo>
                <a:lnTo>
                  <a:pt y="16229" x="3674"/>
                </a:lnTo>
                <a:cubicBezTo>
                  <a:pt y="16219" x="3649"/>
                  <a:pt y="16210" x="3623"/>
                  <a:pt y="16200" x="3598"/>
                </a:cubicBezTo>
                <a:cubicBezTo>
                  <a:pt y="16184" x="3570"/>
                  <a:pt y="16167" x="3543"/>
                  <a:pt y="16151" x="3515"/>
                </a:cubicBezTo>
                <a:lnTo>
                  <a:pt y="16082" x="3440"/>
                </a:lnTo>
                <a:lnTo>
                  <a:pt y="16024" x="3361"/>
                </a:lnTo>
                <a:cubicBezTo>
                  <a:pt y="15998" x="3336"/>
                  <a:pt y="15972" x="3310"/>
                  <a:pt y="15946" x="3285"/>
                </a:cubicBezTo>
                <a:lnTo>
                  <a:pt y="15857" x="3217"/>
                </a:lnTo>
                <a:cubicBezTo>
                  <a:pt y="15828" x="3193"/>
                  <a:pt y="15798" x="3169"/>
                  <a:pt y="15769" x="3145"/>
                </a:cubicBezTo>
                <a:lnTo>
                  <a:pt y="15652" x="3073"/>
                </a:lnTo>
                <a:cubicBezTo>
                  <a:pt y="15616" x="3053"/>
                  <a:pt y="15580" x="3032"/>
                  <a:pt y="15544" x="3012"/>
                </a:cubicBezTo>
                <a:cubicBezTo>
                  <a:pt y="15505" x="2991"/>
                  <a:pt y="15466" x="2969"/>
                  <a:pt y="15427" x="2948"/>
                </a:cubicBezTo>
                <a:cubicBezTo>
                  <a:pt y="15385" x="2926"/>
                  <a:pt y="15342" x="2905"/>
                  <a:pt y="15300" x="2883"/>
                </a:cubicBezTo>
                <a:cubicBezTo>
                  <a:pt y="15254" x="2863"/>
                  <a:pt y="15209" x="2842"/>
                  <a:pt y="15163" x="2822"/>
                </a:cubicBezTo>
                <a:cubicBezTo>
                  <a:pt y="15114" x="2803"/>
                  <a:pt y="15065" x="2783"/>
                  <a:pt y="15016" x="2764"/>
                </a:cubicBezTo>
                <a:lnTo>
                  <a:pt y="14869" x="2710"/>
                </a:lnTo>
                <a:cubicBezTo>
                  <a:pt y="14817" x="2693"/>
                  <a:pt y="14765" x="2677"/>
                  <a:pt y="14713" x="2660"/>
                </a:cubicBezTo>
                <a:cubicBezTo>
                  <a:pt y="14657" x="2644"/>
                  <a:pt y="14602" x="2629"/>
                  <a:pt y="14546" x="2613"/>
                </a:cubicBezTo>
                <a:cubicBezTo>
                  <a:pt y="14491" x="2596"/>
                  <a:pt y="14435" x="2580"/>
                  <a:pt y="14380" x="2563"/>
                </a:cubicBezTo>
                <a:cubicBezTo>
                  <a:pt y="14321" x="2550"/>
                  <a:pt y="14263" x="2536"/>
                  <a:pt y="14204" x="2523"/>
                </a:cubicBezTo>
                <a:cubicBezTo>
                  <a:pt y="14139" x="2510"/>
                  <a:pt y="14073" x="2497"/>
                  <a:pt y="14008" x="2484"/>
                </a:cubicBezTo>
                <a:cubicBezTo>
                  <a:pt y="13943" x="2472"/>
                  <a:pt y="13877" x="2460"/>
                  <a:pt y="13812" x="2448"/>
                </a:cubicBezTo>
                <a:cubicBezTo>
                  <a:pt y="13750" x="2436"/>
                  <a:pt y="13689" x="2424"/>
                  <a:pt y="13627" x="2412"/>
                </a:cubicBezTo>
                <a:cubicBezTo>
                  <a:pt y="13562" x="2402"/>
                  <a:pt y="13496" x="2393"/>
                  <a:pt y="13431" x="2383"/>
                </a:cubicBezTo>
                <a:cubicBezTo>
                  <a:pt y="13362" x="2375"/>
                  <a:pt y="13294" x="2366"/>
                  <a:pt y="13225" x="2358"/>
                </a:cubicBezTo>
                <a:cubicBezTo>
                  <a:pt y="13157" x="2351"/>
                  <a:pt y="13088" x="2343"/>
                  <a:pt y="13020" x="2336"/>
                </a:cubicBezTo>
                <a:lnTo>
                  <a:pt y="12795" x="2318"/>
                </a:lnTo>
                <a:cubicBezTo>
                  <a:pt y="12726" x="2312"/>
                  <a:pt y="12658" x="2307"/>
                  <a:pt y="12589" x="2301"/>
                </a:cubicBezTo>
                <a:cubicBezTo>
                  <a:pt y="12514" x="2298"/>
                  <a:pt y="12439" x="2296"/>
                  <a:pt y="12364" x="2293"/>
                </a:cubicBezTo>
                <a:lnTo>
                  <a:pt y="12139" x="2290"/>
                </a:lnTo>
                <a:cubicBezTo>
                  <a:pt y="12058" x="2288"/>
                  <a:pt y="11976" x="2285"/>
                  <a:pt y="11895" x="2283"/>
                </a:cubicBezTo>
                <a:lnTo>
                  <a:pt y="11895" x="22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42" name="Shape 42"/>
          <p:cNvSpPr/>
          <p:nvPr/>
        </p:nvSpPr>
        <p:spPr>
          <a:xfrm>
            <a:off y="5334000" x="2497136"/>
            <a:ext cy="207900" cx="2432099"/>
          </a:xfrm>
          <a:prstGeom prst="rect">
            <a:avLst/>
          </a:prstGeom>
          <a:solidFill>
            <a:srgbClr val="BF8AC9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43" name="Shape 43"/>
          <p:cNvSpPr/>
          <p:nvPr/>
        </p:nvSpPr>
        <p:spPr>
          <a:xfrm>
            <a:off y="5334000" x="4995862"/>
            <a:ext cy="207900" cx="19652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44" name="Shape 44"/>
          <p:cNvSpPr/>
          <p:nvPr/>
        </p:nvSpPr>
        <p:spPr>
          <a:xfrm>
            <a:off y="5334000" x="7010400"/>
            <a:ext cy="207900" cx="2133599"/>
          </a:xfrm>
          <a:prstGeom prst="rect">
            <a:avLst/>
          </a:prstGeom>
          <a:solidFill>
            <a:srgbClr val="BB4C4B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45" name="Shape 45"/>
          <p:cNvSpPr txBox="1"/>
          <p:nvPr>
            <p:ph idx="1" type="body"/>
          </p:nvPr>
        </p:nvSpPr>
        <p:spPr>
          <a:xfrm>
            <a:off y="5875078" x="1020958"/>
            <a:ext cy="692700" cx="78131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66666"/>
              <a:buFont typeface="Arial"/>
              <a:buChar char="•"/>
              <a:defRPr b="1" sz="1800">
                <a:solidFill>
                  <a:schemeClr val="lt2"/>
                </a:solidFill>
              </a:defRPr>
            </a:lvl1pPr>
            <a:lvl2pPr algn="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urier New"/>
              <a:buChar char="o"/>
              <a:defRPr b="1" sz="1800">
                <a:solidFill>
                  <a:schemeClr val="lt2"/>
                </a:solidFill>
              </a:defRPr>
            </a:lvl2pPr>
            <a:lvl3pPr algn="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Wingdings"/>
              <a:buChar char="§"/>
              <a:defRPr b="1" sz="1800">
                <a:solidFill>
                  <a:schemeClr val="lt2"/>
                </a:solidFill>
              </a:defRPr>
            </a:lvl3pPr>
            <a:lvl4pPr algn="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66666"/>
              <a:buFont typeface="Arial"/>
              <a:buChar char="•"/>
              <a:defRPr b="1" sz="1800">
                <a:solidFill>
                  <a:schemeClr val="lt2"/>
                </a:solidFill>
              </a:defRPr>
            </a:lvl4pPr>
            <a:lvl5pPr algn="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urier New"/>
              <a:buChar char="o"/>
              <a:defRPr b="1" sz="1800">
                <a:solidFill>
                  <a:schemeClr val="lt2"/>
                </a:solidFill>
              </a:defRPr>
            </a:lvl5pPr>
            <a:lvl6pPr algn="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Wingdings"/>
              <a:buChar char="§"/>
              <a:defRPr b="1" sz="1800">
                <a:solidFill>
                  <a:schemeClr val="lt2"/>
                </a:solidFill>
              </a:defRPr>
            </a:lvl6pPr>
            <a:lvl7pPr algn="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66666"/>
              <a:buFont typeface="Arial"/>
              <a:buChar char="•"/>
              <a:defRPr b="1" sz="1800">
                <a:solidFill>
                  <a:schemeClr val="lt2"/>
                </a:solidFill>
              </a:defRPr>
            </a:lvl7pPr>
            <a:lvl8pPr algn="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urier New"/>
              <a:buChar char="o"/>
              <a:defRPr b="1" sz="1800">
                <a:solidFill>
                  <a:schemeClr val="lt2"/>
                </a:solidFill>
              </a:defRPr>
            </a:lvl8pPr>
            <a:lvl9pPr algn="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Wingdings"/>
              <a:buChar char="§"/>
              <a:defRPr b="1" sz="18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blank" type="blank">
  <p:cSld name="blank">
    <p:spTree>
      <p:nvGrpSpPr>
        <p:cNvPr id="46" name="Shape 4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7" name="Shape 47"/>
          <p:cNvSpPr/>
          <p:nvPr/>
        </p:nvSpPr>
        <p:spPr>
          <a:xfrm>
            <a:off y="0" x="2413000"/>
            <a:ext cy="207900" cx="2432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48" name="Shape 48"/>
          <p:cNvSpPr/>
          <p:nvPr/>
        </p:nvSpPr>
        <p:spPr>
          <a:xfrm>
            <a:off y="0" x="4911726"/>
            <a:ext cy="207900" cx="1965299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49" name="Shape 49"/>
          <p:cNvSpPr/>
          <p:nvPr/>
        </p:nvSpPr>
        <p:spPr>
          <a:xfrm>
            <a:off y="0" x="6943725"/>
            <a:ext cy="207900" cx="2200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50" name="Shape 50"/>
          <p:cNvSpPr/>
          <p:nvPr/>
        </p:nvSpPr>
        <p:spPr>
          <a:xfrm>
            <a:off y="0" x="0"/>
            <a:ext cy="207900" cx="2346300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51" name="Shape 51"/>
          <p:cNvSpPr/>
          <p:nvPr/>
        </p:nvSpPr>
        <p:spPr>
          <a:xfrm>
            <a:off y="6650036" x="0"/>
            <a:ext cy="207900" cx="2432099"/>
          </a:xfrm>
          <a:prstGeom prst="rect">
            <a:avLst/>
          </a:prstGeom>
          <a:solidFill>
            <a:srgbClr val="BF8AC9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52" name="Shape 52"/>
          <p:cNvSpPr/>
          <p:nvPr/>
        </p:nvSpPr>
        <p:spPr>
          <a:xfrm>
            <a:off y="6650036" x="2498725"/>
            <a:ext cy="207900" cx="19652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53" name="Shape 53"/>
          <p:cNvSpPr/>
          <p:nvPr/>
        </p:nvSpPr>
        <p:spPr>
          <a:xfrm>
            <a:off y="6650036" x="4513262"/>
            <a:ext cy="207900" cx="46307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Target="../slideLayouts/slideLayout2.xml" Type="http://schemas.openxmlformats.org/officeDocument/2006/relationships/slideLayout" Id="rId2"/><Relationship Target="../slideLayouts/slideLayout1.xml" Type="http://schemas.openxmlformats.org/officeDocument/2006/relationships/slideLayout" Id="rId1"/><Relationship Target="../slideLayouts/slideLayout4.xml" Type="http://schemas.openxmlformats.org/officeDocument/2006/relationships/slideLayout" Id="rId4"/><Relationship Target="../slideLayouts/slideLayout3.xml" Type="http://schemas.openxmlformats.org/officeDocument/2006/relationships/slideLayout" Id="rId3"/><Relationship Target="../slideLayouts/slideLayout6.xml" Type="http://schemas.openxmlformats.org/officeDocument/2006/relationships/slideLayout" Id="rId6"/><Relationship Target="../slideLayouts/slideLayout5.xml" Type="http://schemas.openxmlformats.org/officeDocument/2006/relationships/slideLayout" Id="rId5"/><Relationship Target="../theme/theme3.xml" Type="http://schemas.openxmlformats.org/officeDocument/2006/relationships/theme" Id="rId7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dk1"/>
        </a:solidFill>
      </p:bgPr>
    </p:bg>
    <p:spTree>
      <p:nvGrpSpPr>
        <p:cNvPr id="4" name="Shape 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" name="Shape 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 indent="2286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 indent="2286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 indent="2286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 indent="2286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 indent="2286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 indent="2286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 indent="2286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 indent="2286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 indent="2286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Shape 6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-342900" marL="342900">
              <a:spcBef>
                <a:spcPts val="600"/>
              </a:spcBef>
              <a:buClr>
                <a:schemeClr val="lt2"/>
              </a:buClr>
              <a:buSzPct val="166666"/>
              <a:buFont typeface="Arial"/>
              <a:buChar char="•"/>
              <a:defRPr strike="noStrike" u="none" b="0" cap="none" baseline="0" sz="30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 indent="-285750" marL="742950">
              <a:spcBef>
                <a:spcPts val="480"/>
              </a:spcBef>
              <a:buClr>
                <a:schemeClr val="lt2"/>
              </a:buClr>
              <a:buSzPct val="100000"/>
              <a:buFont typeface="Courier New"/>
              <a:buChar char="o"/>
              <a:defRPr strike="noStrike" u="none" b="0" cap="none" baseline="0" sz="24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 indent="-228600" marL="1143000">
              <a:spcBef>
                <a:spcPts val="480"/>
              </a:spcBef>
              <a:buClr>
                <a:schemeClr val="lt2"/>
              </a:buClr>
              <a:buSzPct val="100000"/>
              <a:buFont typeface="Wingdings"/>
              <a:buChar char="§"/>
              <a:defRPr strike="noStrike" u="none" b="0" cap="none" baseline="0" sz="24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 indent="-228600" marL="1600200">
              <a:spcBef>
                <a:spcPts val="360"/>
              </a:spcBef>
              <a:buClr>
                <a:schemeClr val="lt2"/>
              </a:buClr>
              <a:buSzPct val="166666"/>
              <a:buFont typeface="Arial"/>
              <a:buChar char="•"/>
              <a:defRPr strike="noStrike" u="none" b="0" cap="none" baseline="0" sz="18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 indent="-228600" marL="2057400">
              <a:spcBef>
                <a:spcPts val="360"/>
              </a:spcBef>
              <a:buClr>
                <a:schemeClr val="lt2"/>
              </a:buClr>
              <a:buSzPct val="100000"/>
              <a:buFont typeface="Courier New"/>
              <a:buChar char="o"/>
              <a:defRPr strike="noStrike" u="none" b="0" cap="none" baseline="0" sz="18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 indent="-228600" marL="2514600">
              <a:spcBef>
                <a:spcPts val="360"/>
              </a:spcBef>
              <a:buClr>
                <a:schemeClr val="lt2"/>
              </a:buClr>
              <a:buSzPct val="100000"/>
              <a:buFont typeface="Wingdings"/>
              <a:buChar char="§"/>
              <a:defRPr strike="noStrike" u="none" b="0" cap="none" baseline="0" sz="18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 indent="-228600" marL="2971800">
              <a:spcBef>
                <a:spcPts val="360"/>
              </a:spcBef>
              <a:buClr>
                <a:schemeClr val="lt2"/>
              </a:buClr>
              <a:buSzPct val="166666"/>
              <a:buFont typeface="Arial"/>
              <a:buChar char="•"/>
              <a:defRPr strike="noStrike" u="none" b="0" cap="none" baseline="0" sz="18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 indent="-228600" marL="3429000">
              <a:spcBef>
                <a:spcPts val="360"/>
              </a:spcBef>
              <a:buClr>
                <a:schemeClr val="lt2"/>
              </a:buClr>
              <a:buSzPct val="100000"/>
              <a:buFont typeface="Courier New"/>
              <a:buChar char="o"/>
              <a:defRPr strike="noStrike" u="none" b="0" cap="none" baseline="0" sz="18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 indent="-228600" marL="3886200">
              <a:spcBef>
                <a:spcPts val="360"/>
              </a:spcBef>
              <a:buClr>
                <a:schemeClr val="lt2"/>
              </a:buClr>
              <a:buSzPct val="100000"/>
              <a:buFont typeface="Wingdings"/>
              <a:buChar char="§"/>
              <a:defRPr strike="noStrike" u="none" b="0" cap="none" baseline="0" sz="18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Target="../notesSlides/notesSlide1.xml" Type="http://schemas.openxmlformats.org/officeDocument/2006/relationships/notesSlide" Id="rId2"/><Relationship Target="../slideLayouts/slideLayout1.xml" Type="http://schemas.openxmlformats.org/officeDocument/2006/relationships/slideLayout" Id="rId1"/></Relationships>
</file>

<file path=ppt/slides/_rels/slide2.xml.rels><?xml version="1.0" encoding="UTF-8" standalone="yes"?><Relationships xmlns="http://schemas.openxmlformats.org/package/2006/relationships"><Relationship Target="../notesSlides/notesSlide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3.xml.rels><?xml version="1.0" encoding="UTF-8" standalone="yes"?><Relationships xmlns="http://schemas.openxmlformats.org/package/2006/relationships"><Relationship Target="../notesSlides/notesSlide3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4.xml.rels><?xml version="1.0" encoding="UTF-8" standalone="yes"?><Relationships xmlns="http://schemas.openxmlformats.org/package/2006/relationships"><Relationship Target="../notesSlides/notesSlide4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5.xml.rels><?xml version="1.0" encoding="UTF-8" standalone="yes"?><Relationships xmlns="http://schemas.openxmlformats.org/package/2006/relationships"><Relationship Target="../notesSlides/notesSlide5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6.xml.rels><?xml version="1.0" encoding="UTF-8" standalone="yes"?><Relationships xmlns="http://schemas.openxmlformats.org/package/2006/relationships"><Relationship Target="../notesSlides/notesSlide6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6.png" Type="http://schemas.openxmlformats.org/officeDocument/2006/relationships/image" Id="rId4"/><Relationship Target="../media/image07.png" Type="http://schemas.openxmlformats.org/officeDocument/2006/relationships/image" Id="rId3"/></Relationships>
</file>

<file path=ppt/slides/_rels/slide7.xml.rels><?xml version="1.0" encoding="UTF-8" standalone="yes"?><Relationships xmlns="http://schemas.openxmlformats.org/package/2006/relationships"><Relationship Target="../notesSlides/notesSlide7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9.png" Type="http://schemas.openxmlformats.org/officeDocument/2006/relationships/image" Id="rId4"/><Relationship Target="../media/image10.png" Type="http://schemas.openxmlformats.org/officeDocument/2006/relationships/image" Id="rId3"/></Relationships>
</file>

<file path=ppt/slides/_rels/slide8.xml.rels><?xml version="1.0" encoding="UTF-8" standalone="yes"?><Relationships xmlns="http://schemas.openxmlformats.org/package/2006/relationships"><Relationship Target="../notesSlides/notesSlide8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4.png" Type="http://schemas.openxmlformats.org/officeDocument/2006/relationships/image" Id="rId3"/></Relationships>
</file>

<file path=ppt/slides/_rels/slide9.xml.rels><?xml version="1.0" encoding="UTF-8" standalone="yes"?><Relationships xmlns="http://schemas.openxmlformats.org/package/2006/relationships"><Relationship Target="../notesSlides/notesSlide9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0.png" Type="http://schemas.openxmlformats.org/officeDocument/2006/relationships/image" Id="rId3"/></Relationships>
</file>

<file path=ppt/slides/_rels/slide10.xml.rels><?xml version="1.0" encoding="UTF-8" standalone="yes"?><Relationships xmlns="http://schemas.openxmlformats.org/package/2006/relationships"><Relationship Target="../notesSlides/notesSlide10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1.xml.rels><?xml version="1.0" encoding="UTF-8" standalone="yes"?><Relationships xmlns="http://schemas.openxmlformats.org/package/2006/relationships"><Relationship Target="../notesSlides/notesSlide11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3.png" Type="http://schemas.openxmlformats.org/officeDocument/2006/relationships/image" Id="rId4"/><Relationship Target="../media/image05.png" Type="http://schemas.openxmlformats.org/officeDocument/2006/relationships/image" Id="rId3"/><Relationship Target="../media/image02.png" Type="http://schemas.openxmlformats.org/officeDocument/2006/relationships/image" Id="rId6"/><Relationship Target="../media/image01.png" Type="http://schemas.openxmlformats.org/officeDocument/2006/relationships/image" Id="rId5"/><Relationship Target="../media/image08.png" Type="http://schemas.openxmlformats.org/officeDocument/2006/relationships/image" Id="rId7"/></Relationships>
</file>

<file path=ppt/slides/_rels/slide12.xml.rels><?xml version="1.0" encoding="UTF-8" standalone="yes"?><Relationships xmlns="http://schemas.openxmlformats.org/package/2006/relationships"><Relationship Target="../notesSlides/notesSlide12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3.png" Type="http://schemas.openxmlformats.org/officeDocument/2006/relationships/image" Id="rId4"/><Relationship Target="../media/image14.png" Type="http://schemas.openxmlformats.org/officeDocument/2006/relationships/image" Id="rId3"/><Relationship Target="../media/image15.png" Type="http://schemas.openxmlformats.org/officeDocument/2006/relationships/image" Id="rId6"/><Relationship Target="../media/image12.png" Type="http://schemas.openxmlformats.org/officeDocument/2006/relationships/image" Id="rId5"/><Relationship Target="../media/image16.png" Type="http://schemas.openxmlformats.org/officeDocument/2006/relationships/image" Id="rId7"/></Relationships>
</file>

<file path=ppt/slides/_rels/slide13.xml.rels><?xml version="1.0" encoding="UTF-8" standalone="yes"?><Relationships xmlns="http://schemas.openxmlformats.org/package/2006/relationships"><Relationship Target="../notesSlides/notesSlide13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4.xml.rels><?xml version="1.0" encoding="UTF-8" standalone="yes"?><Relationships xmlns="http://schemas.openxmlformats.org/package/2006/relationships"><Relationship Target="../notesSlides/notesSlide14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5.xml.rels><?xml version="1.0" encoding="UTF-8" standalone="yes"?><Relationships xmlns="http://schemas.openxmlformats.org/package/2006/relationships"><Relationship Target="../notesSlides/notesSlide15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6.xml.rels><?xml version="1.0" encoding="UTF-8" standalone="yes"?><Relationships xmlns="http://schemas.openxmlformats.org/package/2006/relationships"><Relationship Target="../notesSlides/notesSlide16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7.xml.rels><?xml version="1.0" encoding="UTF-8" standalone="yes"?><Relationships xmlns="http://schemas.openxmlformats.org/package/2006/relationships"><Relationship Target="../notesSlides/notesSlide17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8.xml.rels><?xml version="1.0" encoding="UTF-8" standalone="yes"?><Relationships xmlns="http://schemas.openxmlformats.org/package/2006/relationships"><Relationship Target="../notesSlides/notesSlide18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9.xml.rels><?xml version="1.0" encoding="UTF-8" standalone="yes"?><Relationships xmlns="http://schemas.openxmlformats.org/package/2006/relationships"><Relationship Target="../notesSlides/notesSlide19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0.xml.rels><?xml version="1.0" encoding="UTF-8" standalone="yes"?><Relationships xmlns="http://schemas.openxmlformats.org/package/2006/relationships"><Relationship Target="../notesSlides/notesSlide20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1.xml.rels><?xml version="1.0" encoding="UTF-8" standalone="yes"?><Relationships xmlns="http://schemas.openxmlformats.org/package/2006/relationships"><Relationship Target="../notesSlides/notesSlide21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2.xml.rels><?xml version="1.0" encoding="UTF-8" standalone="yes"?><Relationships xmlns="http://schemas.openxmlformats.org/package/2006/relationships"><Relationship Target="../notesSlides/notesSlide22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1.png" Type="http://schemas.openxmlformats.org/officeDocument/2006/relationships/image" Id="rId3"/></Relationships>
</file>

<file path=ppt/slides/_rels/slide23.xml.rels><?xml version="1.0" encoding="UTF-8" standalone="yes"?><Relationships xmlns="http://schemas.openxmlformats.org/package/2006/relationships"><Relationship Target="../notesSlides/notesSlide23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4.xml.rels><?xml version="1.0" encoding="UTF-8" standalone="yes"?><Relationships xmlns="http://schemas.openxmlformats.org/package/2006/relationships"><Relationship Target="../notesSlides/notesSlide24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5.xml.rels><?xml version="1.0" encoding="UTF-8" standalone="yes"?><Relationships xmlns="http://schemas.openxmlformats.org/package/2006/relationships"><Relationship Target="../notesSlides/notesSlide25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6.xml.rels><?xml version="1.0" encoding="UTF-8" standalone="yes"?><Relationships xmlns="http://schemas.openxmlformats.org/package/2006/relationships"><Relationship Target="../notesSlides/notesSlide26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7.xml.rels><?xml version="1.0" encoding="UTF-8" standalone="yes"?><Relationships xmlns="http://schemas.openxmlformats.org/package/2006/relationships"><Relationship Target="../notesSlides/notesSlide27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8.xml.rels><?xml version="1.0" encoding="UTF-8" standalone="yes"?><Relationships xmlns="http://schemas.openxmlformats.org/package/2006/relationships"><Relationship Target="../notesSlides/notesSlide28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5" name="Shape 55"/>
          <p:cNvSpPr txBox="1"/>
          <p:nvPr>
            <p:ph type="ctrTitle"/>
          </p:nvPr>
        </p:nvSpPr>
        <p:spPr>
          <a:xfrm>
            <a:off y="1747508" x="1466425"/>
            <a:ext cy="1650599" cx="73844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sz="6000" lang="en">
                <a:latin typeface="Corsiva"/>
                <a:ea typeface="Corsiva"/>
                <a:cs typeface="Corsiva"/>
                <a:sym typeface="Corsiva"/>
              </a:rPr>
              <a:t>Scene Classification</a:t>
            </a:r>
          </a:p>
          <a:p>
            <a:pPr rtl="0" lvl="0">
              <a:buNone/>
            </a:pPr>
            <a:r>
              <a:rPr u="sng" sz="6000" lang="en">
                <a:latin typeface="Corsiva"/>
                <a:ea typeface="Corsiva"/>
                <a:cs typeface="Corsiva"/>
                <a:sym typeface="Corsiva"/>
              </a:rPr>
              <a:t>Update 2</a:t>
            </a:r>
          </a:p>
        </p:txBody>
      </p:sp>
      <p:sp>
        <p:nvSpPr>
          <p:cNvPr id="56" name="Shape 56"/>
          <p:cNvSpPr txBox="1"/>
          <p:nvPr>
            <p:ph idx="1" type="subTitle"/>
          </p:nvPr>
        </p:nvSpPr>
        <p:spPr>
          <a:xfrm>
            <a:off y="5411482" x="488500"/>
            <a:ext cy="884999" cx="75801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l" rtl="0" lvl="0">
              <a:buNone/>
            </a:pPr>
            <a:r>
              <a:rPr lang="en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rPr>
              <a:t>Piter  Garcia    Karina Damico    Pauline Martial</a:t>
            </a:r>
          </a:p>
        </p:txBody>
      </p:sp>
      <p:sp>
        <p:nvSpPr>
          <p:cNvPr id="57" name="Shape 57"/>
          <p:cNvSpPr/>
          <p:nvPr/>
        </p:nvSpPr>
        <p:spPr>
          <a:xfrm>
            <a:off y="5611000" x="275300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58" name="Shape 58"/>
          <p:cNvSpPr/>
          <p:nvPr/>
        </p:nvSpPr>
        <p:spPr>
          <a:xfrm>
            <a:off y="5611000" x="2355200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59" name="Shape 59"/>
          <p:cNvSpPr/>
          <p:nvPr/>
        </p:nvSpPr>
        <p:spPr>
          <a:xfrm>
            <a:off y="5611000" x="4631500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4" name="Shape 64"/>
          <p:cNvSpPr txBox="1"/>
          <p:nvPr>
            <p:ph idx="1" type="body"/>
          </p:nvPr>
        </p:nvSpPr>
        <p:spPr>
          <a:xfrm>
            <a:off y="2361112" x="776798"/>
            <a:ext cy="4988100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ctr" rtl="0" lvl="0">
              <a:buNone/>
            </a:pPr>
            <a:r>
              <a:rPr sz="4800" lang="en">
                <a:solidFill>
                  <a:srgbClr val="A64D79"/>
                </a:solidFill>
                <a:latin typeface="Corsiva"/>
                <a:ea typeface="Corsiva"/>
                <a:cs typeface="Corsiva"/>
                <a:sym typeface="Corsiva"/>
              </a:rPr>
              <a:t>Karina: </a:t>
            </a:r>
          </a:p>
          <a:p>
            <a:pPr algn="ctr" rtl="0" lvl="0">
              <a:buNone/>
            </a:pPr>
            <a:r>
              <a:rPr sz="4800" lang="en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Gabor descriptor</a:t>
            </a:r>
            <a:r>
              <a:rPr sz="4800" lang="en">
                <a:solidFill>
                  <a:schemeClr val="accent1"/>
                </a:solidFill>
                <a:latin typeface="Corsiva"/>
                <a:ea typeface="Corsiva"/>
                <a:cs typeface="Corsiva"/>
                <a:sym typeface="Corsiva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9" name="Shape 69"/>
          <p:cNvSpPr txBox="1"/>
          <p:nvPr>
            <p:ph idx="1" type="body"/>
          </p:nvPr>
        </p:nvSpPr>
        <p:spPr>
          <a:xfrm>
            <a:off y="1472112" x="1448623"/>
            <a:ext cy="4988100" cx="71172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Load the image - compute 384 feature vector, which is combined from little histograms (8 bin by each filter)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Compute average histogram for each category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Load test images and compare each image with the average histograms </a:t>
            </a:r>
          </a:p>
          <a:p>
            <a:pPr rtl="0" lvl="0" indent="457200">
              <a:buNone/>
            </a:pPr>
            <a:r>
              <a:rPr sz="1800" lang="en">
                <a:solidFill>
                  <a:srgbClr val="000000"/>
                </a:solidFill>
              </a:rPr>
              <a:t>- find minimum distance (histogram intersection)  -  classify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Results: Very bad - 70% error, running time 53 minutes - Garbage approach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Reason: Probably because Gabor filters have two side - real and imaginary - imaginary part was ignored, histograms were similar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How to resolve?  - Superimpose the layers</a:t>
            </a:r>
          </a:p>
        </p:txBody>
      </p:sp>
      <p:sp>
        <p:nvSpPr>
          <p:cNvPr id="70" name="Shape 70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Gabor descriptor</a:t>
            </a:r>
          </a:p>
        </p:txBody>
      </p:sp>
      <p:sp>
        <p:nvSpPr>
          <p:cNvPr id="71" name="Shape 71"/>
          <p:cNvSpPr/>
          <p:nvPr/>
        </p:nvSpPr>
        <p:spPr>
          <a:xfrm>
            <a:off y="6460212" x="1037398"/>
            <a:ext cy="175800" cx="175800"/>
          </a:xfrm>
          <a:prstGeom prst="ellipse">
            <a:avLst/>
          </a:prstGeom>
          <a:solidFill>
            <a:srgbClr val="F363B8">
              <a:alpha val="65940"/>
            </a:srgbClr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72" name="Shape 72"/>
          <p:cNvSpPr/>
          <p:nvPr/>
        </p:nvSpPr>
        <p:spPr>
          <a:xfrm>
            <a:off y="5577350" x="1090373"/>
            <a:ext cy="175800" cx="175800"/>
          </a:xfrm>
          <a:prstGeom prst="ellipse">
            <a:avLst/>
          </a:prstGeom>
          <a:solidFill>
            <a:srgbClr val="F363B8">
              <a:alpha val="65940"/>
            </a:srgbClr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73" name="Shape 73"/>
          <p:cNvSpPr/>
          <p:nvPr/>
        </p:nvSpPr>
        <p:spPr>
          <a:xfrm>
            <a:off y="3341100" x="1090373"/>
            <a:ext cy="175800" cx="175800"/>
          </a:xfrm>
          <a:prstGeom prst="ellipse">
            <a:avLst/>
          </a:prstGeom>
          <a:solidFill>
            <a:srgbClr val="F363B8">
              <a:alpha val="65940"/>
            </a:srgbClr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74" name="Shape 74"/>
          <p:cNvSpPr/>
          <p:nvPr/>
        </p:nvSpPr>
        <p:spPr>
          <a:xfrm>
            <a:off y="2606200" x="1090373"/>
            <a:ext cy="175800" cx="175800"/>
          </a:xfrm>
          <a:prstGeom prst="ellipse">
            <a:avLst/>
          </a:prstGeom>
          <a:solidFill>
            <a:srgbClr val="F363B8">
              <a:alpha val="65940"/>
            </a:srgbClr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75" name="Shape 75"/>
          <p:cNvSpPr/>
          <p:nvPr/>
        </p:nvSpPr>
        <p:spPr>
          <a:xfrm>
            <a:off y="1786175" x="1090373"/>
            <a:ext cy="175800" cx="175800"/>
          </a:xfrm>
          <a:prstGeom prst="ellipse">
            <a:avLst/>
          </a:prstGeom>
          <a:solidFill>
            <a:srgbClr val="F363B8">
              <a:alpha val="65940"/>
            </a:srgbClr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76" name="Shape 76"/>
          <p:cNvSpPr/>
          <p:nvPr/>
        </p:nvSpPr>
        <p:spPr>
          <a:xfrm>
            <a:off y="4604950" x="1090373"/>
            <a:ext cy="175800" cx="175800"/>
          </a:xfrm>
          <a:prstGeom prst="ellipse">
            <a:avLst/>
          </a:prstGeom>
          <a:solidFill>
            <a:srgbClr val="F363B8">
              <a:alpha val="65940"/>
            </a:srgbClr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1" name="Shape 81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Gabor descriptor</a:t>
            </a:r>
          </a:p>
        </p:txBody>
      </p:sp>
      <p:sp>
        <p:nvSpPr>
          <p:cNvPr id="82" name="Shape 82"/>
          <p:cNvSpPr txBox="1"/>
          <p:nvPr>
            <p:ph idx="1" type="body"/>
          </p:nvPr>
        </p:nvSpPr>
        <p:spPr>
          <a:xfrm>
            <a:off y="1579562" x="854948"/>
            <a:ext cy="4988100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Superimpose gabor-filtered images to generalize histogram</a:t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fv = []</a:t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For each quarter of the image</a:t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	for each filter in the filter bank (12 filters)</a:t>
            </a:r>
          </a:p>
          <a:p>
            <a:pPr rtl="0" lvl="0" indent="457200" marL="457200">
              <a:buNone/>
            </a:pPr>
            <a:r>
              <a:rPr sz="1800" lang="en">
                <a:solidFill>
                  <a:srgbClr val="000000"/>
                </a:solidFill>
              </a:rPr>
              <a:t> - filter input</a:t>
            </a:r>
          </a:p>
          <a:p>
            <a:pPr rtl="0" lvl="0" indent="457200">
              <a:buNone/>
            </a:pPr>
            <a:r>
              <a:rPr sz="1800" lang="en">
                <a:solidFill>
                  <a:srgbClr val="000000"/>
                </a:solidFill>
              </a:rPr>
              <a:t>superimpose resulted 12 layers</a:t>
            </a:r>
          </a:p>
          <a:p>
            <a:pPr rtl="0" lvl="0" indent="457200">
              <a:buNone/>
            </a:pPr>
            <a:r>
              <a:rPr sz="1800" lang="en">
                <a:solidFill>
                  <a:srgbClr val="000000"/>
                </a:solidFill>
              </a:rPr>
              <a:t>calculate histogram h</a:t>
            </a:r>
          </a:p>
          <a:p>
            <a:pPr rtl="0" lvl="0" indent="457200">
              <a:buNone/>
            </a:pPr>
            <a:r>
              <a:rPr sz="1800" lang="en">
                <a:solidFill>
                  <a:srgbClr val="000000"/>
                </a:solidFill>
              </a:rPr>
              <a:t>fv = [fv h]</a:t>
            </a:r>
          </a:p>
          <a:p>
            <a:r>
              <a:t/>
            </a:r>
          </a:p>
          <a:p>
            <a:pPr rtl="0" lvl="0" indent="0" marL="0">
              <a:buNone/>
            </a:pPr>
            <a:r>
              <a:rPr sz="1800" lang="en">
                <a:solidFill>
                  <a:srgbClr val="000000"/>
                </a:solidFill>
              </a:rPr>
              <a:t> 	Repeat algorithm above for each image in the category</a:t>
            </a:r>
          </a:p>
          <a:p>
            <a:pPr rtl="0" lvl="0" indent="0" marL="0">
              <a:buNone/>
            </a:pPr>
            <a:r>
              <a:rPr sz="1800" lang="en">
                <a:solidFill>
                  <a:srgbClr val="000000"/>
                </a:solidFill>
              </a:rPr>
              <a:t> 	Calculated averaged histogram for each category</a:t>
            </a:r>
          </a:p>
          <a:p>
            <a:pPr rtl="0" lvl="0" indent="457200" marL="0">
              <a:buNone/>
            </a:pPr>
            <a:r>
              <a:rPr sz="1800" lang="en">
                <a:solidFill>
                  <a:srgbClr val="000000"/>
                </a:solidFill>
              </a:rPr>
              <a:t> Load test image, run algorithm, compare with average histograms of </a:t>
            </a:r>
          </a:p>
          <a:p>
            <a:pPr rtl="0" lvl="0" indent="457200" marL="0">
              <a:buNone/>
            </a:pPr>
            <a:r>
              <a:rPr sz="1800" lang="en">
                <a:solidFill>
                  <a:srgbClr val="000000"/>
                </a:solidFill>
              </a:rPr>
              <a:t>categories</a:t>
            </a:r>
          </a:p>
          <a:p>
            <a:pPr rtl="0" lvl="0" indent="457200" marL="0">
              <a:buNone/>
            </a:pPr>
            <a:r>
              <a:rPr sz="1800" lang="en">
                <a:solidFill>
                  <a:srgbClr val="000000"/>
                </a:solidFill>
              </a:rPr>
              <a:t>Choose min difference - classify</a:t>
            </a:r>
          </a:p>
          <a:p>
            <a:r>
              <a:t/>
            </a:r>
          </a:p>
          <a:p>
            <a:r>
              <a:t/>
            </a:r>
          </a:p>
        </p:txBody>
      </p:sp>
      <p:cxnSp>
        <p:nvCxnSpPr>
          <p:cNvPr id="83" name="Shape 83"/>
          <p:cNvCxnSpPr/>
          <p:nvPr/>
        </p:nvCxnSpPr>
        <p:spPr>
          <a:xfrm>
            <a:off y="2371000" x="934250"/>
            <a:ext cy="0" cx="5865000"/>
          </a:xfrm>
          <a:prstGeom prst="straightConnector1">
            <a:avLst/>
          </a:prstGeom>
          <a:noFill/>
          <a:ln w="19050" cap="flat">
            <a:solidFill>
              <a:srgbClr val="E69138"/>
            </a:solidFill>
            <a:prstDash val="solid"/>
            <a:round/>
            <a:headEnd w="lg" len="lg" type="none"/>
            <a:tailEnd w="lg" len="lg" type="none"/>
          </a:ln>
        </p:spPr>
      </p:cxnSp>
      <p:cxnSp>
        <p:nvCxnSpPr>
          <p:cNvPr id="84" name="Shape 84"/>
          <p:cNvCxnSpPr/>
          <p:nvPr/>
        </p:nvCxnSpPr>
        <p:spPr>
          <a:xfrm>
            <a:off y="4539850" x="934250"/>
            <a:ext cy="0" cx="5865000"/>
          </a:xfrm>
          <a:prstGeom prst="straightConnector1">
            <a:avLst/>
          </a:prstGeom>
          <a:noFill/>
          <a:ln w="19050" cap="flat">
            <a:solidFill>
              <a:srgbClr val="E69138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85" name="Shape 85"/>
          <p:cNvSpPr/>
          <p:nvPr/>
        </p:nvSpPr>
        <p:spPr>
          <a:xfrm>
            <a:off y="4877375" x="1039223"/>
            <a:ext cy="175800" cx="175800"/>
          </a:xfrm>
          <a:prstGeom prst="ellipse">
            <a:avLst/>
          </a:prstGeom>
          <a:solidFill>
            <a:srgbClr val="F363B8">
              <a:alpha val="65940"/>
            </a:srgbClr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86" name="Shape 86"/>
          <p:cNvSpPr/>
          <p:nvPr/>
        </p:nvSpPr>
        <p:spPr>
          <a:xfrm>
            <a:off y="5214025" x="1039223"/>
            <a:ext cy="175800" cx="175800"/>
          </a:xfrm>
          <a:prstGeom prst="ellipse">
            <a:avLst/>
          </a:prstGeom>
          <a:solidFill>
            <a:srgbClr val="F363B8">
              <a:alpha val="65940"/>
            </a:srgbClr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87" name="Shape 87"/>
          <p:cNvSpPr/>
          <p:nvPr/>
        </p:nvSpPr>
        <p:spPr>
          <a:xfrm>
            <a:off y="5571125" x="1039223"/>
            <a:ext cy="175800" cx="175800"/>
          </a:xfrm>
          <a:prstGeom prst="ellipse">
            <a:avLst/>
          </a:prstGeom>
          <a:solidFill>
            <a:srgbClr val="F363B8">
              <a:alpha val="65940"/>
            </a:srgbClr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88" name="Shape 88"/>
          <p:cNvSpPr/>
          <p:nvPr/>
        </p:nvSpPr>
        <p:spPr>
          <a:xfrm>
            <a:off y="6276275" x="1039223"/>
            <a:ext cy="175800" cx="175800"/>
          </a:xfrm>
          <a:prstGeom prst="ellipse">
            <a:avLst/>
          </a:prstGeom>
          <a:solidFill>
            <a:srgbClr val="F363B8">
              <a:alpha val="65940"/>
            </a:srgbClr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3" name="Shape 93"/>
          <p:cNvSpPr txBox="1"/>
          <p:nvPr>
            <p:ph idx="1" type="body"/>
          </p:nvPr>
        </p:nvSpPr>
        <p:spPr>
          <a:xfrm>
            <a:off y="1559087" x="1100598"/>
            <a:ext cy="4988100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Advantages: can reduce feature vector by choosing 20 bins for each quarter (instead 8*12 beans) - total 80 - feature vector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Runtime: 37 minutes!!! for whole dataset. </a:t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Try to downsize the image - gives adequate results with 0.5</a:t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Thought about professor's idea - is it equivalent to downsampling?</a:t>
            </a:r>
          </a:p>
          <a:p>
            <a:pPr>
              <a:buNone/>
            </a:pPr>
            <a:r>
              <a:rPr sz="1800" lang="en">
                <a:solidFill>
                  <a:srgbClr val="000000"/>
                </a:solidFill>
              </a:rPr>
              <a:t>Could I just downsample the image using Gaussian pyramid? </a:t>
            </a:r>
          </a:p>
        </p:txBody>
      </p:sp>
      <p:sp>
        <p:nvSpPr>
          <p:cNvPr id="94" name="Shape 94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Gabor descriptor</a:t>
            </a:r>
          </a:p>
        </p:txBody>
      </p:sp>
      <p:cxnSp>
        <p:nvCxnSpPr>
          <p:cNvPr id="95" name="Shape 95"/>
          <p:cNvCxnSpPr/>
          <p:nvPr/>
        </p:nvCxnSpPr>
        <p:spPr>
          <a:xfrm>
            <a:off y="3429000" x="1100598"/>
            <a:ext cy="0" cx="5865000"/>
          </a:xfrm>
          <a:prstGeom prst="straightConnector1">
            <a:avLst/>
          </a:prstGeom>
          <a:noFill/>
          <a:ln w="19050" cap="flat">
            <a:solidFill>
              <a:srgbClr val="E69138"/>
            </a:solidFill>
            <a:prstDash val="solid"/>
            <a:round/>
            <a:headEnd w="lg" len="lg" type="none"/>
            <a:tailEnd w="lg" len="lg" type="none"/>
          </a:ln>
        </p:spPr>
      </p:cxnSp>
      <p:cxnSp>
        <p:nvCxnSpPr>
          <p:cNvPr id="96" name="Shape 96"/>
          <p:cNvCxnSpPr/>
          <p:nvPr/>
        </p:nvCxnSpPr>
        <p:spPr>
          <a:xfrm>
            <a:off y="4428475" x="1011275"/>
            <a:ext cy="0" cx="5865000"/>
          </a:xfrm>
          <a:prstGeom prst="straightConnector1">
            <a:avLst/>
          </a:prstGeom>
          <a:noFill/>
          <a:ln w="19050" cap="flat">
            <a:solidFill>
              <a:srgbClr val="E69138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97" name="Shape 97"/>
          <p:cNvSpPr/>
          <p:nvPr/>
        </p:nvSpPr>
        <p:spPr>
          <a:xfrm>
            <a:off y="1755450" x="854948"/>
            <a:ext cy="175800" cx="175800"/>
          </a:xfrm>
          <a:prstGeom prst="ellipse">
            <a:avLst/>
          </a:prstGeom>
          <a:solidFill>
            <a:srgbClr val="F363B8">
              <a:alpha val="65940"/>
            </a:srgbClr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98" name="Shape 98"/>
          <p:cNvSpPr/>
          <p:nvPr/>
        </p:nvSpPr>
        <p:spPr>
          <a:xfrm>
            <a:off y="2716475" x="854948"/>
            <a:ext cy="175800" cx="175800"/>
          </a:xfrm>
          <a:prstGeom prst="ellipse">
            <a:avLst/>
          </a:prstGeom>
          <a:solidFill>
            <a:srgbClr val="F363B8">
              <a:alpha val="65940"/>
            </a:srgbClr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99" name="Shape 99"/>
          <p:cNvSpPr/>
          <p:nvPr/>
        </p:nvSpPr>
        <p:spPr>
          <a:xfrm>
            <a:off y="3769625" x="854948"/>
            <a:ext cy="175800" cx="175800"/>
          </a:xfrm>
          <a:prstGeom prst="ellipse">
            <a:avLst/>
          </a:prstGeom>
          <a:solidFill>
            <a:srgbClr val="F363B8">
              <a:alpha val="65940"/>
            </a:srgbClr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4" name="Shape 104"/>
          <p:cNvSpPr txBox="1"/>
          <p:nvPr>
            <p:ph idx="1" type="body"/>
          </p:nvPr>
        </p:nvSpPr>
        <p:spPr>
          <a:xfrm>
            <a:off y="1613504" x="1742564"/>
            <a:ext cy="4988100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sz="1800" lang="en">
                <a:solidFill>
                  <a:srgbClr val="000000"/>
                </a:solidFill>
              </a:rPr>
              <a:t>
</a:t>
            </a:r>
            <a:r>
              <a:rPr sz="1800" lang="en">
                <a:solidFill>
                  <a:srgbClr val="000000"/>
                </a:solidFill>
              </a:rPr>
              <a:t>Tall building                                                         Forest</a:t>
            </a:r>
          </a:p>
        </p:txBody>
      </p:sp>
      <p:sp>
        <p:nvSpPr>
          <p:cNvPr id="105" name="Shape 105"/>
          <p:cNvSpPr txBox="1"/>
          <p:nvPr>
            <p:ph type="title"/>
          </p:nvPr>
        </p:nvSpPr>
        <p:spPr>
          <a:xfrm>
            <a:off y="2984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Gabor descriptor</a:t>
            </a:r>
          </a:p>
        </p:txBody>
      </p:sp>
      <p:sp>
        <p:nvSpPr>
          <p:cNvPr id="106" name="Shape 106"/>
          <p:cNvSpPr/>
          <p:nvPr/>
        </p:nvSpPr>
        <p:spPr>
          <a:xfrm>
            <a:off y="2455715" x="854948"/>
            <a:ext cy="2979917" cx="379844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07" name="Shape 107"/>
          <p:cNvSpPr/>
          <p:nvPr/>
        </p:nvSpPr>
        <p:spPr>
          <a:xfrm>
            <a:off y="2455715" x="4996026"/>
            <a:ext cy="3017076" cx="384133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2" name="Shape 112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Gabor descriptor</a:t>
            </a:r>
          </a:p>
        </p:txBody>
      </p:sp>
      <p:sp>
        <p:nvSpPr>
          <p:cNvPr id="113" name="Shape 113"/>
          <p:cNvSpPr/>
          <p:nvPr/>
        </p:nvSpPr>
        <p:spPr>
          <a:xfrm>
            <a:off y="2416842" x="854948"/>
            <a:ext cy="2925280" cx="372775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14" name="Shape 114"/>
          <p:cNvSpPr/>
          <p:nvPr/>
        </p:nvSpPr>
        <p:spPr>
          <a:xfrm>
            <a:off y="2396292" x="5080613"/>
            <a:ext cy="2966379" cx="378026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15" name="Shape 115"/>
          <p:cNvSpPr txBox="1"/>
          <p:nvPr>
            <p:ph idx="1" type="body"/>
          </p:nvPr>
        </p:nvSpPr>
        <p:spPr>
          <a:xfrm>
            <a:off y="1579562" x="1967275"/>
            <a:ext cy="4988100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
</a:t>
            </a:r>
            <a:r>
              <a:rPr sz="1800" lang="en">
                <a:solidFill>
                  <a:srgbClr val="000000"/>
                </a:solidFill>
              </a:rPr>
              <a:t>Highway                                                     Coast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0" name="Shape 120"/>
          <p:cNvSpPr txBox="1"/>
          <p:nvPr>
            <p:ph idx="1" type="body"/>
          </p:nvPr>
        </p:nvSpPr>
        <p:spPr>
          <a:xfrm>
            <a:off y="1731475" x="2982048"/>
            <a:ext cy="4988100" cx="3022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spcBef>
                <a:spcPts val="0"/>
              </a:spcBef>
              <a:buClr>
                <a:srgbClr val="000000"/>
              </a:buClr>
              <a:buSzPct val="61111"/>
              <a:buFont typeface="Arial"/>
              <a:buNone/>
            </a:pPr>
            <a:r>
              <a:rPr sz="1800" lang="en">
                <a:solidFill>
                  <a:srgbClr val="000000"/>
                </a:solidFill>
              </a:rPr>
              <a:t>
</a:t>
            </a:r>
            <a:r>
              <a:rPr sz="1800" lang="en">
                <a:solidFill>
                  <a:srgbClr val="000000"/>
                </a:solidFill>
              </a:rPr>
              <a:t>Mountain                                                   </a:t>
            </a:r>
          </a:p>
          <a:p>
            <a:r>
              <a:t/>
            </a:r>
          </a:p>
        </p:txBody>
      </p:sp>
      <p:sp>
        <p:nvSpPr>
          <p:cNvPr id="121" name="Shape 121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Gabor descriptor</a:t>
            </a:r>
          </a:p>
        </p:txBody>
      </p:sp>
      <p:sp>
        <p:nvSpPr>
          <p:cNvPr id="122" name="Shape 122"/>
          <p:cNvSpPr/>
          <p:nvPr/>
        </p:nvSpPr>
        <p:spPr>
          <a:xfrm>
            <a:off y="2362600" x="1059240"/>
            <a:ext cy="4065112" cx="517916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23" name="Shape 123"/>
          <p:cNvSpPr txBox="1"/>
          <p:nvPr/>
        </p:nvSpPr>
        <p:spPr>
          <a:xfrm>
            <a:off y="2852375" x="6381709"/>
            <a:ext cy="3377099" cx="26154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Scale is important here - thus must measure distance. Results for Euclidian distance:</a:t>
            </a:r>
          </a:p>
          <a:p>
            <a:r>
              <a:t/>
            </a:r>
          </a:p>
          <a:p>
            <a:pPr rtl="0" lvl="0">
              <a:buNone/>
            </a:pPr>
            <a:r>
              <a:rPr lang="en"/>
              <a:t>Scale 0.5</a:t>
            </a:r>
          </a:p>
          <a:p>
            <a:pPr rtl="0" lvl="0">
              <a:buNone/>
            </a:pPr>
            <a:r>
              <a:rPr lang="en"/>
              <a:t> Accuracy: 63% (80 fv)</a:t>
            </a:r>
          </a:p>
          <a:p>
            <a:r>
              <a:t/>
            </a:r>
          </a:p>
          <a:p>
            <a:pPr rtl="0" lvl="0">
              <a:buNone/>
            </a:pPr>
            <a:r>
              <a:rPr lang="en"/>
              <a:t>Test for 32 bins per image quarter (128).</a:t>
            </a:r>
          </a:p>
          <a:p>
            <a:pPr>
              <a:buNone/>
            </a:pPr>
            <a:r>
              <a:rPr lang="en"/>
              <a:t>Accuracy: 63% - exactly the same; time - the same</a:t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8" name="Shape 128"/>
          <p:cNvSpPr txBox="1"/>
          <p:nvPr>
            <p:ph idx="1" type="body"/>
          </p:nvPr>
        </p:nvSpPr>
        <p:spPr>
          <a:xfrm>
            <a:off y="1579562" x="854948"/>
            <a:ext cy="4988100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Correlation between categories: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Other test: </a:t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For the whole image - not breaking it in 4 sectors:</a:t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Accuracy: 53%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129" name="Shape 129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Gabor descriptor</a:t>
            </a:r>
          </a:p>
        </p:txBody>
      </p:sp>
      <p:sp>
        <p:nvSpPr>
          <p:cNvPr id="130" name="Shape 130"/>
          <p:cNvSpPr/>
          <p:nvPr/>
        </p:nvSpPr>
        <p:spPr>
          <a:xfrm>
            <a:off y="1736725" x="4259075"/>
            <a:ext cy="866308" cx="385719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graphicFrame>
        <p:nvGraphicFramePr>
          <p:cNvPr id="131" name="Shape 131"/>
          <p:cNvGraphicFramePr/>
          <p:nvPr/>
        </p:nvGraphicFramePr>
        <p:xfrm>
          <a:off y="2697233" x="1151348"/>
          <a:ext cy="3000000" cx="3000000"/>
        </p:xfrm>
        <a:graphic>
          <a:graphicData uri="http://schemas.openxmlformats.org/drawingml/2006/table">
            <a:tbl>
              <a:tblPr>
                <a:noFill/>
                <a:tableStyleId>{97649D8B-2F51-45C9-BCD0-68BC1B8C9F0F}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07725"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Coast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Forest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Mountain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Highway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TallBuilding</a:t>
                      </a:r>
                    </a:p>
                  </a:txBody>
                  <a:tcPr marR="91425" marB="91425" marT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Coast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1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Forest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- 0.015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1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Mountain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0.0098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-0.0083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1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Highway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0.0376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0.0375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0.0313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1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TallBuilding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-0.000078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0.000034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0.000092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0.000008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1</a:t>
                      </a:r>
                    </a:p>
                  </a:txBody>
                  <a:tcPr marR="91425" marB="91425" marT="91425" marL="91425"/>
                </a:tc>
              </a:tr>
            </a:tbl>
          </a:graphicData>
        </a:graphic>
      </p:graphicFrame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6" name="Shape 136"/>
          <p:cNvSpPr txBox="1"/>
          <p:nvPr>
            <p:ph idx="1" type="body"/>
          </p:nvPr>
        </p:nvSpPr>
        <p:spPr>
          <a:xfrm>
            <a:off y="1579562" x="854948"/>
            <a:ext cy="4988100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Results are so so... Better idea!?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Preserving more spatial information: don't use histogram, calculate value on each 'bin' of superimposed gaborfiltered image 'manually'. 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Split the image in 32 bins manually and calculated sum of pixels </a:t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(32*4=128 feature vector)</a:t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Accuracy: 43%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Time: 27 min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137" name="Shape 137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/>
              <a:t>Gabor descriptor</a:t>
            </a:r>
          </a:p>
        </p:txBody>
      </p:sp>
      <p:cxnSp>
        <p:nvCxnSpPr>
          <p:cNvPr id="138" name="Shape 138"/>
          <p:cNvCxnSpPr/>
          <p:nvPr/>
        </p:nvCxnSpPr>
        <p:spPr>
          <a:xfrm>
            <a:off y="2292825" x="957298"/>
            <a:ext cy="4500" cx="6974400"/>
          </a:xfrm>
          <a:prstGeom prst="straightConnector1">
            <a:avLst/>
          </a:prstGeom>
          <a:noFill/>
          <a:ln w="19050" cap="flat">
            <a:solidFill>
              <a:srgbClr val="E69138"/>
            </a:solidFill>
            <a:prstDash val="solid"/>
            <a:round/>
            <a:headEnd w="lg" len="lg" type="none"/>
            <a:tailEnd w="lg" len="lg" type="none"/>
          </a:ln>
        </p:spPr>
      </p:cxnSp>
      <p:cxnSp>
        <p:nvCxnSpPr>
          <p:cNvPr id="139" name="Shape 139"/>
          <p:cNvCxnSpPr/>
          <p:nvPr/>
        </p:nvCxnSpPr>
        <p:spPr>
          <a:xfrm>
            <a:off y="4205800" x="957298"/>
            <a:ext cy="4500" cx="6974400"/>
          </a:xfrm>
          <a:prstGeom prst="straightConnector1">
            <a:avLst/>
          </a:prstGeom>
          <a:noFill/>
          <a:ln w="19050" cap="flat">
            <a:solidFill>
              <a:srgbClr val="E69138"/>
            </a:solidFill>
            <a:prstDash val="solid"/>
            <a:round/>
            <a:headEnd w="lg" len="lg" type="none"/>
            <a:tailEnd w="lg" len="lg" type="none"/>
          </a:ln>
        </p:spPr>
      </p:cxn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4" name="Shape 144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Gabor descriptor</a:t>
            </a:r>
          </a:p>
        </p:txBody>
      </p:sp>
      <p:sp>
        <p:nvSpPr>
          <p:cNvPr id="145" name="Shape 145"/>
          <p:cNvSpPr/>
          <p:nvPr/>
        </p:nvSpPr>
        <p:spPr>
          <a:xfrm>
            <a:off y="1836962" x="960137"/>
            <a:ext cy="1795629" cx="227726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46" name="Shape 146"/>
          <p:cNvSpPr/>
          <p:nvPr/>
        </p:nvSpPr>
        <p:spPr>
          <a:xfrm>
            <a:off y="1782582" x="4027700"/>
            <a:ext cy="1844451" cx="241781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47" name="Shape 147"/>
          <p:cNvSpPr/>
          <p:nvPr/>
        </p:nvSpPr>
        <p:spPr>
          <a:xfrm>
            <a:off y="1807623" x="6786607"/>
            <a:ext cy="1794370" cx="2357392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148" name="Shape 148"/>
          <p:cNvSpPr/>
          <p:nvPr/>
        </p:nvSpPr>
        <p:spPr>
          <a:xfrm>
            <a:off y="4238912" x="960137"/>
            <a:ext cy="2007095" cx="2629153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</p:sp>
      <p:sp>
        <p:nvSpPr>
          <p:cNvPr id="149" name="Shape 149"/>
          <p:cNvSpPr/>
          <p:nvPr/>
        </p:nvSpPr>
        <p:spPr>
          <a:xfrm>
            <a:off y="4228070" x="4123577"/>
            <a:ext cy="2028779" cx="266303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</p:sp>
      <p:sp>
        <p:nvSpPr>
          <p:cNvPr id="150" name="Shape 150"/>
          <p:cNvSpPr txBox="1"/>
          <p:nvPr/>
        </p:nvSpPr>
        <p:spPr>
          <a:xfrm>
            <a:off y="1504025" x="7625347"/>
            <a:ext cy="457200" cx="10613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Highway  </a:t>
            </a:r>
          </a:p>
        </p:txBody>
      </p:sp>
      <p:sp>
        <p:nvSpPr>
          <p:cNvPr id="151" name="Shape 151"/>
          <p:cNvSpPr txBox="1"/>
          <p:nvPr/>
        </p:nvSpPr>
        <p:spPr>
          <a:xfrm>
            <a:off y="3899225" x="1714289"/>
            <a:ext cy="457200" cx="13665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Tall building</a:t>
            </a:r>
          </a:p>
        </p:txBody>
      </p:sp>
      <p:sp>
        <p:nvSpPr>
          <p:cNvPr id="152" name="Shape 152"/>
          <p:cNvSpPr txBox="1"/>
          <p:nvPr/>
        </p:nvSpPr>
        <p:spPr>
          <a:xfrm>
            <a:off y="3899225" x="4771842"/>
            <a:ext cy="457200" cx="13665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Mountain</a:t>
            </a:r>
          </a:p>
        </p:txBody>
      </p:sp>
      <p:sp>
        <p:nvSpPr>
          <p:cNvPr id="153" name="Shape 153"/>
          <p:cNvSpPr txBox="1"/>
          <p:nvPr/>
        </p:nvSpPr>
        <p:spPr>
          <a:xfrm>
            <a:off y="1504025" x="4747906"/>
            <a:ext cy="457200" cx="9774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Forest</a:t>
            </a:r>
          </a:p>
        </p:txBody>
      </p:sp>
      <p:sp>
        <p:nvSpPr>
          <p:cNvPr id="154" name="Shape 154"/>
          <p:cNvSpPr txBox="1"/>
          <p:nvPr/>
        </p:nvSpPr>
        <p:spPr>
          <a:xfrm>
            <a:off y="1504025" x="1764564"/>
            <a:ext cy="457200" cx="10202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coast</a:t>
            </a: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9" name="Shape 159"/>
          <p:cNvSpPr txBox="1"/>
          <p:nvPr>
            <p:ph idx="1" type="body"/>
          </p:nvPr>
        </p:nvSpPr>
        <p:spPr>
          <a:xfrm>
            <a:off y="1579562" x="854948"/>
            <a:ext cy="4988100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Histogram and averaged method didn't work very well</a:t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Tried classic GIST Gabor - use normalized color images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160" name="Shape 160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Gabor descriptor</a:t>
            </a:r>
          </a:p>
        </p:txBody>
      </p:sp>
      <p:sp>
        <p:nvSpPr>
          <p:cNvPr id="161" name="Shape 161"/>
          <p:cNvSpPr/>
          <p:nvPr/>
        </p:nvSpPr>
        <p:spPr>
          <a:xfrm>
            <a:off y="4773021" x="843754"/>
            <a:ext cy="1991933" cx="257454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62" name="Shape 162"/>
          <p:cNvSpPr/>
          <p:nvPr/>
        </p:nvSpPr>
        <p:spPr>
          <a:xfrm>
            <a:off y="4776145" x="3706134"/>
            <a:ext cy="1985686" cx="255338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63" name="Shape 163"/>
          <p:cNvSpPr/>
          <p:nvPr/>
        </p:nvSpPr>
        <p:spPr>
          <a:xfrm>
            <a:off y="3381175" x="6259517"/>
            <a:ext cy="2086362" cx="2705313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164" name="Shape 164"/>
          <p:cNvSpPr txBox="1"/>
          <p:nvPr/>
        </p:nvSpPr>
        <p:spPr>
          <a:xfrm>
            <a:off y="3381175" x="7420124"/>
            <a:ext cy="457200" cx="9572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coast</a:t>
            </a:r>
          </a:p>
        </p:txBody>
      </p:sp>
      <p:sp>
        <p:nvSpPr>
          <p:cNvPr id="165" name="Shape 165"/>
          <p:cNvSpPr/>
          <p:nvPr/>
        </p:nvSpPr>
        <p:spPr>
          <a:xfrm>
            <a:off y="2430692" x="846807"/>
            <a:ext cy="1996614" cx="2568437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</p:sp>
      <p:sp>
        <p:nvSpPr>
          <p:cNvPr id="166" name="Shape 166"/>
          <p:cNvSpPr txBox="1"/>
          <p:nvPr/>
        </p:nvSpPr>
        <p:spPr>
          <a:xfrm>
            <a:off y="2569591" x="1734276"/>
            <a:ext cy="457200" cx="9572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mountain</a:t>
            </a:r>
          </a:p>
        </p:txBody>
      </p:sp>
      <p:sp>
        <p:nvSpPr>
          <p:cNvPr id="167" name="Shape 167"/>
          <p:cNvSpPr txBox="1"/>
          <p:nvPr/>
        </p:nvSpPr>
        <p:spPr>
          <a:xfrm>
            <a:off y="4776145" x="1734276"/>
            <a:ext cy="457200" cx="9572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highway</a:t>
            </a:r>
          </a:p>
        </p:txBody>
      </p:sp>
      <p:sp>
        <p:nvSpPr>
          <p:cNvPr id="168" name="Shape 168"/>
          <p:cNvSpPr txBox="1"/>
          <p:nvPr/>
        </p:nvSpPr>
        <p:spPr>
          <a:xfrm>
            <a:off y="4887595" x="4468426"/>
            <a:ext cy="457200" cx="957299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forest</a:t>
            </a:r>
          </a:p>
        </p:txBody>
      </p:sp>
      <p:sp>
        <p:nvSpPr>
          <p:cNvPr id="169" name="Shape 169"/>
          <p:cNvSpPr/>
          <p:nvPr/>
        </p:nvSpPr>
        <p:spPr>
          <a:xfrm>
            <a:off y="2451976" x="3571275"/>
            <a:ext cy="1954047" cx="2587546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</p:sp>
      <p:sp>
        <p:nvSpPr>
          <p:cNvPr id="170" name="Shape 170"/>
          <p:cNvSpPr txBox="1"/>
          <p:nvPr/>
        </p:nvSpPr>
        <p:spPr>
          <a:xfrm>
            <a:off y="2569591" x="4339476"/>
            <a:ext cy="457200" cx="12867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tall building</a:t>
            </a:r>
          </a:p>
        </p:txBody>
      </p:sp>
      <p:sp>
        <p:nvSpPr>
          <p:cNvPr id="171" name="Shape 171"/>
          <p:cNvSpPr txBox="1"/>
          <p:nvPr/>
        </p:nvSpPr>
        <p:spPr>
          <a:xfrm>
            <a:off y="5540388" x="6447724"/>
            <a:ext cy="941099" cx="23289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Next stage will keep trying GIST to get better accuracy than 63%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6" name="Shape 176"/>
          <p:cNvSpPr txBox="1"/>
          <p:nvPr>
            <p:ph idx="1" type="body"/>
          </p:nvPr>
        </p:nvSpPr>
        <p:spPr>
          <a:xfrm>
            <a:off y="1579562" x="1171298"/>
            <a:ext cy="4988100" cx="71990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2400" lang="en">
                <a:solidFill>
                  <a:srgbClr val="000000"/>
                </a:solidFill>
              </a:rPr>
              <a:t>
</a:t>
            </a:r>
            <a:r>
              <a:rPr sz="2400" lang="en">
                <a:solidFill>
                  <a:srgbClr val="000000"/>
                </a:solidFill>
              </a:rPr>
              <a:t>Question: Gabor feat doesn't work well with histogram intersection method, Euclidian distance doesn't work well with CENTRIST histograms. We compare with averaged category histograms only</a:t>
            </a:r>
          </a:p>
          <a:p>
            <a:r>
              <a:t/>
            </a:r>
          </a:p>
          <a:p>
            <a:pPr rtl="0" lvl="0">
              <a:buNone/>
            </a:pPr>
            <a:r>
              <a:rPr sz="2400" lang="en">
                <a:solidFill>
                  <a:srgbClr val="000000"/>
                </a:solidFill>
              </a:rPr>
              <a:t>What's the point to look for better measure technique if it won't be used with hybrid? </a:t>
            </a:r>
          </a:p>
          <a:p>
            <a:r>
              <a:t/>
            </a:r>
          </a:p>
          <a:p>
            <a:pPr rtl="0" lvl="0">
              <a:buNone/>
            </a:pPr>
            <a:r>
              <a:rPr sz="2400" lang="en">
                <a:solidFill>
                  <a:srgbClr val="000000"/>
                </a:solidFill>
              </a:rPr>
              <a:t>Should try neural network for the next stage?</a:t>
            </a:r>
          </a:p>
          <a:p>
            <a:r>
              <a:t/>
            </a:r>
          </a:p>
        </p:txBody>
      </p:sp>
      <p:sp>
        <p:nvSpPr>
          <p:cNvPr id="177" name="Shape 177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Gabor descriptor</a:t>
            </a: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2" name="Shape 182"/>
          <p:cNvSpPr txBox="1"/>
          <p:nvPr>
            <p:ph idx="1" type="body"/>
          </p:nvPr>
        </p:nvSpPr>
        <p:spPr>
          <a:xfrm>
            <a:off y="2419712" x="913573"/>
            <a:ext cy="4988100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ctr" rtl="0"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r>
              <a:rPr sz="4800" lang="en">
                <a:solidFill>
                  <a:srgbClr val="A64D79"/>
                </a:solidFill>
                <a:latin typeface="Corsiva"/>
                <a:ea typeface="Corsiva"/>
                <a:cs typeface="Corsiva"/>
                <a:sym typeface="Corsiva"/>
              </a:rPr>
              <a:t>Pauline: </a:t>
            </a:r>
          </a:p>
          <a:p>
            <a:pPr algn="ctr" rtl="0" lvl="0">
              <a:spcBef>
                <a:spcPts val="0"/>
              </a:spcBef>
              <a:buNone/>
            </a:pPr>
            <a:r>
              <a:rPr sz="4800" lang="en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CENTRIST</a:t>
            </a:r>
          </a:p>
          <a:p>
            <a:pPr algn="ctr" rtl="0"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r>
              <a:rPr sz="4800" lang="en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descriptor </a:t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7" name="Shape 187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188" name="Shape 188"/>
          <p:cNvSpPr txBox="1"/>
          <p:nvPr>
            <p:ph idx="1" type="body"/>
          </p:nvPr>
        </p:nvSpPr>
        <p:spPr>
          <a:xfrm>
            <a:off y="1817937" x="1069873"/>
            <a:ext cy="4583699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>
                <a:solidFill>
                  <a:srgbClr val="000000"/>
                </a:solidFill>
              </a:rPr>
              <a:t>Tests with different parameters:</a:t>
            </a:r>
          </a:p>
          <a:p>
            <a:r>
              <a:t/>
            </a:r>
          </a:p>
          <a:p>
            <a:pPr rtl="0" lvl="0" indent="-419100" marL="457200">
              <a:buClr>
                <a:schemeClr val="lt2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000000"/>
                </a:solidFill>
              </a:rPr>
              <a:t>Size of training set </a:t>
            </a:r>
          </a:p>
          <a:p>
            <a:r>
              <a:t/>
            </a:r>
          </a:p>
          <a:p>
            <a:pPr rtl="0" lvl="0" indent="-419100" marL="457200">
              <a:buClr>
                <a:schemeClr val="lt2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000000"/>
                </a:solidFill>
              </a:rPr>
              <a:t>Downsize factor</a:t>
            </a:r>
          </a:p>
          <a:p>
            <a:r>
              <a:t/>
            </a:r>
          </a:p>
          <a:p>
            <a:pPr rtl="0" lvl="0" indent="-419100" marL="457200">
              <a:buClr>
                <a:schemeClr val="lt2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000000"/>
                </a:solidFill>
              </a:rPr>
              <a:t>Image division</a:t>
            </a:r>
          </a:p>
          <a:p>
            <a:r>
              <a:t/>
            </a:r>
          </a:p>
          <a:p>
            <a:pPr rtl="0" lvl="0" indent="-419100" marL="457200">
              <a:buClr>
                <a:schemeClr val="lt2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000000"/>
                </a:solidFill>
              </a:rPr>
              <a:t>Distance calculation</a:t>
            </a:r>
          </a:p>
          <a:p>
            <a:r>
              <a:t/>
            </a:r>
          </a:p>
          <a:p>
            <a:pPr rtl="0" lvl="0" indent="-419100" marL="457200">
              <a:buClr>
                <a:schemeClr val="lt2"/>
              </a:buClr>
              <a:buSzPct val="166666"/>
              <a:buFont typeface="Arial"/>
              <a:buChar char="•"/>
            </a:pPr>
            <a:r>
              <a:rPr lang="en">
                <a:solidFill>
                  <a:srgbClr val="000000"/>
                </a:solidFill>
              </a:rPr>
              <a:t>Histogram number of bins</a:t>
            </a: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93" name="Shape 193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194" name="Shape 194"/>
          <p:cNvSpPr txBox="1"/>
          <p:nvPr>
            <p:ph idx="1" type="body"/>
          </p:nvPr>
        </p:nvSpPr>
        <p:spPr>
          <a:xfrm>
            <a:off y="1817937" x="1069873"/>
            <a:ext cy="4583699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Partial training data set: 1/3 of training images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Computation with downsize: 10 times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Total computation time: 18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Total number of misclassifications: 91/150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Computation with downsize: 4 times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Total computation time: 110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Total number of misclassifications: 93/150</a:t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Not same classifications but no improvement.</a:t>
            </a:r>
          </a:p>
        </p:txBody>
      </p:sp>
      <p:cxnSp>
        <p:nvCxnSpPr>
          <p:cNvPr id="195" name="Shape 195"/>
          <p:cNvCxnSpPr/>
          <p:nvPr/>
        </p:nvCxnSpPr>
        <p:spPr>
          <a:xfrm>
            <a:off y="2463700" x="835650"/>
            <a:ext cy="14400" cx="7751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0" name="Shape 200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01" name="Shape 201"/>
          <p:cNvSpPr txBox="1"/>
          <p:nvPr>
            <p:ph idx="1" type="body"/>
          </p:nvPr>
        </p:nvSpPr>
        <p:spPr>
          <a:xfrm>
            <a:off y="1817937" x="1069873"/>
            <a:ext cy="4880999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Partial training data set</a:t>
            </a:r>
          </a:p>
          <a:p>
            <a:pPr rtl="0" lvl="0">
              <a:buClr>
                <a:srgbClr val="000000"/>
              </a:buClr>
              <a:buSzPct val="61111"/>
              <a:buFont typeface="Arial"/>
              <a:buNone/>
            </a:pPr>
            <a:r>
              <a:rPr sz="1800" lang="en">
                <a:solidFill>
                  <a:srgbClr val="000000"/>
                </a:solidFill>
              </a:rPr>
              <a:t>4 lines</a:t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.125 downsize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Quadratic Method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Total computation time: 27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Total number of misclassifications: 89/150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Histogram Intersection Method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Total computation time: 27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Total number of misclassifications: 45/150</a:t>
            </a:r>
          </a:p>
        </p:txBody>
      </p:sp>
      <p:cxnSp>
        <p:nvCxnSpPr>
          <p:cNvPr id="202" name="Shape 202"/>
          <p:cNvCxnSpPr/>
          <p:nvPr/>
        </p:nvCxnSpPr>
        <p:spPr>
          <a:xfrm>
            <a:off y="3097625" x="895148"/>
            <a:ext cy="14400" cx="7751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7" name="Shape 207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08" name="Shape 208"/>
          <p:cNvSpPr txBox="1"/>
          <p:nvPr>
            <p:ph idx="1" type="body"/>
          </p:nvPr>
        </p:nvSpPr>
        <p:spPr>
          <a:xfrm>
            <a:off y="1817937" x="1069873"/>
            <a:ext cy="4583699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Clr>
                <a:srgbClr val="000000"/>
              </a:buClr>
              <a:buSzPct val="61111"/>
              <a:buFont typeface="Arial"/>
              <a:buNone/>
            </a:pPr>
            <a:r>
              <a:rPr sz="1800" lang="en">
                <a:solidFill>
                  <a:srgbClr val="000000"/>
                </a:solidFill>
              </a:rPr>
              <a:t>
</a:t>
            </a:r>
            <a:r>
              <a:rPr sz="1800" lang="en">
                <a:solidFill>
                  <a:srgbClr val="000000"/>
                </a:solidFill>
              </a:rPr>
              <a:t>4 lines</a:t>
            </a:r>
          </a:p>
          <a:p>
            <a:pPr rtl="0" lvl="0">
              <a:buClr>
                <a:srgbClr val="000000"/>
              </a:buClr>
              <a:buSzPct val="61111"/>
              <a:buFont typeface="Arial"/>
              <a:buNone/>
            </a:pPr>
            <a:r>
              <a:rPr sz="1800" lang="en">
                <a:solidFill>
                  <a:srgbClr val="000000"/>
                </a:solidFill>
              </a:rPr>
              <a:t>.125 downsize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Quadratic Method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Total computation time: 50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Total number of misclassifications: 87/150</a:t>
            </a:r>
          </a:p>
          <a:p>
            <a:r>
              <a:t/>
            </a:r>
          </a:p>
          <a:p>
            <a:pPr rtl="0" lvl="0">
              <a:buClr>
                <a:srgbClr val="000000"/>
              </a:buClr>
              <a:buSzPct val="61111"/>
              <a:buFont typeface="Arial"/>
              <a:buNone/>
            </a:pPr>
            <a:r>
              <a:rPr sz="1800" lang="en">
                <a:solidFill>
                  <a:srgbClr val="000000"/>
                </a:solidFill>
              </a:rPr>
              <a:t>Histogram Intersection Method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Total computation time: 50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Total number of misclassifications: 34/150</a:t>
            </a:r>
          </a:p>
        </p:txBody>
      </p:sp>
      <p:cxnSp>
        <p:nvCxnSpPr>
          <p:cNvPr id="209" name="Shape 209"/>
          <p:cNvCxnSpPr/>
          <p:nvPr/>
        </p:nvCxnSpPr>
        <p:spPr>
          <a:xfrm>
            <a:off y="3097625" x="895148"/>
            <a:ext cy="14400" cx="7751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210" name="Shape 210"/>
          <p:cNvSpPr/>
          <p:nvPr/>
        </p:nvSpPr>
        <p:spPr>
          <a:xfrm>
            <a:off y="1817937" x="981598"/>
            <a:ext cy="432299" cx="262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algn="ctr" rtl="0" lvl="0">
              <a:spcBef>
                <a:spcPts val="600"/>
              </a:spcBef>
              <a:buNone/>
            </a:pPr>
            <a:r>
              <a:rPr sz="1800" lang="en"/>
              <a:t>Whole training data set</a:t>
            </a:r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15" name="Shape 215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16" name="Shape 216"/>
          <p:cNvSpPr txBox="1"/>
          <p:nvPr>
            <p:ph idx="1" type="body"/>
          </p:nvPr>
        </p:nvSpPr>
        <p:spPr>
          <a:xfrm>
            <a:off y="1731484" x="1069873"/>
            <a:ext cy="4670099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Whole training data set</a:t>
            </a:r>
          </a:p>
          <a:p>
            <a:r>
              <a:t/>
            </a:r>
          </a:p>
          <a:p>
            <a:pPr rtl="0" lvl="0">
              <a:buClr>
                <a:srgbClr val="000000"/>
              </a:buClr>
              <a:buSzPct val="61111"/>
              <a:buFont typeface="Arial"/>
              <a:buNone/>
            </a:pPr>
            <a:r>
              <a:rPr sz="1800" lang="en">
                <a:solidFill>
                  <a:srgbClr val="000000"/>
                </a:solidFill>
              </a:rPr>
              <a:t>.125 downsize</a:t>
            </a:r>
          </a:p>
          <a:p>
            <a:r>
              <a:t/>
            </a:r>
          </a:p>
          <a:p>
            <a:pPr rtl="0" lvl="0">
              <a:buClr>
                <a:srgbClr val="000000"/>
              </a:buClr>
              <a:buSzPct val="61111"/>
              <a:buFont typeface="Arial"/>
              <a:buNone/>
            </a:pPr>
            <a:r>
              <a:rPr sz="1800" lang="en">
                <a:solidFill>
                  <a:srgbClr val="000000"/>
                </a:solidFill>
              </a:rPr>
              <a:t>Histogram Intersection Method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Total computation time: 48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Total number of misclassifications: 108/150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Quadratic Method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Total computation time: 49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Total number of misclassifications: 120/150</a:t>
            </a:r>
          </a:p>
        </p:txBody>
      </p:sp>
      <p:cxnSp>
        <p:nvCxnSpPr>
          <p:cNvPr id="217" name="Shape 217"/>
          <p:cNvCxnSpPr/>
          <p:nvPr/>
        </p:nvCxnSpPr>
        <p:spPr>
          <a:xfrm>
            <a:off y="3097625" x="895148"/>
            <a:ext cy="14400" cx="7751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  <p:sp>
        <p:nvSpPr>
          <p:cNvPr id="218" name="Shape 218"/>
          <p:cNvSpPr/>
          <p:nvPr/>
        </p:nvSpPr>
        <p:spPr>
          <a:xfrm>
            <a:off y="2194780" x="981598"/>
            <a:ext cy="360299" cx="262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>
            <a:pPr algn="ctr" rtl="0" lvl="0">
              <a:spcBef>
                <a:spcPts val="600"/>
              </a:spcBef>
              <a:buNone/>
            </a:pPr>
            <a:r>
              <a:rPr sz="1800" lang="en"/>
              <a:t>4 lines / 4 columns</a:t>
            </a:r>
          </a:p>
        </p:txBody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3" name="Shape 223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24" name="Shape 224"/>
          <p:cNvSpPr txBox="1"/>
          <p:nvPr>
            <p:ph idx="1" type="body"/>
          </p:nvPr>
        </p:nvSpPr>
        <p:spPr>
          <a:xfrm>
            <a:off y="1665537" x="753914"/>
            <a:ext cy="4955400" cx="81476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Whole training data set		4 lines		Histogram Intersection Method</a:t>
            </a:r>
          </a:p>
          <a:p>
            <a:r>
              <a:t/>
            </a:r>
          </a:p>
          <a:p>
            <a:pPr rtl="0" lvl="0">
              <a:buClr>
                <a:srgbClr val="000000"/>
              </a:buClr>
              <a:buSzPct val="61111"/>
              <a:buFont typeface="Arial"/>
              <a:buNone/>
            </a:pPr>
            <a:r>
              <a:rPr sz="1800" lang="en">
                <a:solidFill>
                  <a:srgbClr val="000000"/>
                </a:solidFill>
              </a:rPr>
              <a:t>0.0625 downsize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Total computation time: 14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Total number of misclassifications: 52/150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0.125 downsize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Total computation time: 50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Total number of misclassifications: 34/150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0.25 downsize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Total computation time: 200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Total number of misclassifications: 37/150</a:t>
            </a:r>
          </a:p>
        </p:txBody>
      </p:sp>
      <p:cxnSp>
        <p:nvCxnSpPr>
          <p:cNvPr id="225" name="Shape 225"/>
          <p:cNvCxnSpPr/>
          <p:nvPr/>
        </p:nvCxnSpPr>
        <p:spPr>
          <a:xfrm>
            <a:off y="2276375" x="895148"/>
            <a:ext cy="14400" cx="7751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0" name="Shape 230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31" name="Shape 231"/>
          <p:cNvSpPr txBox="1"/>
          <p:nvPr>
            <p:ph idx="1" type="body"/>
          </p:nvPr>
        </p:nvSpPr>
        <p:spPr>
          <a:xfrm>
            <a:off y="1665537" x="753914"/>
            <a:ext cy="4955400" cx="81476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Clr>
                <a:srgbClr val="000000"/>
              </a:buClr>
              <a:buSzPct val="61111"/>
              <a:buFont typeface="Arial"/>
              <a:buNone/>
            </a:pPr>
            <a:r>
              <a:rPr sz="1800" lang="en">
                <a:solidFill>
                  <a:srgbClr val="000000"/>
                </a:solidFill>
              </a:rPr>
              <a:t>0.125 downsize		4 lines		Histogram Intersection Method</a:t>
            </a:r>
          </a:p>
          <a:p>
            <a:pPr rtl="0" lvl="0">
              <a:buClr>
                <a:srgbClr val="000000"/>
              </a:buClr>
              <a:buSzPct val="61111"/>
              <a:buFont typeface="Arial"/>
              <a:buNone/>
            </a:pPr>
            <a:r>
              <a:rPr sz="1800" lang="en">
                <a:solidFill>
                  <a:srgbClr val="000000"/>
                </a:solidFill>
              </a:rPr>
              <a:t>All computation times = 50+/-1</a:t>
            </a:r>
          </a:p>
          <a:p>
            <a:r>
              <a:t/>
            </a:r>
          </a:p>
          <a:p>
            <a:pPr rtl="0" lvl="0" indent="-419100" marL="457200">
              <a:lnSpc>
                <a:spcPct val="115000"/>
              </a:lnSpc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10 bins histograms: 55/150 misclassifications</a:t>
            </a:r>
          </a:p>
          <a:p>
            <a:pPr rtl="0" lvl="0" indent="-419100" marL="457200">
              <a:lnSpc>
                <a:spcPct val="115000"/>
              </a:lnSpc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20 bins histograms: 34/150 misclassifications</a:t>
            </a:r>
          </a:p>
          <a:p>
            <a:pPr rtl="0" lvl="0" indent="-419100" marL="457200">
              <a:lnSpc>
                <a:spcPct val="115000"/>
              </a:lnSpc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40 bins histograms: 30/150 misclassifications</a:t>
            </a:r>
          </a:p>
          <a:p>
            <a:pPr rtl="0" lvl="0" indent="-419100" marL="457200">
              <a:lnSpc>
                <a:spcPct val="115000"/>
              </a:lnSpc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70 bins histograms: 28/150 misclassifications</a:t>
            </a:r>
          </a:p>
          <a:p>
            <a:pPr rtl="0" lvl="0" indent="-419100" marL="457200">
              <a:lnSpc>
                <a:spcPct val="115000"/>
              </a:lnSpc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100 bins histograms: 27/150 misclassifications</a:t>
            </a:r>
          </a:p>
          <a:p>
            <a:pPr rtl="0" lvl="0" indent="-419100" marL="457200">
              <a:lnSpc>
                <a:spcPct val="115000"/>
              </a:lnSpc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150 bins histograms: 24/150 misclassifications</a:t>
            </a:r>
          </a:p>
          <a:p>
            <a:pPr rtl="0" lvl="0" indent="-419100" marL="457200">
              <a:lnSpc>
                <a:spcPct val="115000"/>
              </a:lnSpc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200 bins histograms: 24/150 misclassifications</a:t>
            </a:r>
          </a:p>
        </p:txBody>
      </p:sp>
      <p:cxnSp>
        <p:nvCxnSpPr>
          <p:cNvPr id="232" name="Shape 232"/>
          <p:cNvCxnSpPr/>
          <p:nvPr/>
        </p:nvCxnSpPr>
        <p:spPr>
          <a:xfrm>
            <a:off y="2737450" x="895148"/>
            <a:ext cy="14400" cx="7751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w="lg" len="lg" type="none"/>
            <a:tailEnd w="lg" len="lg" type="none"/>
          </a:ln>
        </p:spPr>
      </p:cxn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7" name="Shape 237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38" name="Shape 238"/>
          <p:cNvSpPr/>
          <p:nvPr/>
        </p:nvSpPr>
        <p:spPr>
          <a:xfrm>
            <a:off y="1775325" x="1833350"/>
            <a:ext cy="4677706" cx="657706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239" name="Shape 239"/>
          <p:cNvSpPr/>
          <p:nvPr/>
        </p:nvSpPr>
        <p:spPr>
          <a:xfrm>
            <a:off y="3951500" x="3301250"/>
            <a:ext cy="914400" cx="457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44" name="Shape 244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45" name="Shape 245"/>
          <p:cNvSpPr txBox="1"/>
          <p:nvPr>
            <p:ph idx="1" type="body"/>
          </p:nvPr>
        </p:nvSpPr>
        <p:spPr>
          <a:xfrm>
            <a:off y="1860672" x="1014107"/>
            <a:ext cy="4760399" cx="78875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Clr>
                <a:srgbClr val="000000"/>
              </a:buClr>
              <a:buSzPct val="61111"/>
              <a:buFont typeface="Arial"/>
              <a:buNone/>
            </a:pPr>
            <a:r>
              <a:rPr sz="1800" lang="en">
                <a:solidFill>
                  <a:srgbClr val="000000"/>
                </a:solidFill>
              </a:rPr>
              <a:t>Best performance: 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0.125 downsize	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4 lines		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Histogram Intersection Method</a:t>
            </a:r>
          </a:p>
          <a:p>
            <a:r>
              <a:t/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40 bins histograms = best compromise</a:t>
            </a:r>
          </a:p>
          <a:p>
            <a:r>
              <a:t/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000000"/>
                </a:solidFill>
              </a:rPr>
              <a:t>Best result: 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30/150 misclassifications</a:t>
            </a:r>
          </a:p>
          <a:p>
            <a:pPr rtl="0" lvl="0" indent="-419100" marL="457200">
              <a:buClr>
                <a:schemeClr val="lt2"/>
              </a:buClr>
              <a:buSzPct val="277777"/>
              <a:buFont typeface="Arial"/>
              <a:buChar char="•"/>
            </a:pPr>
            <a:r>
              <a:rPr sz="1800" lang="en">
                <a:solidFill>
                  <a:srgbClr val="000000"/>
                </a:solidFill>
              </a:rPr>
              <a:t>i.e. 80% successful classification</a:t>
            </a:r>
          </a:p>
        </p:txBody>
      </p: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0" name="Shape 250"/>
          <p:cNvSpPr txBox="1"/>
          <p:nvPr>
            <p:ph idx="1" type="body"/>
          </p:nvPr>
        </p:nvSpPr>
        <p:spPr>
          <a:xfrm>
            <a:off y="2361112" x="776798"/>
            <a:ext cy="4988100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ctr" rtl="0" lvl="0">
              <a:buNone/>
            </a:pPr>
            <a:r>
              <a:rPr sz="4800" lang="en">
                <a:solidFill>
                  <a:srgbClr val="A64D79"/>
                </a:solidFill>
                <a:latin typeface="Corsiva"/>
                <a:ea typeface="Corsiva"/>
                <a:cs typeface="Corsiva"/>
                <a:sym typeface="Corsiva"/>
              </a:rPr>
              <a:t>Piter: </a:t>
            </a:r>
          </a:p>
          <a:p>
            <a:pPr algn="ctr" rtl="0" lvl="0">
              <a:buNone/>
            </a:pPr>
            <a:r>
              <a:rPr sz="4800" lang="en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Color histogram</a:t>
            </a:r>
          </a:p>
          <a:p>
            <a:pPr algn="ctr" rtl="0" lvl="0">
              <a:buNone/>
            </a:pPr>
            <a:r>
              <a:rPr sz="4800" lang="en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 descriptor</a:t>
            </a:r>
            <a:r>
              <a:rPr sz="4800" lang="en">
                <a:solidFill>
                  <a:schemeClr val="accent1"/>
                </a:solidFill>
                <a:latin typeface="Corsiva"/>
                <a:ea typeface="Corsiva"/>
                <a:cs typeface="Corsiva"/>
                <a:sym typeface="Corsiva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54" name="Shape 25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5" name="Shape 255"/>
          <p:cNvSpPr txBox="1"/>
          <p:nvPr>
            <p:ph idx="1" type="body"/>
          </p:nvPr>
        </p:nvSpPr>
        <p:spPr>
          <a:xfrm>
            <a:off y="1579562" x="854948"/>
            <a:ext cy="4988100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sz="1800" lang="en"/>
              <a:t>%% Feature Extraction</a:t>
            </a:r>
          </a:p>
          <a:p>
            <a:pPr rtl="0" lvl="0">
              <a:buNone/>
            </a:pPr>
            <a:r>
              <a:rPr sz="1800" lang="en"/>
              <a:t>%% Stat Comparision</a:t>
            </a:r>
          </a:p>
          <a:p>
            <a:pPr rtl="0" lvl="0">
              <a:buNone/>
            </a:pPr>
            <a:r>
              <a:rPr sz="1800" lang="en"/>
              <a:t>%% Inter-class feature comparison</a:t>
            </a:r>
          </a:p>
          <a:p>
            <a:pPr rtl="0" lvl="0">
              <a:buNone/>
            </a:pPr>
            <a:r>
              <a:rPr sz="1800" lang="en"/>
              <a:t>%% Intra-class comparison</a:t>
            </a:r>
          </a:p>
          <a:p>
            <a:pPr rtl="0" lvl="0">
              <a:buNone/>
            </a:pPr>
            <a:r>
              <a:rPr sz="1800" lang="en"/>
              <a:t>%% Inter-class seperation comparison</a:t>
            </a:r>
          </a:p>
          <a:p>
            <a:pPr rtl="0" lvl="0">
              <a:buNone/>
            </a:pPr>
            <a:r>
              <a:rPr sz="1800" lang="en"/>
              <a:t>%% Classification Comparison</a:t>
            </a:r>
          </a:p>
          <a:p>
            <a:pPr rtl="0" lvl="0">
              <a:buNone/>
            </a:pPr>
            <a:r>
              <a:rPr sz="1800" lang="en"/>
              <a:t>    %% Train / Verficiation Data Seperation</a:t>
            </a:r>
          </a:p>
          <a:p>
            <a:pPr rtl="0" lvl="0">
              <a:buNone/>
            </a:pPr>
            <a:r>
              <a:rPr sz="1800" lang="en"/>
              <a:t>%% Avg Intersection Feature</a:t>
            </a:r>
          </a:p>
          <a:p>
            <a:pPr rtl="0" lvl="0">
              <a:buNone/>
            </a:pPr>
            <a:r>
              <a:rPr sz="1800" lang="en"/>
              <a:t>%% Feature Creation</a:t>
            </a:r>
          </a:p>
          <a:p>
            <a:pPr rtl="0" lvl="0">
              <a:buNone/>
            </a:pPr>
            <a:r>
              <a:rPr sz="1800" lang="en"/>
              <a:t>%% Dimension Reduction</a:t>
            </a:r>
          </a:p>
          <a:p>
            <a:pPr rtl="0" lvl="0">
              <a:buNone/>
            </a:pPr>
            <a:r>
              <a:rPr sz="1800" lang="en"/>
              <a:t>%% Train SVM</a:t>
            </a:r>
          </a:p>
          <a:p>
            <a:pPr>
              <a:buNone/>
            </a:pPr>
            <a:r>
              <a:rPr sz="1800" lang="en"/>
              <a:t>%% Test SVM</a:t>
            </a:r>
          </a:p>
        </p:txBody>
      </p:sp>
      <p:sp>
        <p:nvSpPr>
          <p:cNvPr id="256" name="Shape 256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Project Progress Update - Week 2</a:t>
            </a:r>
          </a:p>
        </p:txBody>
      </p:sp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1" name="Shape 261"/>
          <p:cNvSpPr txBox="1"/>
          <p:nvPr>
            <p:ph idx="1" type="body"/>
          </p:nvPr>
        </p:nvSpPr>
        <p:spPr>
          <a:xfrm>
            <a:off y="1579562" x="854948"/>
            <a:ext cy="4988100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  <p:sp>
        <p:nvSpPr>
          <p:cNvPr id="262" name="Shape 262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66" name="Shape 26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7" name="Shape 267"/>
          <p:cNvSpPr txBox="1"/>
          <p:nvPr>
            <p:ph idx="1" type="body"/>
          </p:nvPr>
        </p:nvSpPr>
        <p:spPr>
          <a:xfrm>
            <a:off y="1579562" x="854948"/>
            <a:ext cy="4988100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  <p:sp>
        <p:nvSpPr>
          <p:cNvPr id="268" name="Shape 268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72" name="Shape 27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73" name="Shape 273"/>
          <p:cNvSpPr txBox="1"/>
          <p:nvPr>
            <p:ph idx="1" type="body"/>
          </p:nvPr>
        </p:nvSpPr>
        <p:spPr>
          <a:xfrm>
            <a:off y="1579562" x="854948"/>
            <a:ext cy="4988100" cx="7831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  <p:sp>
        <p:nvSpPr>
          <p:cNvPr id="274" name="Shape 274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Custom 129">
      <a:dk1>
        <a:srgbClr val="000000"/>
      </a:dk1>
      <a:lt1>
        <a:srgbClr val="FFFFFF"/>
      </a:lt1>
      <a:dk2>
        <a:srgbClr val="5956A7"/>
      </a:dk2>
      <a:lt2>
        <a:srgbClr val="FED47D"/>
      </a:lt2>
      <a:accent1>
        <a:srgbClr val="FF7500"/>
      </a:accent1>
      <a:accent2>
        <a:srgbClr val="8B87FF"/>
      </a:accent2>
      <a:accent3>
        <a:srgbClr val="BF8AC9"/>
      </a:accent3>
      <a:accent4>
        <a:srgbClr val="A14141"/>
      </a:accent4>
      <a:accent5>
        <a:srgbClr val="E06163"/>
      </a:accent5>
      <a:accent6>
        <a:srgbClr val="BB8107"/>
      </a:accent6>
      <a:hlink>
        <a:srgbClr val="FF7500"/>
      </a:hlink>
      <a:folHlink>
        <a:srgbClr val="A7A7A7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