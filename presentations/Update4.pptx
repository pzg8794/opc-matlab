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14.xml" Type="http://schemas.openxmlformats.org/officeDocument/2006/relationships/slide" Id="rId19"/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slides/slide16.xml" Type="http://schemas.openxmlformats.org/officeDocument/2006/relationships/slide" Id="rId21"/><Relationship Target="presProps.xml" Type="http://schemas.openxmlformats.org/officeDocument/2006/relationships/presProps" Id="rId2"/><Relationship Target="slides/slide7.xml" Type="http://schemas.openxmlformats.org/officeDocument/2006/relationships/slide" Id="rId12"/><Relationship Target="slides/slide17.xml" Type="http://schemas.openxmlformats.org/officeDocument/2006/relationships/slide" Id="rId22"/><Relationship Target="theme/theme2.xml" Type="http://schemas.openxmlformats.org/officeDocument/2006/relationships/theme" Id="rId1"/><Relationship Target="slides/slide8.xml" Type="http://schemas.openxmlformats.org/officeDocument/2006/relationships/slide" Id="rId13"/><Relationship Target="slides/slide18.xml" Type="http://schemas.openxmlformats.org/officeDocument/2006/relationships/slide" Id="rId23"/><Relationship Target="slideMasters/slideMaster1.xml" Type="http://schemas.openxmlformats.org/officeDocument/2006/relationships/slideMaster" Id="rId4"/><Relationship Target="slides/slide5.xml" Type="http://schemas.openxmlformats.org/officeDocument/2006/relationships/slide" Id="rId10"/><Relationship Target="tableStyles.xml" Type="http://schemas.openxmlformats.org/officeDocument/2006/relationships/tableStyles" Id="rId3"/><Relationship Target="slides/slide6.xml" Type="http://schemas.openxmlformats.org/officeDocument/2006/relationships/slide" Id="rId11"/><Relationship Target="slides/slide15.xml" Type="http://schemas.openxmlformats.org/officeDocument/2006/relationships/slide" Id="rId20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3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1" name="Shape 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Shape 4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6" name="Shape 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7" name="Shape 4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3" name="Shape 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4" name="Shape 5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55" name="Shape 5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1" name="Shape 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2" name="Shape 6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1" name="Shape 7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2" name="Shape 7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4" name="Shape 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2" name="Shape 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3" name="Shape 9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4" name="Shape 9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9" name="Shape 9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0" name="Shape 10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8" name="Shape 11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9" name="Shape 11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1" name="Shape 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2" name="Shape 13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0" name="Shape 1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1" name="Shape 14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8" name="Shape 14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9" name="Shape 14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0" name="Shape 15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6" name="Shape 15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7" name="Shape 15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5" name="Shape 1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6" name="Shape 16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67" name="Shape 16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5" name="Shape 1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6" name="Shape 17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77" name="Shape 17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0" name="Shape 18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1" name="Shape 18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82" name="Shape 18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5" name="Shape 18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6" name="Shape 18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87" name="Shape 18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8" name="Shape 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" name="Shape 9"/>
          <p:cNvSpPr/>
          <p:nvPr/>
        </p:nvSpPr>
        <p:spPr>
          <a:xfrm>
            <a:off y="0" x="4724400"/>
            <a:ext cy="6854063" cx="3012140"/>
          </a:xfrm>
          <a:custGeom>
            <a:pathLst>
              <a:path w="3012141" extrusionOk="0" h="6854064">
                <a:moveTo>
                  <a:pt y="0" x="2623817"/>
                </a:moveTo>
                <a:lnTo>
                  <a:pt y="608783" x="2791741"/>
                </a:lnTo>
                <a:lnTo>
                  <a:pt y="1301537" x="1826176"/>
                </a:lnTo>
                <a:lnTo>
                  <a:pt y="2466623" x="2130539"/>
                </a:lnTo>
                <a:lnTo>
                  <a:pt y="3190866" x="1175470"/>
                </a:lnTo>
                <a:lnTo>
                  <a:pt y="4355952" x="1469337"/>
                </a:lnTo>
                <a:lnTo>
                  <a:pt y="5080194" x="493277"/>
                </a:lnTo>
                <a:lnTo>
                  <a:pt y="6255776" x="808135"/>
                </a:lnTo>
                <a:lnTo>
                  <a:pt y="6854064" x="0"/>
                </a:lnTo>
                <a:lnTo>
                  <a:pt y="6854064" x="388325"/>
                </a:lnTo>
                <a:lnTo>
                  <a:pt y="6308258" x="1007545"/>
                </a:lnTo>
                <a:lnTo>
                  <a:pt y="5122179" x="713678"/>
                </a:lnTo>
                <a:lnTo>
                  <a:pt y="4408433" x="1679242"/>
                </a:lnTo>
                <a:lnTo>
                  <a:pt y="3232851" x="1364384"/>
                </a:lnTo>
                <a:lnTo>
                  <a:pt y="2498112" x="2361435"/>
                </a:lnTo>
                <a:lnTo>
                  <a:pt y="1343522" x="2015091"/>
                </a:lnTo>
                <a:lnTo>
                  <a:pt y="608783" x="3012141"/>
                </a:lnTo>
                <a:lnTo>
                  <a:pt y="0" x="2833722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10" name="Shape 10"/>
          <p:cNvGrpSpPr/>
          <p:nvPr/>
        </p:nvGrpSpPr>
        <p:grpSpPr>
          <a:xfrm>
            <a:off y="0" x="4571999"/>
            <a:ext cy="6857999" cx="4546600"/>
            <a:chOff y="0" x="1447"/>
            <a:chExt cy="4319" cx="2863"/>
          </a:xfrm>
        </p:grpSpPr>
        <p:sp>
          <p:nvSpPr>
            <p:cNvPr id="11" name="Shape 11"/>
            <p:cNvSpPr/>
            <p:nvPr/>
          </p:nvSpPr>
          <p:spPr>
            <a:xfrm>
              <a:off y="0" x="1447"/>
              <a:ext cy="4319" cx="1885"/>
            </a:xfrm>
            <a:custGeom>
              <a:pathLst>
                <a:path w="1886" extrusionOk="0" h="4320">
                  <a:moveTo>
                    <a:pt y="0" x="1719"/>
                  </a:moveTo>
                  <a:lnTo>
                    <a:pt y="357" x="1813"/>
                  </a:lnTo>
                  <a:lnTo>
                    <a:pt y="805" x="1194"/>
                  </a:lnTo>
                  <a:lnTo>
                    <a:pt y="1544" x="1393"/>
                  </a:lnTo>
                  <a:lnTo>
                    <a:pt y="1991" x="777"/>
                  </a:lnTo>
                  <a:lnTo>
                    <a:pt y="2734" x="972"/>
                  </a:lnTo>
                  <a:lnTo>
                    <a:pt y="3178" x="355"/>
                  </a:lnTo>
                  <a:lnTo>
                    <a:pt y="3921" x="554"/>
                  </a:lnTo>
                  <a:lnTo>
                    <a:pt y="4320" x="0"/>
                  </a:lnTo>
                  <a:lnTo>
                    <a:pt y="4320" x="109"/>
                  </a:lnTo>
                  <a:lnTo>
                    <a:pt y="3948" x="623"/>
                  </a:lnTo>
                  <a:lnTo>
                    <a:pt y="3205" x="430"/>
                  </a:lnTo>
                  <a:lnTo>
                    <a:pt y="2761" x="1045"/>
                  </a:lnTo>
                  <a:lnTo>
                    <a:pt y="2018" x="850"/>
                  </a:lnTo>
                  <a:lnTo>
                    <a:pt y="1572" x="1468"/>
                  </a:lnTo>
                  <a:lnTo>
                    <a:pt y="830" x="1271"/>
                  </a:lnTo>
                  <a:lnTo>
                    <a:pt y="386" x="1886"/>
                  </a:lnTo>
                  <a:lnTo>
                    <a:pt y="0" x="1788"/>
                  </a:lnTo>
                  <a:lnTo>
                    <a:pt y="0" x="1719"/>
                  </a:lnTo>
                  <a:close/>
                </a:path>
              </a:pathLst>
            </a:custGeom>
            <a:solidFill>
              <a:srgbClr val="A64129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2" name="Shape 12"/>
            <p:cNvSpPr/>
            <p:nvPr/>
          </p:nvSpPr>
          <p:spPr>
            <a:xfrm>
              <a:off y="0" x="1559"/>
              <a:ext cy="4319" cx="1978"/>
            </a:xfrm>
            <a:custGeom>
              <a:pathLst>
                <a:path w="1979" extrusionOk="0" h="4320">
                  <a:moveTo>
                    <a:pt y="0" x="1673"/>
                  </a:moveTo>
                  <a:lnTo>
                    <a:pt y="382" x="1777"/>
                  </a:lnTo>
                  <a:lnTo>
                    <a:pt y="830" x="1160"/>
                  </a:lnTo>
                  <a:lnTo>
                    <a:pt y="1570" x="1357"/>
                  </a:lnTo>
                  <a:lnTo>
                    <a:pt y="2016" x="743"/>
                  </a:lnTo>
                  <a:lnTo>
                    <a:pt y="2759" x="936"/>
                  </a:lnTo>
                  <a:lnTo>
                    <a:pt y="3204" x="319"/>
                  </a:lnTo>
                  <a:lnTo>
                    <a:pt y="3947" x="517"/>
                  </a:lnTo>
                  <a:lnTo>
                    <a:pt y="4320" x="0"/>
                  </a:lnTo>
                  <a:lnTo>
                    <a:pt y="4320" x="304"/>
                  </a:lnTo>
                  <a:lnTo>
                    <a:pt y="4025" x="717"/>
                  </a:lnTo>
                  <a:lnTo>
                    <a:pt y="3280" x="521"/>
                  </a:lnTo>
                  <a:lnTo>
                    <a:pt y="2836" x="1136"/>
                  </a:lnTo>
                  <a:lnTo>
                    <a:pt y="2093" x="941"/>
                  </a:lnTo>
                  <a:lnTo>
                    <a:pt y="1648" x="1559"/>
                  </a:lnTo>
                  <a:lnTo>
                    <a:pt y="905" x="1362"/>
                  </a:lnTo>
                  <a:lnTo>
                    <a:pt y="461" x="1979"/>
                  </a:lnTo>
                  <a:lnTo>
                    <a:pt y="0" x="1859"/>
                  </a:lnTo>
                  <a:lnTo>
                    <a:pt y="0" x="1673"/>
                  </a:lnTo>
                  <a:close/>
                </a:path>
              </a:pathLst>
            </a:custGeom>
            <a:solidFill>
              <a:srgbClr val="384452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3" name="Shape 13"/>
            <p:cNvSpPr/>
            <p:nvPr/>
          </p:nvSpPr>
          <p:spPr>
            <a:xfrm>
              <a:off y="0" x="2090"/>
              <a:ext cy="4319" cx="1805"/>
            </a:xfrm>
            <a:custGeom>
              <a:pathLst>
                <a:path w="1806" extrusionOk="0" h="4320">
                  <a:moveTo>
                    <a:pt y="0" x="1462"/>
                  </a:moveTo>
                  <a:lnTo>
                    <a:pt y="510" x="1604"/>
                  </a:lnTo>
                  <a:lnTo>
                    <a:pt y="958" x="987"/>
                  </a:lnTo>
                  <a:lnTo>
                    <a:pt y="1696" x="1183"/>
                  </a:lnTo>
                  <a:lnTo>
                    <a:pt y="2142" x="570"/>
                  </a:lnTo>
                  <a:lnTo>
                    <a:pt y="2885" x="764"/>
                  </a:lnTo>
                  <a:lnTo>
                    <a:pt y="3329" x="147"/>
                  </a:lnTo>
                  <a:lnTo>
                    <a:pt y="4072" x="344"/>
                  </a:lnTo>
                  <a:lnTo>
                    <a:pt y="4320" x="0"/>
                  </a:lnTo>
                  <a:lnTo>
                    <a:pt y="4320" x="304"/>
                  </a:lnTo>
                  <a:lnTo>
                    <a:pt y="4151" x="544"/>
                  </a:lnTo>
                  <a:lnTo>
                    <a:pt y="3406" x="349"/>
                  </a:lnTo>
                  <a:lnTo>
                    <a:pt y="2961" x="965"/>
                  </a:lnTo>
                  <a:lnTo>
                    <a:pt y="2220" x="768"/>
                  </a:lnTo>
                  <a:lnTo>
                    <a:pt y="1776" x="1385"/>
                  </a:lnTo>
                  <a:lnTo>
                    <a:pt y="1031" x="1189"/>
                  </a:lnTo>
                  <a:lnTo>
                    <a:pt y="586" x="1806"/>
                  </a:lnTo>
                  <a:lnTo>
                    <a:pt y="0" x="1647"/>
                  </a:lnTo>
                  <a:lnTo>
                    <a:pt y="0" x="1462"/>
                  </a:lnTo>
                  <a:close/>
                </a:path>
              </a:pathLst>
            </a:custGeom>
            <a:solidFill>
              <a:srgbClr val="F68C1F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  <p:sp>
          <p:nvSpPr>
            <p:cNvPr id="14" name="Shape 14"/>
            <p:cNvSpPr/>
            <p:nvPr/>
          </p:nvSpPr>
          <p:spPr>
            <a:xfrm>
              <a:off y="0" x="2463"/>
              <a:ext cy="4319" cx="1847"/>
            </a:xfrm>
            <a:custGeom>
              <a:pathLst>
                <a:path w="1848" extrusionOk="0" h="4320">
                  <a:moveTo>
                    <a:pt y="0" x="1311"/>
                  </a:moveTo>
                  <a:lnTo>
                    <a:pt y="606" x="1475"/>
                  </a:lnTo>
                  <a:lnTo>
                    <a:pt y="1055" x="856"/>
                  </a:lnTo>
                  <a:lnTo>
                    <a:pt y="1794" x="1054"/>
                  </a:lnTo>
                  <a:lnTo>
                    <a:pt y="2240" x="439"/>
                  </a:lnTo>
                  <a:lnTo>
                    <a:pt y="2981" x="634"/>
                  </a:lnTo>
                  <a:lnTo>
                    <a:pt y="3428" x="16"/>
                  </a:lnTo>
                  <a:lnTo>
                    <a:pt y="4169" x="215"/>
                  </a:lnTo>
                  <a:lnTo>
                    <a:pt y="4320" x="0"/>
                  </a:lnTo>
                  <a:lnTo>
                    <a:pt y="4320" x="570"/>
                  </a:lnTo>
                  <a:lnTo>
                    <a:pt y="4304" x="584"/>
                  </a:lnTo>
                  <a:lnTo>
                    <a:pt y="3570" x="391"/>
                  </a:lnTo>
                  <a:lnTo>
                    <a:pt y="3118" x="1005"/>
                  </a:lnTo>
                  <a:lnTo>
                    <a:pt y="2380" x="810"/>
                  </a:lnTo>
                  <a:lnTo>
                    <a:pt y="1936" x="1422"/>
                  </a:lnTo>
                  <a:lnTo>
                    <a:pt y="1193" x="1229"/>
                  </a:lnTo>
                  <a:lnTo>
                    <a:pt y="743" x="1848"/>
                  </a:lnTo>
                  <a:lnTo>
                    <a:pt y="0" x="1650"/>
                  </a:lnTo>
                  <a:lnTo>
                    <a:pt y="0" x="1311"/>
                  </a:lnTo>
                  <a:close/>
                </a:path>
              </a:pathLst>
            </a:custGeom>
            <a:solidFill>
              <a:srgbClr val="A4BDC0"/>
            </a:solidFill>
            <a:ln>
              <a:noFill/>
            </a:ln>
          </p:spPr>
          <p:txBody>
            <a:bodyPr bIns="45700" rIns="91425" lIns="91425" tIns="45700" anchor="t" anchorCtr="0">
              <a:noAutofit/>
            </a:bodyPr>
            <a:lstStyle/>
            <a:p/>
          </p:txBody>
        </p:sp>
      </p:grpSp>
      <p:sp>
        <p:nvSpPr>
          <p:cNvPr id="15" name="Shape 15"/>
          <p:cNvSpPr txBox="1"/>
          <p:nvPr>
            <p:ph type="ctrTitle"/>
          </p:nvPr>
        </p:nvSpPr>
        <p:spPr>
          <a:xfrm>
            <a:off y="995251" x="685800"/>
            <a:ext cy="1544700" cx="5258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y="2648555" x="685800"/>
            <a:ext cy="1030200" cx="5258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None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19" name="Shape 1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 sz="3600">
                <a:solidFill>
                  <a:schemeClr val="dk1"/>
                </a:solidFill>
              </a:defRPr>
            </a:lvl1pPr>
            <a:lvl2pPr rtl="0">
              <a:defRPr sz="3600">
                <a:solidFill>
                  <a:schemeClr val="dk1"/>
                </a:solidFill>
              </a:defRPr>
            </a:lvl2pPr>
            <a:lvl3pPr rtl="0">
              <a:defRPr sz="3600">
                <a:solidFill>
                  <a:schemeClr val="dk1"/>
                </a:solidFill>
              </a:defRPr>
            </a:lvl3pPr>
            <a:lvl4pPr rtl="0">
              <a:defRPr sz="3600">
                <a:solidFill>
                  <a:schemeClr val="dk1"/>
                </a:solidFill>
              </a:defRPr>
            </a:lvl4pPr>
            <a:lvl5pPr rtl="0">
              <a:defRPr sz="3600">
                <a:solidFill>
                  <a:schemeClr val="dk1"/>
                </a:solidFill>
              </a:defRPr>
            </a:lvl5pPr>
            <a:lvl6pPr rtl="0">
              <a:defRPr sz="3600">
                <a:solidFill>
                  <a:schemeClr val="dk1"/>
                </a:solidFill>
              </a:defRPr>
            </a:lvl6pPr>
            <a:lvl7pPr rtl="0">
              <a:defRPr sz="3600">
                <a:solidFill>
                  <a:schemeClr val="dk1"/>
                </a:solidFill>
              </a:defRPr>
            </a:lvl7pPr>
            <a:lvl8pPr rtl="0">
              <a:defRPr sz="3600">
                <a:solidFill>
                  <a:schemeClr val="dk1"/>
                </a:solidFill>
              </a:defRPr>
            </a:lvl8pPr>
            <a:lvl9pPr rtl="0"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21" name="Shape 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" name="Shape 22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rgbClr val="A5BDC0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23" name="Shape 2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 sz="3600">
                <a:solidFill>
                  <a:srgbClr val="A64128"/>
                </a:solidFill>
              </a:defRPr>
            </a:lvl1pPr>
            <a:lvl2pPr rtl="0">
              <a:defRPr sz="3600">
                <a:solidFill>
                  <a:srgbClr val="A64128"/>
                </a:solidFill>
              </a:defRPr>
            </a:lvl2pPr>
            <a:lvl3pPr rtl="0">
              <a:defRPr sz="3600">
                <a:solidFill>
                  <a:srgbClr val="A64128"/>
                </a:solidFill>
              </a:defRPr>
            </a:lvl3pPr>
            <a:lvl4pPr rtl="0">
              <a:defRPr sz="3600">
                <a:solidFill>
                  <a:srgbClr val="A64128"/>
                </a:solidFill>
              </a:defRPr>
            </a:lvl4pPr>
            <a:lvl5pPr rtl="0">
              <a:defRPr sz="3600">
                <a:solidFill>
                  <a:srgbClr val="A64128"/>
                </a:solidFill>
              </a:defRPr>
            </a:lvl5pPr>
            <a:lvl6pPr rtl="0">
              <a:defRPr sz="3600">
                <a:solidFill>
                  <a:srgbClr val="A64128"/>
                </a:solidFill>
              </a:defRPr>
            </a:lvl6pPr>
            <a:lvl7pPr rtl="0">
              <a:defRPr sz="3600">
                <a:solidFill>
                  <a:srgbClr val="A64128"/>
                </a:solidFill>
              </a:defRPr>
            </a:lvl7pPr>
            <a:lvl8pPr rtl="0">
              <a:defRPr sz="3600">
                <a:solidFill>
                  <a:srgbClr val="A64128"/>
                </a:solidFill>
              </a:defRPr>
            </a:lvl8pPr>
            <a:lvl9pPr rtl="0">
              <a:defRPr sz="3600">
                <a:solidFill>
                  <a:srgbClr val="A64128"/>
                </a:solidFill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" type="body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25" name="Shape 25"/>
          <p:cNvSpPr txBox="1"/>
          <p:nvPr>
            <p:ph idx="2" type="body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26" name="Shape 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" name="Shape 2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>
                <a:solidFill>
                  <a:schemeClr val="dk1"/>
                </a:solidFill>
              </a:defRPr>
            </a:lvl1pPr>
            <a:lvl2pPr rtl="0">
              <a:defRPr>
                <a:solidFill>
                  <a:schemeClr val="dk1"/>
                </a:solidFill>
              </a:defRPr>
            </a:lvl2pPr>
            <a:lvl3pPr rtl="0">
              <a:defRPr>
                <a:solidFill>
                  <a:schemeClr val="dk1"/>
                </a:solidFill>
              </a:defRPr>
            </a:lvl3pPr>
            <a:lvl4pPr rtl="0">
              <a:defRPr>
                <a:solidFill>
                  <a:schemeClr val="dk1"/>
                </a:solidFill>
              </a:defRPr>
            </a:lvl4pPr>
            <a:lvl5pPr rtl="0">
              <a:defRPr>
                <a:solidFill>
                  <a:schemeClr val="dk1"/>
                </a:solidFill>
              </a:defRPr>
            </a:lvl5pPr>
            <a:lvl6pPr rtl="0">
              <a:defRPr>
                <a:solidFill>
                  <a:schemeClr val="dk1"/>
                </a:solidFill>
              </a:defRPr>
            </a:lvl6pPr>
            <a:lvl7pPr rtl="0">
              <a:defRPr>
                <a:solidFill>
                  <a:schemeClr val="dk1"/>
                </a:solidFill>
              </a:defRPr>
            </a:lvl7pPr>
            <a:lvl8pPr rtl="0">
              <a:defRPr>
                <a:solidFill>
                  <a:schemeClr val="dk1"/>
                </a:solidFill>
              </a:defRPr>
            </a:lvl8pPr>
            <a:lvl9pPr rtl="0"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Shape 28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29" name="Shape 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" name="Shape 30"/>
          <p:cNvSpPr txBox="1"/>
          <p:nvPr>
            <p:ph idx="1" type="body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1pPr>
            <a:lvl2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2pPr>
            <a:lvl3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3pPr>
            <a:lvl4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4pPr>
            <a:lvl5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5pPr>
            <a:lvl6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6pPr>
            <a:lvl7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b="1" sz="1800">
                <a:solidFill>
                  <a:schemeClr val="dk1"/>
                </a:solidFill>
              </a:defRPr>
            </a:lvl7pPr>
            <a:lvl8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b="1" sz="1800">
                <a:solidFill>
                  <a:schemeClr val="dk1"/>
                </a:solidFill>
              </a:defRPr>
            </a:lvl8pPr>
            <a:lvl9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Shape 31"/>
          <p:cNvSpPr/>
          <p:nvPr/>
        </p:nvSpPr>
        <p:spPr>
          <a:xfrm rot="10800000">
            <a:off y="0" x="7938258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32" name="Shape 32"/>
          <p:cNvSpPr/>
          <p:nvPr/>
        </p:nvSpPr>
        <p:spPr>
          <a:xfrm rot="5400000">
            <a:off y="-1657077" x="1657077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33" name="Shape 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Shape 34"/>
          <p:cNvSpPr/>
          <p:nvPr/>
        </p:nvSpPr>
        <p:spPr>
          <a:xfrm rot="-5400000">
            <a:off y="3995181" x="628118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1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/>
          <p:nvPr/>
        </p:nvSpPr>
        <p:spPr>
          <a:xfrm>
            <a:off y="2338102" x="0"/>
            <a:ext cy="4519896" cx="1205741"/>
          </a:xfrm>
          <a:custGeom>
            <a:pathLst>
              <a:path w="1205742" extrusionOk="0" h="4519897">
                <a:moveTo>
                  <a:pt y="0" x="924"/>
                </a:moveTo>
                <a:cubicBezTo>
                  <a:pt y="1497993" x="6351"/>
                  <a:pt y="3021904" x="-3772"/>
                  <a:pt y="4519897" x="1655"/>
                </a:cubicBezTo>
                <a:lnTo>
                  <a:pt y="4518403" x="831272"/>
                </a:lnTo>
                <a:lnTo>
                  <a:pt y="3850819" x="1205742"/>
                </a:lnTo>
                <a:lnTo>
                  <a:pt y="3126246" x="359114"/>
                </a:lnTo>
                <a:lnTo>
                  <a:pt y="2173718" x="880116"/>
                </a:lnTo>
                <a:lnTo>
                  <a:pt y="1449145" x="49768"/>
                </a:lnTo>
                <a:lnTo>
                  <a:pt y="480334" x="562630"/>
                </a:lnTo>
                <a:lnTo>
                  <a:pt y="0" x="9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6" name="Shape 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-285750" marL="742950">
              <a:spcBef>
                <a:spcPts val="48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-228600" marL="1143000">
              <a:spcBef>
                <a:spcPts val="48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-228600" marL="1600200">
              <a:spcBef>
                <a:spcPts val="36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-228600" marL="2057400">
              <a:spcBef>
                <a:spcPts val="36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-228600" marL="2514600">
              <a:spcBef>
                <a:spcPts val="36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-228600" marL="2971800">
              <a:spcBef>
                <a:spcPts val="360"/>
              </a:spcBef>
              <a:buClr>
                <a:schemeClr val="dk2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-228600" marL="3429000">
              <a:spcBef>
                <a:spcPts val="360"/>
              </a:spcBef>
              <a:buClr>
                <a:schemeClr val="dk2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-228600" marL="3886200">
              <a:spcBef>
                <a:spcPts val="360"/>
              </a:spcBef>
              <a:buClr>
                <a:schemeClr val="dk2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7.png" Type="http://schemas.openxmlformats.org/officeDocument/2006/relationships/image" Id="rId3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5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9.png" Type="http://schemas.openxmlformats.org/officeDocument/2006/relationships/image" Id="rId3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2.png" Type="http://schemas.openxmlformats.org/officeDocument/2006/relationships/image" Id="rId3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1.png" Type="http://schemas.openxmlformats.org/officeDocument/2006/relationships/image" Id="rId4"/><Relationship Target="../media/image00.pn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6.png" Type="http://schemas.openxmlformats.org/officeDocument/2006/relationships/image" Id="rId4"/><Relationship Target="../media/image08.png" Type="http://schemas.openxmlformats.org/officeDocument/2006/relationships/image" Id="rId3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4.png" Type="http://schemas.openxmlformats.org/officeDocument/2006/relationships/image" Id="rId4"/><Relationship Target="../media/image17.png" Type="http://schemas.openxmlformats.org/officeDocument/2006/relationships/image" Id="rId3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5.png" Type="http://schemas.openxmlformats.org/officeDocument/2006/relationships/image" Id="rId4"/><Relationship Target="../media/image14.png" Type="http://schemas.openxmlformats.org/officeDocument/2006/relationships/image" Id="rId3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1.png" Type="http://schemas.openxmlformats.org/officeDocument/2006/relationships/image" Id="rId3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6.png" Type="http://schemas.openxmlformats.org/officeDocument/2006/relationships/image" Id="rId3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3.png" Type="http://schemas.openxmlformats.org/officeDocument/2006/relationships/image" Id="rId3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2.png" Type="http://schemas.openxmlformats.org/officeDocument/2006/relationships/image" Id="rId4"/><Relationship Target="../media/image10.png" Type="http://schemas.openxmlformats.org/officeDocument/2006/relationships/image" Id="rId3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35" name="Shape 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" name="Shape 36"/>
          <p:cNvSpPr txBox="1"/>
          <p:nvPr>
            <p:ph type="ctrTitle"/>
          </p:nvPr>
        </p:nvSpPr>
        <p:spPr>
          <a:xfrm>
            <a:off y="192144" x="358175"/>
            <a:ext cy="2462099" cx="62963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6000" lang="en">
                <a:latin typeface="Corsiva"/>
                <a:ea typeface="Corsiva"/>
                <a:cs typeface="Corsiva"/>
                <a:sym typeface="Corsiva"/>
              </a:rPr>
              <a:t>Scene Classification</a:t>
            </a:r>
          </a:p>
          <a:p>
            <a:pPr>
              <a:buNone/>
            </a:pPr>
            <a:r>
              <a:rPr u="sng" sz="6000" lang="en">
                <a:latin typeface="Corsiva"/>
                <a:ea typeface="Corsiva"/>
                <a:cs typeface="Corsiva"/>
                <a:sym typeface="Corsiva"/>
              </a:rPr>
              <a:t>Update 4</a:t>
            </a:r>
          </a:p>
        </p:txBody>
      </p:sp>
      <p:sp>
        <p:nvSpPr>
          <p:cNvPr id="37" name="Shape 37"/>
          <p:cNvSpPr txBox="1"/>
          <p:nvPr>
            <p:ph idx="1" type="subTitle"/>
          </p:nvPr>
        </p:nvSpPr>
        <p:spPr>
          <a:xfrm>
            <a:off y="3626130" x="1742046"/>
            <a:ext cy="1030200" cx="52587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Karina Damico    </a:t>
            </a:r>
          </a:p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Pauline Martial</a:t>
            </a:r>
          </a:p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Piter  Garcia</a:t>
            </a:r>
          </a:p>
        </p:txBody>
      </p:sp>
      <p:sp>
        <p:nvSpPr>
          <p:cNvPr id="38" name="Shape 38"/>
          <p:cNvSpPr/>
          <p:nvPr/>
        </p:nvSpPr>
        <p:spPr>
          <a:xfrm>
            <a:off y="3858400" x="14183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39" name="Shape 39"/>
          <p:cNvSpPr/>
          <p:nvPr/>
        </p:nvSpPr>
        <p:spPr>
          <a:xfrm>
            <a:off y="4315600" x="1397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40" name="Shape 40"/>
          <p:cNvSpPr/>
          <p:nvPr/>
        </p:nvSpPr>
        <p:spPr>
          <a:xfrm>
            <a:off y="4772800" x="14367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44" name="Shape 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5" name="Shape 45"/>
          <p:cNvSpPr txBox="1"/>
          <p:nvPr>
            <p:ph idx="1" type="body"/>
          </p:nvPr>
        </p:nvSpPr>
        <p:spPr>
          <a:xfrm>
            <a:off y="2361112" x="7767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Karina and Pauline: </a:t>
            </a:r>
          </a:p>
          <a:p>
            <a:pPr algn="ctr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Gabor GIST + CENTRIST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49" name="Shape 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sp>
        <p:nvSpPr>
          <p:cNvPr id="51" name="Shape 51"/>
          <p:cNvSpPr txBox="1"/>
          <p:nvPr/>
        </p:nvSpPr>
        <p:spPr>
          <a:xfrm>
            <a:off y="1565225" x="1114250"/>
            <a:ext cy="2365800" cx="52092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200000"/>
              </a:lnSpc>
              <a:buNone/>
            </a:pPr>
            <a:r>
              <a:rPr sz="2400" lang="en"/>
              <a:t>Visualize information of: </a:t>
            </a:r>
          </a:p>
          <a:p>
            <a:pPr rtl="0" lvl="0" indent="-317500" marL="457200">
              <a:lnSpc>
                <a:spcPct val="150000"/>
              </a:lnSpc>
              <a:buClr>
                <a:srgbClr val="000000"/>
              </a:buClr>
              <a:buSzPct val="97222"/>
              <a:buFont typeface="Arial"/>
              <a:buChar char="•"/>
            </a:pPr>
            <a:r>
              <a:rPr sz="2400" lang="en"/>
              <a:t>GIST feature vectors</a:t>
            </a:r>
          </a:p>
          <a:p>
            <a:pPr lvl="0" indent="-317500" marL="457200">
              <a:lnSpc>
                <a:spcPct val="150000"/>
              </a:lnSpc>
              <a:buClr>
                <a:srgbClr val="000000"/>
              </a:buClr>
              <a:buSzPct val="97222"/>
              <a:buFont typeface="Arial"/>
              <a:buChar char="•"/>
            </a:pPr>
            <a:r>
              <a:rPr sz="2400" lang="en"/>
              <a:t>CT feature vectors </a:t>
            </a:r>
          </a:p>
        </p:txBody>
      </p:sp>
      <p:cxnSp>
        <p:nvCxnSpPr>
          <p:cNvPr id="52" name="Shape 52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56" name="Shape 5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7" name="Shape 57"/>
          <p:cNvSpPr txBox="1"/>
          <p:nvPr>
            <p:ph type="title"/>
          </p:nvPr>
        </p:nvSpPr>
        <p:spPr>
          <a:xfrm>
            <a:off y="274637" x="6096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sp>
        <p:nvSpPr>
          <p:cNvPr id="58" name="Shape 58"/>
          <p:cNvSpPr/>
          <p:nvPr/>
        </p:nvSpPr>
        <p:spPr>
          <a:xfrm>
            <a:off y="2214471" x="693578"/>
            <a:ext cy="2624027" cx="806164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59" name="Shape 59"/>
          <p:cNvSpPr txBox="1"/>
          <p:nvPr/>
        </p:nvSpPr>
        <p:spPr>
          <a:xfrm>
            <a:off y="5314450" x="3532200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800" lang="en"/>
              <a:t>Very different scales!</a:t>
            </a:r>
          </a:p>
        </p:txBody>
      </p:sp>
      <p:cxnSp>
        <p:nvCxnSpPr>
          <p:cNvPr id="60" name="Shape 60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64" name="Shape 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5" name="Shape 65"/>
          <p:cNvSpPr txBox="1"/>
          <p:nvPr>
            <p:ph type="title"/>
          </p:nvPr>
        </p:nvSpPr>
        <p:spPr>
          <a:xfrm>
            <a:off y="274637" x="65793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sp>
        <p:nvSpPr>
          <p:cNvPr id="66" name="Shape 66"/>
          <p:cNvSpPr/>
          <p:nvPr/>
        </p:nvSpPr>
        <p:spPr>
          <a:xfrm>
            <a:off y="4293212" x="1103975"/>
            <a:ext cy="2445837" cx="733751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67" name="Shape 67"/>
          <p:cNvSpPr txBox="1"/>
          <p:nvPr/>
        </p:nvSpPr>
        <p:spPr>
          <a:xfrm>
            <a:off y="1814650" x="1103975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68" name="Shape 68"/>
          <p:cNvSpPr txBox="1"/>
          <p:nvPr/>
        </p:nvSpPr>
        <p:spPr>
          <a:xfrm>
            <a:off y="1632575" x="1327100"/>
            <a:ext cy="2105099" cx="7056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15000"/>
              </a:lnSpc>
              <a:buNone/>
            </a:pPr>
            <a:r>
              <a:rPr sz="1800" lang="en"/>
              <a:t>How to scale? </a:t>
            </a:r>
          </a:p>
          <a:p>
            <a:pPr rtl="0" lvl="0" indent="457200">
              <a:lnSpc>
                <a:spcPct val="200000"/>
              </a:lnSpc>
              <a:buNone/>
            </a:pPr>
            <a:r>
              <a:rPr sz="1800" lang="en"/>
              <a:t>Stretch Gabor GIST through CENTRIST scale </a:t>
            </a:r>
          </a:p>
          <a:p>
            <a:pPr rtl="0" lvl="0">
              <a:lnSpc>
                <a:spcPct val="115000"/>
              </a:lnSpc>
              <a:buNone/>
            </a:pPr>
            <a:r>
              <a:rPr sz="1800" lang="en"/>
              <a:t>NN classifier rescales =&gt; 	absolute scale irrelevant</a:t>
            </a:r>
          </a:p>
          <a:p>
            <a:pPr rtl="0" lvl="0">
              <a:lnSpc>
                <a:spcPct val="200000"/>
              </a:lnSpc>
              <a:buNone/>
            </a:pPr>
            <a:r>
              <a:rPr sz="1800" lang="en"/>
              <a:t>						relative scale important</a:t>
            </a:r>
          </a:p>
          <a:p>
            <a:pPr rtl="0" lvl="0" indent="-317500" marL="457200">
              <a:lnSpc>
                <a:spcPct val="115000"/>
              </a:lnSpc>
              <a:buClr>
                <a:srgbClr val="000000"/>
              </a:buClr>
              <a:buSzPct val="77777"/>
              <a:buFont typeface="Arial"/>
              <a:buAutoNum type="arabicPeriod"/>
            </a:pPr>
            <a:r>
              <a:rPr sz="1800" lang="en"/>
              <a:t>Find max and min of Centrist values: [a, b]</a:t>
            </a:r>
          </a:p>
          <a:p>
            <a:pPr rtl="0" lvl="0" indent="-317500" marL="457200">
              <a:lnSpc>
                <a:spcPct val="150000"/>
              </a:lnSpc>
              <a:buClr>
                <a:srgbClr val="000000"/>
              </a:buClr>
              <a:buSzPct val="77777"/>
              <a:buFont typeface="Arial"/>
              <a:buAutoNum type="arabicPeriod"/>
            </a:pPr>
            <a:r>
              <a:rPr sz="1800" lang="en"/>
              <a:t>Scale Gabor into CENTRIST [a, b] range: A = (b-a)*Gabor + a</a:t>
            </a:r>
          </a:p>
          <a:p>
            <a:r>
              <a:t/>
            </a:r>
          </a:p>
          <a:p>
            <a:r>
              <a:t/>
            </a:r>
          </a:p>
        </p:txBody>
      </p:sp>
      <p:cxnSp>
        <p:nvCxnSpPr>
          <p:cNvPr id="69" name="Shape 69"/>
          <p:cNvCxnSpPr/>
          <p:nvPr/>
        </p:nvCxnSpPr>
        <p:spPr>
          <a:xfrm>
            <a:off y="1570037" x="6096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70" name="Shape 70"/>
          <p:cNvCxnSpPr/>
          <p:nvPr/>
        </p:nvCxnSpPr>
        <p:spPr>
          <a:xfrm flipH="1">
            <a:off y="1696525" x="1236725"/>
            <a:ext cy="2328900" cx="1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74" name="Shape 7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5" name="Shape 75"/>
          <p:cNvSpPr/>
          <p:nvPr/>
        </p:nvSpPr>
        <p:spPr>
          <a:xfrm>
            <a:off y="2780450" x="697447"/>
            <a:ext cy="2680009" cx="566760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76" name="Shape 7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sp>
        <p:nvSpPr>
          <p:cNvPr id="77" name="Shape 77"/>
          <p:cNvSpPr/>
          <p:nvPr/>
        </p:nvSpPr>
        <p:spPr>
          <a:xfrm>
            <a:off y="3198500" x="4562725"/>
            <a:ext cy="920099" cx="873600"/>
          </a:xfrm>
          <a:prstGeom prst="ellipse">
            <a:avLst/>
          </a:prstGeom>
          <a:noFill/>
          <a:ln w="76200" cap="flat">
            <a:solidFill>
              <a:srgbClr val="FF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78" name="Shape 78"/>
          <p:cNvSpPr/>
          <p:nvPr/>
        </p:nvSpPr>
        <p:spPr>
          <a:xfrm>
            <a:off y="3328575" x="1579743"/>
            <a:ext cy="920099" cx="371699"/>
          </a:xfrm>
          <a:prstGeom prst="ellipse">
            <a:avLst/>
          </a:prstGeom>
          <a:noFill/>
          <a:ln w="76200" cap="flat">
            <a:solidFill>
              <a:srgbClr val="FF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79" name="Shape 79"/>
          <p:cNvSpPr/>
          <p:nvPr/>
        </p:nvSpPr>
        <p:spPr>
          <a:xfrm>
            <a:off y="3328575" x="1040768"/>
            <a:ext cy="920099" cx="371699"/>
          </a:xfrm>
          <a:prstGeom prst="ellipse">
            <a:avLst/>
          </a:prstGeom>
          <a:noFill/>
          <a:ln w="76200" cap="flat">
            <a:solidFill>
              <a:srgbClr val="FF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0" name="Shape 80"/>
          <p:cNvSpPr/>
          <p:nvPr/>
        </p:nvSpPr>
        <p:spPr>
          <a:xfrm>
            <a:off y="3198500" x="2174468"/>
            <a:ext cy="920099" cx="371699"/>
          </a:xfrm>
          <a:prstGeom prst="ellipse">
            <a:avLst/>
          </a:prstGeom>
          <a:noFill/>
          <a:ln w="76200" cap="flat">
            <a:solidFill>
              <a:srgbClr val="FF000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1" name="Shape 81"/>
          <p:cNvSpPr txBox="1"/>
          <p:nvPr/>
        </p:nvSpPr>
        <p:spPr>
          <a:xfrm>
            <a:off y="3481025" x="6627517"/>
            <a:ext cy="1833599" cx="23843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b="1" sz="1800" lang="en">
                <a:solidFill>
                  <a:srgbClr val="FFFF00"/>
                </a:solidFill>
              </a:rPr>
              <a:t>coast</a:t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b="1" sz="1800" lang="en">
                <a:solidFill>
                  <a:srgbClr val="00FF00"/>
                </a:solidFill>
              </a:rPr>
              <a:t>forest</a:t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b="1" sz="1800" lang="en"/>
              <a:t>highway</a:t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b="1" sz="1800" lang="en">
                <a:solidFill>
                  <a:srgbClr val="0000FF"/>
                </a:solidFill>
              </a:rPr>
              <a:t>mountain</a:t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b="1" sz="1800" lang="en">
                <a:solidFill>
                  <a:srgbClr val="FF0000"/>
                </a:solidFill>
              </a:rPr>
              <a:t>tall building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y="1911987" x="1412468"/>
            <a:ext cy="457200" cx="3657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GIST feature vector:</a:t>
            </a:r>
          </a:p>
        </p:txBody>
      </p:sp>
      <p:cxnSp>
        <p:nvCxnSpPr>
          <p:cNvPr id="83" name="Shape 83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87" name="Shape 8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8" name="Shape 8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sp>
        <p:nvSpPr>
          <p:cNvPr id="89" name="Shape 89"/>
          <p:cNvSpPr/>
          <p:nvPr/>
        </p:nvSpPr>
        <p:spPr>
          <a:xfrm>
            <a:off y="1608883" x="983175"/>
            <a:ext cy="5121817" cx="683043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cxnSp>
        <p:nvCxnSpPr>
          <p:cNvPr id="90" name="Shape 90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91" name="Shape 91"/>
          <p:cNvSpPr txBox="1"/>
          <p:nvPr/>
        </p:nvSpPr>
        <p:spPr>
          <a:xfrm>
            <a:off y="2038050" x="7341242"/>
            <a:ext cy="1833599" cx="1639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1800" lang="en">
                <a:solidFill>
                  <a:srgbClr val="FFFF00"/>
                </a:solidFill>
              </a:rPr>
              <a:t>coast</a:t>
            </a:r>
          </a:p>
          <a:p>
            <a:pPr rtl="0" lvl="0">
              <a:buNone/>
            </a:pPr>
            <a:r>
              <a:rPr b="1" sz="1800" lang="en">
                <a:solidFill>
                  <a:srgbClr val="00FF00"/>
                </a:solidFill>
              </a:rPr>
              <a:t>forest</a:t>
            </a:r>
          </a:p>
          <a:p>
            <a:pPr rtl="0" lvl="0">
              <a:buNone/>
            </a:pPr>
            <a:r>
              <a:rPr b="1" sz="1800" lang="en"/>
              <a:t>highway</a:t>
            </a:r>
          </a:p>
          <a:p>
            <a:pPr rtl="0" lvl="0">
              <a:buNone/>
            </a:pPr>
            <a:r>
              <a:rPr b="1" sz="1800" lang="en">
                <a:solidFill>
                  <a:srgbClr val="0000FF"/>
                </a:solidFill>
              </a:rPr>
              <a:t>mountain</a:t>
            </a:r>
          </a:p>
          <a:p>
            <a:pPr rtl="0" lvl="0">
              <a:buNone/>
            </a:pPr>
            <a:r>
              <a:rPr b="1" sz="1800" lang="en">
                <a:solidFill>
                  <a:srgbClr val="FF0000"/>
                </a:solidFill>
              </a:rPr>
              <a:t>tall building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95" name="Shape 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6" name="Shape 9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sp>
        <p:nvSpPr>
          <p:cNvPr id="97" name="Shape 97"/>
          <p:cNvSpPr/>
          <p:nvPr/>
        </p:nvSpPr>
        <p:spPr>
          <a:xfrm>
            <a:off y="1574175" x="1016625"/>
            <a:ext cy="5075051" cx="676507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cxnSp>
        <p:nvCxnSpPr>
          <p:cNvPr id="98" name="Shape 98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02" name="Shape 10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3" name="Shape 103"/>
          <p:cNvSpPr/>
          <p:nvPr/>
        </p:nvSpPr>
        <p:spPr>
          <a:xfrm>
            <a:off y="1784200" x="985025"/>
            <a:ext cy="3233999" cx="63005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FFFFF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04" name="Shape 10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05" name="Shape 105"/>
          <p:cNvSpPr/>
          <p:nvPr/>
        </p:nvSpPr>
        <p:spPr>
          <a:xfrm>
            <a:off y="1841800" x="1098375"/>
            <a:ext cy="1276602" cx="550914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06" name="Shape 106"/>
          <p:cNvSpPr txBox="1"/>
          <p:nvPr/>
        </p:nvSpPr>
        <p:spPr>
          <a:xfrm>
            <a:off y="5154050" x="645051"/>
            <a:ext cy="457200" cx="83802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400" lang="en"/>
              <a:t>Constraints between neighbors =&gt; homogeneity introduced  </a:t>
            </a:r>
          </a:p>
        </p:txBody>
      </p:sp>
      <p:sp>
        <p:nvSpPr>
          <p:cNvPr id="107" name="Shape 107"/>
          <p:cNvSpPr/>
          <p:nvPr/>
        </p:nvSpPr>
        <p:spPr>
          <a:xfrm>
            <a:off y="3499401" x="1098375"/>
            <a:ext cy="1326641" cx="49927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cxnSp>
        <p:nvCxnSpPr>
          <p:cNvPr id="108" name="Shape 108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12" name="Shape 1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3" name="Shape 11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cxnSp>
        <p:nvCxnSpPr>
          <p:cNvPr id="114" name="Shape 114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15" name="Shape 115"/>
          <p:cNvSpPr txBox="1"/>
          <p:nvPr/>
        </p:nvSpPr>
        <p:spPr>
          <a:xfrm>
            <a:off y="1693250" x="619025"/>
            <a:ext cy="457200" cx="69347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Pure CENTRIST results through the network:</a:t>
            </a:r>
          </a:p>
        </p:txBody>
      </p:sp>
      <p:sp>
        <p:nvSpPr>
          <p:cNvPr id="116" name="Shape 116"/>
          <p:cNvSpPr/>
          <p:nvPr/>
        </p:nvSpPr>
        <p:spPr>
          <a:xfrm>
            <a:off y="2150450" x="335825"/>
            <a:ext cy="4399037" cx="415800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7" name="Shape 117"/>
          <p:cNvSpPr/>
          <p:nvPr/>
        </p:nvSpPr>
        <p:spPr>
          <a:xfrm>
            <a:off y="2167737" x="4780855"/>
            <a:ext cy="4364462" cx="424176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21" name="Shape 1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Shape 122"/>
          <p:cNvSpPr/>
          <p:nvPr/>
        </p:nvSpPr>
        <p:spPr>
          <a:xfrm>
            <a:off y="1417637" x="0"/>
            <a:ext cy="4267200" cx="42291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3" name="Shape 12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vs Gabor descriptor</a:t>
            </a:r>
          </a:p>
        </p:txBody>
      </p:sp>
      <p:cxnSp>
        <p:nvCxnSpPr>
          <p:cNvPr id="124" name="Shape 124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25" name="Shape 125"/>
          <p:cNvSpPr/>
          <p:nvPr/>
        </p:nvSpPr>
        <p:spPr>
          <a:xfrm>
            <a:off y="2750269" x="5073788"/>
            <a:ext cy="4107730" cx="40702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26" name="Shape 126"/>
          <p:cNvSpPr/>
          <p:nvPr/>
        </p:nvSpPr>
        <p:spPr>
          <a:xfrm>
            <a:off y="1739800" x="5500594"/>
            <a:ext cy="869999" cx="321659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27" name="Shape 127"/>
          <p:cNvSpPr txBox="1"/>
          <p:nvPr/>
        </p:nvSpPr>
        <p:spPr>
          <a:xfrm>
            <a:off y="1946200" x="6483844"/>
            <a:ext cy="457200" cx="12501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Gabor GIST</a:t>
            </a:r>
          </a:p>
        </p:txBody>
      </p:sp>
      <p:sp>
        <p:nvSpPr>
          <p:cNvPr id="128" name="Shape 128"/>
          <p:cNvSpPr/>
          <p:nvPr/>
        </p:nvSpPr>
        <p:spPr>
          <a:xfrm rot="-10758316">
            <a:off y="5857258" x="623189"/>
            <a:ext cy="870063" cx="321653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29" name="Shape 129"/>
          <p:cNvSpPr txBox="1"/>
          <p:nvPr/>
        </p:nvSpPr>
        <p:spPr>
          <a:xfrm>
            <a:off y="6185075" x="1707557"/>
            <a:ext cy="457200" cx="12501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CENTRIST</a:t>
            </a:r>
          </a:p>
        </p:txBody>
      </p:sp>
      <p:sp>
        <p:nvSpPr>
          <p:cNvPr id="130" name="Shape 130"/>
          <p:cNvSpPr/>
          <p:nvPr/>
        </p:nvSpPr>
        <p:spPr>
          <a:xfrm>
            <a:off y="3277250" x="4345388"/>
            <a:ext cy="748500" cx="728399"/>
          </a:xfrm>
          <a:prstGeom prst="mathPlus">
            <a:avLst>
              <a:gd fmla="val 23520" name="adj1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34" name="Shape 1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5" name="Shape 135"/>
          <p:cNvSpPr txBox="1"/>
          <p:nvPr>
            <p:ph type="title"/>
          </p:nvPr>
        </p:nvSpPr>
        <p:spPr>
          <a:xfrm>
            <a:off y="274637" x="6096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cxnSp>
        <p:nvCxnSpPr>
          <p:cNvPr id="136" name="Shape 136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37" name="Shape 137"/>
          <p:cNvSpPr/>
          <p:nvPr/>
        </p:nvSpPr>
        <p:spPr>
          <a:xfrm>
            <a:off y="1865570" x="0"/>
            <a:ext cy="4585811" cx="443789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38" name="Shape 138"/>
          <p:cNvSpPr/>
          <p:nvPr/>
        </p:nvSpPr>
        <p:spPr>
          <a:xfrm>
            <a:off y="1874500" x="4640183"/>
            <a:ext cy="4567953" cx="450381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39" name="Shape 139"/>
          <p:cNvSpPr txBox="1"/>
          <p:nvPr/>
        </p:nvSpPr>
        <p:spPr>
          <a:xfrm>
            <a:off y="1417637" x="1873925"/>
            <a:ext cy="457200" cx="60245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600" lang="en"/>
              <a:t>736 inputs  =&gt;   200 hidden nodes   =&gt;  5 outputs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43" name="Shape 1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4" name="Shape 144"/>
          <p:cNvSpPr txBox="1"/>
          <p:nvPr>
            <p:ph type="title"/>
          </p:nvPr>
        </p:nvSpPr>
        <p:spPr>
          <a:xfrm>
            <a:off y="274637" x="6096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cxnSp>
        <p:nvCxnSpPr>
          <p:cNvPr id="145" name="Shape 145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46" name="Shape 146"/>
          <p:cNvSpPr/>
          <p:nvPr/>
        </p:nvSpPr>
        <p:spPr>
          <a:xfrm>
            <a:off y="1670275" x="719335"/>
            <a:ext cy="4709075" cx="471107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47" name="Shape 147"/>
          <p:cNvSpPr txBox="1"/>
          <p:nvPr/>
        </p:nvSpPr>
        <p:spPr>
          <a:xfrm>
            <a:off y="2087800" x="5869425"/>
            <a:ext cy="3127500" cx="2706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chemeClr val="dk1"/>
                </a:solidFill>
              </a:rPr>
              <a:t>91.3 % </a:t>
            </a:r>
            <a:r>
              <a:rPr lang="en"/>
              <a:t>accuracy on 150 testing images dataset..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I have a feeling that it can be boost to 93 or so just by playing with number of hidden neurons and retrain it more and more</a:t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Coast and highway got improved comparably with Gabor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51" name="Shape 15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cxnSp>
        <p:nvCxnSpPr>
          <p:cNvPr id="152" name="Shape 152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53" name="Shape 153"/>
          <p:cNvSpPr txBox="1"/>
          <p:nvPr>
            <p:ph type="title"/>
          </p:nvPr>
        </p:nvSpPr>
        <p:spPr>
          <a:xfrm>
            <a:off y="274637" x="6096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sp>
        <p:nvSpPr>
          <p:cNvPr id="154" name="Shape 154"/>
          <p:cNvSpPr/>
          <p:nvPr/>
        </p:nvSpPr>
        <p:spPr>
          <a:xfrm>
            <a:off y="1653150" x="609600"/>
            <a:ext cy="5069001" cx="481218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55" name="Shape 155"/>
          <p:cNvSpPr txBox="1"/>
          <p:nvPr/>
        </p:nvSpPr>
        <p:spPr>
          <a:xfrm>
            <a:off y="2462000" x="5636100"/>
            <a:ext cy="1994700" cx="3111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250 hidden nodes, worse training results, BUT turned to be better overall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59" name="Shape 15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0" name="Shape 160"/>
          <p:cNvSpPr txBox="1"/>
          <p:nvPr>
            <p:ph type="title"/>
          </p:nvPr>
        </p:nvSpPr>
        <p:spPr>
          <a:xfrm>
            <a:off y="274637" x="6096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sp>
        <p:nvSpPr>
          <p:cNvPr id="161" name="Shape 161"/>
          <p:cNvSpPr txBox="1"/>
          <p:nvPr>
            <p:ph idx="2" type="title"/>
          </p:nvPr>
        </p:nvSpPr>
        <p:spPr>
          <a:xfrm>
            <a:off y="274637" x="6096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Hybrid: Gabor GIST + CENTRIST</a:t>
            </a:r>
          </a:p>
        </p:txBody>
      </p:sp>
      <p:cxnSp>
        <p:nvCxnSpPr>
          <p:cNvPr id="162" name="Shape 162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63" name="Shape 163"/>
          <p:cNvSpPr/>
          <p:nvPr/>
        </p:nvSpPr>
        <p:spPr>
          <a:xfrm>
            <a:off y="1883275" x="716475"/>
            <a:ext cy="4574610" cx="445398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64" name="Shape 164"/>
          <p:cNvSpPr txBox="1"/>
          <p:nvPr/>
        </p:nvSpPr>
        <p:spPr>
          <a:xfrm>
            <a:off y="2087800" x="5869425"/>
            <a:ext cy="3127500" cx="2706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chemeClr val="dk1"/>
                </a:solidFill>
              </a:rPr>
              <a:t>93.3 %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/>
              <a:t>accuracy on 150 testing images dataset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Improved Mountain and Tall building, but misclassified one coast comparably with 200 nodes.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Now: </a:t>
            </a:r>
            <a:r>
              <a:rPr lang="en">
                <a:solidFill>
                  <a:srgbClr val="3D85C6"/>
                </a:solidFill>
              </a:rPr>
              <a:t>100% accuracy for Forest and Tall building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68" name="Shape 16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9" name="Shape 16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 (addition)</a:t>
            </a:r>
          </a:p>
        </p:txBody>
      </p:sp>
      <p:cxnSp>
        <p:nvCxnSpPr>
          <p:cNvPr id="170" name="Shape 170"/>
          <p:cNvCxnSpPr/>
          <p:nvPr/>
        </p:nvCxnSpPr>
        <p:spPr>
          <a:xfrm>
            <a:off y="1417637" x="457200"/>
            <a:ext cy="0" cx="7703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171" name="Shape 171"/>
          <p:cNvSpPr txBox="1"/>
          <p:nvPr/>
        </p:nvSpPr>
        <p:spPr>
          <a:xfrm>
            <a:off y="1558900" x="831375"/>
            <a:ext cy="4509600" cx="4937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u="sng" lang="en" i="1"/>
              <a:t>About whitening: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>
                <a:solidFill>
                  <a:srgbClr val="3D85C6"/>
                </a:solidFill>
              </a:rPr>
              <a:t>Purpose: </a:t>
            </a:r>
            <a:r>
              <a:rPr lang="en"/>
              <a:t>whitening is simply a process for removing </a:t>
            </a:r>
            <a:r>
              <a:rPr lang="en" i="1"/>
              <a:t>pairwise</a:t>
            </a:r>
            <a:r>
              <a:rPr lang="en"/>
              <a:t>, </a:t>
            </a:r>
            <a:r>
              <a:rPr lang="en" i="1"/>
              <a:t>linear </a:t>
            </a:r>
            <a:r>
              <a:rPr lang="en"/>
              <a:t>correlations  =&gt; remove noisy details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>
                <a:solidFill>
                  <a:srgbClr val="3D85C6"/>
                </a:solidFill>
              </a:rPr>
              <a:t>How:</a:t>
            </a:r>
            <a:r>
              <a:rPr lang="en"/>
              <a:t>  through designing a filter in the frequency domain that will flatten the spectrum of a natural image (on average)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 - design the amplitude spectrum of the filter so that it rises linearly with frequency, to compensate for the 1/</a:t>
            </a:r>
            <a:r>
              <a:rPr lang="en" i="1"/>
              <a:t>f</a:t>
            </a:r>
            <a:r>
              <a:rPr lang="en"/>
              <a:t> amplitude spectrum of natural images [define a grid of frequency coordinate]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 - convolution in the space domain  = multiplication in the frequency domain,  =&gt; multiply the spectrum of the image with the spectrum of the filter and take the inverse fft2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Just check this if interested:</a:t>
            </a:r>
          </a:p>
          <a:p>
            <a:pPr rtl="0" lvl="0">
              <a:buNone/>
            </a:pPr>
            <a:r>
              <a:rPr lang="en">
                <a:solidFill>
                  <a:schemeClr val="dk1"/>
                </a:solidFill>
              </a:rPr>
              <a:t>http://redwood.berkeley.edu/bruno/npb261b/lab2/lab2.html</a:t>
            </a:r>
          </a:p>
          <a:p>
            <a:r>
              <a:t/>
            </a:r>
          </a:p>
        </p:txBody>
      </p:sp>
      <p:sp>
        <p:nvSpPr>
          <p:cNvPr id="172" name="Shape 172"/>
          <p:cNvSpPr/>
          <p:nvPr/>
        </p:nvSpPr>
        <p:spPr>
          <a:xfrm>
            <a:off y="1658200" x="6348025"/>
            <a:ext cy="1801150" cx="181257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73" name="Shape 173"/>
          <p:cNvSpPr/>
          <p:nvPr/>
        </p:nvSpPr>
        <p:spPr>
          <a:xfrm>
            <a:off y="4081029" x="6303200"/>
            <a:ext cy="1987470" cx="190223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74" name="Shape 174"/>
          <p:cNvSpPr/>
          <p:nvPr/>
        </p:nvSpPr>
        <p:spPr>
          <a:xfrm>
            <a:off y="3641425" x="6797300"/>
            <a:ext cy="364199" cx="117329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w="19050" cap="flat">
            <a:solidFill>
              <a:schemeClr val="dk1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78" name="Shape 1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9" name="Shape 179"/>
          <p:cNvSpPr txBox="1"/>
          <p:nvPr>
            <p:ph idx="1" type="body"/>
          </p:nvPr>
        </p:nvSpPr>
        <p:spPr>
          <a:xfrm>
            <a:off y="2361112" x="7767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Piter: 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 descriptor</a:t>
            </a:r>
            <a:r>
              <a:rPr sz="4800" lang="en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3F3F3"/>
        </a:solidFill>
      </p:bgPr>
    </p:bg>
    <p:spTree>
      <p:nvGrpSpPr>
        <p:cNvPr id="183" name="Shape 18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4" name="Shape 18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Custom 424">
      <a:dk1>
        <a:srgbClr val="B0271C"/>
      </a:dk1>
      <a:lt1>
        <a:srgbClr val="FFE8BB"/>
      </a:lt1>
      <a:dk2>
        <a:srgbClr val="374252"/>
      </a:dk2>
      <a:lt2>
        <a:srgbClr val="A5BDC0"/>
      </a:lt2>
      <a:accent1>
        <a:srgbClr val="C0974D"/>
      </a:accent1>
      <a:accent2>
        <a:srgbClr val="E49C5F"/>
      </a:accent2>
      <a:accent3>
        <a:srgbClr val="5D7372"/>
      </a:accent3>
      <a:accent4>
        <a:srgbClr val="B92C00"/>
      </a:accent4>
      <a:accent5>
        <a:srgbClr val="804000"/>
      </a:accent5>
      <a:accent6>
        <a:srgbClr val="A49D80"/>
      </a:accent6>
      <a:hlink>
        <a:srgbClr val="B0271C"/>
      </a:hlink>
      <a:folHlink>
        <a:srgbClr val="5B5F6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