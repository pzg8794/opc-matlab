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png" ContentType="image/png"/>
  <Default Extension="xml" ContentType="application/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6.xml" ContentType="application/vnd.openxmlformats-officedocument.presentationml.slide+xml"/>
  <Override PartName="/ppt/slides/slide21.xml" ContentType="application/vnd.openxmlformats-officedocument.presentationml.slide+xml"/>
  <Override PartName="/ppt/slides/slide2.xml" ContentType="application/vnd.openxmlformats-officedocument.presentationml.slide+xml"/>
  <Override PartName="/ppt/slides/slide26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25.xml" ContentType="application/vnd.openxmlformats-officedocument.presentationml.slide+xml"/>
  <Override PartName="/ppt/slides/slide17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18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tableStyles.xml" ContentType="application/vnd.openxmlformats-officedocument.presentationml.tableStyles+xml"/>
</Types>
</file>

<file path=_rels/.rels><?xml version="1.0" encoding="UTF-8" standalone="yes"?><Relationships xmlns="http://schemas.openxmlformats.org/package/2006/relationships"><Relationship Target="ppt/presentation.xml" Type="http://schemas.openxmlformats.org/officeDocument/2006/relationships/officeDocument" Id="rId1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aveSubsetFonts="1" autoCompressPictures="0" mc:PreserveAttributes="mv:*" mc:Ignorable="mv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6858000" cx="9144000"/>
  <p:notesSz cy="9144000" cx="6858000"/>
  <p:defaultTextStyle>
    <a:defPPr algn="l" rtl="0" marR="0">
      <a:lnSpc>
        <a:spcPct val="100000"/>
      </a:lnSpc>
      <a:spcBef>
        <a:spcPts val="0"/>
      </a:spcBef>
      <a:spcAft>
        <a:spcPts val="0"/>
      </a:spcAft>
    </a:defPPr>
    <a:lvl1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tableStyles.xml><?xml version="1.0" encoding="utf-8"?>
<a:tblStyleLst xmlns:a="http://schemas.openxmlformats.org/drawingml/2006/main" xmlns:r="http://schemas.openxmlformats.org/officeDocument/2006/relationships" def="{90651C3A-4460-11DB-9652-00E08161165F}"/>
</file>

<file path=ppt/_rels/presentation.xml.rels><?xml version="1.0" encoding="UTF-8" standalone="yes"?><Relationships xmlns="http://schemas.openxmlformats.org/package/2006/relationships"><Relationship Target="slides/slide14.xml" Type="http://schemas.openxmlformats.org/officeDocument/2006/relationships/slide" Id="rId19"/><Relationship Target="slides/slide13.xml" Type="http://schemas.openxmlformats.org/officeDocument/2006/relationships/slide" Id="rId18"/><Relationship Target="slides/slide12.xml" Type="http://schemas.openxmlformats.org/officeDocument/2006/relationships/slide" Id="rId17"/><Relationship Target="slides/slide11.xml" Type="http://schemas.openxmlformats.org/officeDocument/2006/relationships/slide" Id="rId16"/><Relationship Target="slides/slide10.xml" Type="http://schemas.openxmlformats.org/officeDocument/2006/relationships/slide" Id="rId15"/><Relationship Target="slides/slide9.xml" Type="http://schemas.openxmlformats.org/officeDocument/2006/relationships/slide" Id="rId14"/><Relationship Target="slides/slide25.xml" Type="http://schemas.openxmlformats.org/officeDocument/2006/relationships/slide" Id="rId30"/><Relationship Target="slides/slide7.xml" Type="http://schemas.openxmlformats.org/officeDocument/2006/relationships/slide" Id="rId12"/><Relationship Target="slides/slide26.xml" Type="http://schemas.openxmlformats.org/officeDocument/2006/relationships/slide" Id="rId31"/><Relationship Target="slides/slide8.xml" Type="http://schemas.openxmlformats.org/officeDocument/2006/relationships/slide" Id="rId13"/><Relationship Target="slides/slide5.xml" Type="http://schemas.openxmlformats.org/officeDocument/2006/relationships/slide" Id="rId10"/><Relationship Target="slides/slide6.xml" Type="http://schemas.openxmlformats.org/officeDocument/2006/relationships/slide" Id="rId11"/><Relationship Target="slides/slide24.xml" Type="http://schemas.openxmlformats.org/officeDocument/2006/relationships/slide" Id="rId29"/><Relationship Target="slides/slide21.xml" Type="http://schemas.openxmlformats.org/officeDocument/2006/relationships/slide" Id="rId26"/><Relationship Target="slides/slide20.xml" Type="http://schemas.openxmlformats.org/officeDocument/2006/relationships/slide" Id="rId25"/><Relationship Target="slides/slide23.xml" Type="http://schemas.openxmlformats.org/officeDocument/2006/relationships/slide" Id="rId28"/><Relationship Target="slides/slide22.xml" Type="http://schemas.openxmlformats.org/officeDocument/2006/relationships/slide" Id="rId27"/><Relationship Target="presProps.xml" Type="http://schemas.openxmlformats.org/officeDocument/2006/relationships/presProps" Id="rId2"/><Relationship Target="slides/slide16.xml" Type="http://schemas.openxmlformats.org/officeDocument/2006/relationships/slide" Id="rId21"/><Relationship Target="theme/theme1.xml" Type="http://schemas.openxmlformats.org/officeDocument/2006/relationships/theme" Id="rId1"/><Relationship Target="slides/slide17.xml" Type="http://schemas.openxmlformats.org/officeDocument/2006/relationships/slide" Id="rId22"/><Relationship Target="slideMasters/slideMaster1.xml" Type="http://schemas.openxmlformats.org/officeDocument/2006/relationships/slideMaster" Id="rId4"/><Relationship Target="slides/slide18.xml" Type="http://schemas.openxmlformats.org/officeDocument/2006/relationships/slide" Id="rId23"/><Relationship Target="tableStyles.xml" Type="http://schemas.openxmlformats.org/officeDocument/2006/relationships/tableStyles" Id="rId3"/><Relationship Target="slides/slide19.xml" Type="http://schemas.openxmlformats.org/officeDocument/2006/relationships/slide" Id="rId24"/><Relationship Target="slides/slide15.xml" Type="http://schemas.openxmlformats.org/officeDocument/2006/relationships/slide" Id="rId20"/><Relationship Target="slides/slide4.xml" Type="http://schemas.openxmlformats.org/officeDocument/2006/relationships/slide" Id="rId9"/><Relationship Target="slides/slide1.xml" Type="http://schemas.openxmlformats.org/officeDocument/2006/relationships/slide" Id="rId6"/><Relationship Target="notesMasters/notesMaster1.xml" Type="http://schemas.openxmlformats.org/officeDocument/2006/relationships/notesMaster" Id="rId5"/><Relationship Target="slides/slide3.xml" Type="http://schemas.openxmlformats.org/officeDocument/2006/relationships/slide" Id="rId8"/><Relationship Target="slides/slide2.xml" Type="http://schemas.openxmlformats.org/officeDocument/2006/relationships/slide" Id="rId7"/></Relationships>
</file>

<file path=ppt/notesMasters/_rels/notesMaster1.xml.rels><?xml version="1.0" encoding="UTF-8" standalone="yes"?><Relationships xmlns="http://schemas.openxmlformats.org/package/2006/relationships"><Relationship Target="../theme/theme3.xml" Type="http://schemas.openxmlformats.org/officeDocument/2006/relationships/theme" Id="rId1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" name="Shape 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Shape 2"/>
          <p:cNvSpPr/>
          <p:nvPr>
            <p:ph idx="2" type="sldImg"/>
          </p:nvPr>
        </p:nvSpPr>
        <p:spPr>
          <a:xfrm>
            <a:off y="685800" x="1143225"/>
            <a:ext cy="3429000" cx="4572225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3" name="Shape 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/>
          <a:lstStyle>
            <a:lvl1pPr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/>
        </p:txBody>
      </p:sp>
    </p:spTree>
  </p:cSld>
  <p:clrMap accent2="accent2" accent3="accent3" accent4="accent4" accent5="accent5" accent6="accent6" hlink="hlink" tx2="lt2" tx1="dk1" bg2="dk2" bg1="lt1" folHlink="folHlink" accent1="accent1"/>
</p:notesMaster>
</file>

<file path=ppt/notesSlides/_rels/notesSlide1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4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5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6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7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8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9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0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1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2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3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4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5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6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7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8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9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0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1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2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3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4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5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6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5" name="Shape 2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6" name="Shape 26"/>
          <p:cNvSpPr/>
          <p:nvPr>
            <p:ph idx="2" type="sldImg"/>
          </p:nvPr>
        </p:nvSpPr>
        <p:spPr>
          <a:xfrm>
            <a:off y="685800" x="1143225"/>
            <a:ext cy="3429000" cx="4572225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7" name="Shape 27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38" name="Shape 3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9" name="Shape 39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40" name="Shape 40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50" name="Shape 5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1" name="Shape 51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52" name="Shape 52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60" name="Shape 6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61" name="Shape 61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62" name="Shape 62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70" name="Shape 7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71" name="Shape 71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72" name="Shape 72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82" name="Shape 8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3" name="Shape 83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84" name="Shape 84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91" name="Shape 9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2" name="Shape 92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93" name="Shape 9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98" name="Shape 9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9" name="Shape 99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00" name="Shape 100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09" name="Shape 10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10" name="Shape 110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11" name="Shape 111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21" name="Shape 12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22" name="Shape 122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23" name="Shape 12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44" name="Shape 14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45" name="Shape 145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46" name="Shape 146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52" name="Shape 15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53" name="Shape 153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54" name="Shape 154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59" name="Shape 15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60" name="Shape 160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61" name="Shape 161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68" name="Shape 16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69" name="Shape 169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70" name="Shape 170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76" name="Shape 17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77" name="Shape 177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78" name="Shape 178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91" name="Shape 19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92" name="Shape 192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93" name="Shape 19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00" name="Shape 20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01" name="Shape 201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02" name="Shape 202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18" name="Shape 21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19" name="Shape 219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20" name="Shape 220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27" name="Shape 22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28" name="Shape 228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29" name="Shape 229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38" name="Shape 23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39" name="Shape 239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40" name="Shape 240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52" name="Shape 25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53" name="Shape 253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54" name="Shape 254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63" name="Shape 26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64" name="Shape 264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65" name="Shape 265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76" name="Shape 27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77" name="Shape 277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78" name="Shape 278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89" name="Shape 28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90" name="Shape 290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91" name="Shape 291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303" name="Shape 30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04" name="Shape 304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305" name="Shape 305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313" name="Shape 31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14" name="Shape 314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315" name="Shape 315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2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3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4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5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6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itle" type="title">
  <p:cSld name="title">
    <p:spTree>
      <p:nvGrpSpPr>
        <p:cNvPr id="7" name="Shape 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" name="Shape 8"/>
          <p:cNvSpPr txBox="1"/>
          <p:nvPr>
            <p:ph idx="1" type="subTitle"/>
          </p:nvPr>
        </p:nvSpPr>
        <p:spPr>
          <a:xfrm>
            <a:off y="3786737" x="685800"/>
            <a:ext cy="1046400" cx="77724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ctr" rtl="0" indent="1905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trike="noStrike" u="none" b="0" cap="none" baseline="0" sz="300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rtl="0" indent="1905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trike="noStrike" u="none" b="0" cap="none" baseline="0" sz="300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rtl="0" indent="1905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trike="noStrike" u="none" b="0" cap="none" baseline="0" sz="300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rtl="0" indent="1905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trike="noStrike" u="none" b="0" cap="none" baseline="0" sz="300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rtl="0" indent="1905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trike="noStrike" u="none" b="0" cap="none" baseline="0" sz="300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rtl="0" indent="1905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trike="noStrike" u="none" b="0" cap="none" baseline="0" sz="300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rtl="0" indent="1905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trike="noStrike" u="none" b="0" cap="none" baseline="0" sz="300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rtl="0" indent="1905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trike="noStrike" u="none" b="0" cap="none" baseline="0" sz="300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rtl="0" indent="1905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trike="noStrike" u="none" b="0" cap="none" baseline="0" sz="300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9"/>
          <p:cNvSpPr txBox="1"/>
          <p:nvPr>
            <p:ph type="ctrTitle"/>
          </p:nvPr>
        </p:nvSpPr>
        <p:spPr>
          <a:xfrm>
            <a:off y="2111123" x="685800"/>
            <a:ext cy="1546500" cx="77724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algn="ctr" rtl="0" indent="304800" mar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trike="noStrike" u="none" b="1" cap="none" baseline="0" sz="48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rtl="0" indent="304800" mar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trike="noStrike" u="none" b="1" cap="none" baseline="0" sz="48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rtl="0" indent="304800" mar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trike="noStrike" u="none" b="1" cap="none" baseline="0" sz="48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rtl="0" indent="304800" mar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trike="noStrike" u="none" b="1" cap="none" baseline="0" sz="48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rtl="0" indent="304800" mar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trike="noStrike" u="none" b="1" cap="none" baseline="0" sz="48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rtl="0" indent="304800" mar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trike="noStrike" u="none" b="1" cap="none" baseline="0" sz="48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rtl="0" indent="304800" mar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trike="noStrike" u="none" b="1" cap="none" baseline="0" sz="48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rtl="0" indent="304800" mar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trike="noStrike" u="none" b="1" cap="none" baseline="0" sz="48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rtl="0" indent="304800" mar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trike="noStrike" u="none" b="1" cap="none" baseline="0" sz="48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x" type="tx">
  <p:cSld name="tx">
    <p:spTree>
      <p:nvGrpSpPr>
        <p:cNvPr id="10" name="Shape 1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1" name="Shape 11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Shape 12"/>
          <p:cNvSpPr txBox="1"/>
          <p:nvPr>
            <p:ph idx="1" type="body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woColTx" type="twoColTx">
  <p:cSld name="twoColTx">
    <p:spTree>
      <p:nvGrpSpPr>
        <p:cNvPr id="13" name="Shape 1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4" name="Shape 14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Shape 15"/>
          <p:cNvSpPr txBox="1"/>
          <p:nvPr>
            <p:ph idx="1" type="body"/>
          </p:nvPr>
        </p:nvSpPr>
        <p:spPr>
          <a:xfrm>
            <a:off y="1600200" x="457200"/>
            <a:ext cy="4967700" cx="39945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/>
        </p:txBody>
      </p:sp>
      <p:sp>
        <p:nvSpPr>
          <p:cNvPr id="16" name="Shape 16"/>
          <p:cNvSpPr txBox="1"/>
          <p:nvPr>
            <p:ph idx="2" type="body"/>
          </p:nvPr>
        </p:nvSpPr>
        <p:spPr>
          <a:xfrm>
            <a:off y="1600200" x="4692273"/>
            <a:ext cy="4967700" cx="39945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itleOnly" type="titleOnly">
  <p:cSld name="titleOnly">
    <p:spTree>
      <p:nvGrpSpPr>
        <p:cNvPr id="17" name="Shape 1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8" name="Shape 18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CAPTION_ONLY">
  <p:cSld name="CAPTION_ONLY">
    <p:spTree>
      <p:nvGrpSpPr>
        <p:cNvPr id="19" name="Shape 1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0" name="Shape 20"/>
          <p:cNvSpPr txBox="1"/>
          <p:nvPr>
            <p:ph idx="1" type="body"/>
          </p:nvPr>
        </p:nvSpPr>
        <p:spPr>
          <a:xfrm>
            <a:off y="5875078" x="457200"/>
            <a:ext cy="6927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Char char="•"/>
              <a:defRPr sz="1800">
                <a:solidFill>
                  <a:schemeClr val="dk1"/>
                </a:solidFill>
              </a:defRPr>
            </a:lvl1pPr>
            <a:lvl2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  <a:defRPr sz="1800">
                <a:solidFill>
                  <a:schemeClr val="dk1"/>
                </a:solidFill>
              </a:defRPr>
            </a:lvl2pPr>
            <a:lvl3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/>
              <a:buChar char="§"/>
              <a:defRPr sz="1800">
                <a:solidFill>
                  <a:schemeClr val="dk1"/>
                </a:solidFill>
              </a:defRPr>
            </a:lvl3pPr>
            <a:lvl4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Char char="•"/>
              <a:defRPr sz="1800">
                <a:solidFill>
                  <a:schemeClr val="dk1"/>
                </a:solidFill>
              </a:defRPr>
            </a:lvl4pPr>
            <a:lvl5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  <a:defRPr sz="1800">
                <a:solidFill>
                  <a:schemeClr val="dk1"/>
                </a:solidFill>
              </a:defRPr>
            </a:lvl5pPr>
            <a:lvl6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/>
              <a:buChar char="§"/>
              <a:defRPr sz="1800">
                <a:solidFill>
                  <a:schemeClr val="dk1"/>
                </a:solidFill>
              </a:defRPr>
            </a:lvl6pPr>
            <a:lvl7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Char char="•"/>
              <a:defRPr sz="1800">
                <a:solidFill>
                  <a:schemeClr val="dk1"/>
                </a:solidFill>
              </a:defRPr>
            </a:lvl7pPr>
            <a:lvl8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  <a:defRPr sz="1800">
                <a:solidFill>
                  <a:schemeClr val="dk1"/>
                </a:solidFill>
              </a:defRPr>
            </a:lvl8pPr>
            <a:lvl9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/>
              <a:buChar char="§"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blank" type="blank">
  <p:cSld name="blank">
    <p:spTree>
      <p:nvGrpSpPr>
        <p:cNvPr id="21" name="Shape 21"/>
        <p:cNvGrpSpPr/>
        <p:nvPr/>
      </p:nvGrpSpPr>
      <p:grpSpPr>
        <a:xfrm>
          <a:off y="0" x="0"/>
          <a:ext cy="0" cx="0"/>
          <a:chOff y="0" x="0"/>
          <a:chExt cy="0" cx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Target="../slideLayouts/slideLayout2.xml" Type="http://schemas.openxmlformats.org/officeDocument/2006/relationships/slideLayout" Id="rId2"/><Relationship Target="../slideLayouts/slideLayout1.xml" Type="http://schemas.openxmlformats.org/officeDocument/2006/relationships/slideLayout" Id="rId1"/><Relationship Target="../slideLayouts/slideLayout4.xml" Type="http://schemas.openxmlformats.org/officeDocument/2006/relationships/slideLayout" Id="rId4"/><Relationship Target="../slideLayouts/slideLayout3.xml" Type="http://schemas.openxmlformats.org/officeDocument/2006/relationships/slideLayout" Id="rId3"/><Relationship Target="../slideLayouts/slideLayout6.xml" Type="http://schemas.openxmlformats.org/officeDocument/2006/relationships/slideLayout" Id="rId6"/><Relationship Target="../slideLayouts/slideLayout5.xml" Type="http://schemas.openxmlformats.org/officeDocument/2006/relationships/slideLayout" Id="rId5"/><Relationship Target="../theme/theme2.xml" Type="http://schemas.openxmlformats.org/officeDocument/2006/relationships/theme" Id="rId7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gradFill>
          <a:gsLst>
            <a:gs pos="0">
              <a:schemeClr val="lt1"/>
            </a:gs>
            <a:gs pos="30000">
              <a:schemeClr val="lt1"/>
            </a:gs>
            <a:gs pos="100000">
              <a:schemeClr val="lt2"/>
            </a:gs>
          </a:gsLst>
          <a:path path="circle">
            <a:fillToRect t="50%" b="50%" r="50%" l="50%"/>
          </a:path>
          <a:tileRect/>
        </a:gradFill>
      </p:bgPr>
    </p:bg>
    <p:spTree>
      <p:nvGrpSpPr>
        <p:cNvPr id="4" name="Shape 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" name="Shape 5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algn="l" rtl="0" indent="228600" mar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trike="noStrike" u="none" b="1" cap="none" baseline="0" sz="36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 indent="228600" mar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trike="noStrike" u="none" b="1" cap="none" baseline="0" sz="36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 indent="228600" mar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trike="noStrike" u="none" b="1" cap="none" baseline="0" sz="36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 indent="228600" mar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trike="noStrike" u="none" b="1" cap="none" baseline="0" sz="36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 indent="228600" mar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trike="noStrike" u="none" b="1" cap="none" baseline="0" sz="36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 indent="228600" mar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trike="noStrike" u="none" b="1" cap="none" baseline="0" sz="36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 indent="228600" mar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trike="noStrike" u="none" b="1" cap="none" baseline="0" sz="36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 indent="228600" mar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trike="noStrike" u="none" b="1" cap="none" baseline="0" sz="36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 indent="228600" mar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trike="noStrike" u="none" b="1" cap="none" baseline="0" sz="36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Shape 6"/>
          <p:cNvSpPr txBox="1"/>
          <p:nvPr>
            <p:ph idx="1" type="body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l" rtl="0" indent="-342900" marL="342900">
              <a:spcBef>
                <a:spcPts val="600"/>
              </a:spcBef>
              <a:buClr>
                <a:srgbClr val="000000"/>
              </a:buClr>
              <a:buSzPct val="166666"/>
              <a:buFont typeface="Arial"/>
              <a:buChar char="•"/>
              <a:defRPr strike="noStrike" u="none" b="0" cap="none" baseline="0" sz="3000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 indent="-285750" marL="742950">
              <a:spcBef>
                <a:spcPts val="480"/>
              </a:spcBef>
              <a:buClr>
                <a:srgbClr val="000000"/>
              </a:buClr>
              <a:buSzPct val="100000"/>
              <a:buFont typeface="Courier New"/>
              <a:buChar char="o"/>
              <a:defRPr strike="noStrike" u="none" b="0" cap="none" baseline="0" sz="2400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 indent="-228600" marL="1143000">
              <a:spcBef>
                <a:spcPts val="480"/>
              </a:spcBef>
              <a:buClr>
                <a:srgbClr val="000000"/>
              </a:buClr>
              <a:buSzPct val="100000"/>
              <a:buFont typeface="Wingdings"/>
              <a:buChar char="§"/>
              <a:defRPr strike="noStrike" u="none" b="0" cap="none" baseline="0" sz="2400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 indent="-228600" marL="1600200">
              <a:spcBef>
                <a:spcPts val="360"/>
              </a:spcBef>
              <a:buClr>
                <a:srgbClr val="000000"/>
              </a:buClr>
              <a:buSzPct val="166666"/>
              <a:buFont typeface="Arial"/>
              <a:buChar char="•"/>
              <a:defRPr strike="noStrike" u="none" b="0" cap="none" baseline="0" sz="1800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 indent="-228600" marL="2057400">
              <a:spcBef>
                <a:spcPts val="360"/>
              </a:spcBef>
              <a:buClr>
                <a:srgbClr val="000000"/>
              </a:buClr>
              <a:buSzPct val="100000"/>
              <a:buFont typeface="Courier New"/>
              <a:buChar char="o"/>
              <a:defRPr strike="noStrike" u="none" b="0" cap="none" baseline="0" sz="1800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 indent="-228600" marL="2514600">
              <a:spcBef>
                <a:spcPts val="360"/>
              </a:spcBef>
              <a:buClr>
                <a:srgbClr val="000000"/>
              </a:buClr>
              <a:buSzPct val="100000"/>
              <a:buFont typeface="Wingdings"/>
              <a:buChar char="§"/>
              <a:defRPr strike="noStrike" u="none" b="0" cap="none" baseline="0" sz="1800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 indent="-228600" marL="2971800">
              <a:spcBef>
                <a:spcPts val="360"/>
              </a:spcBef>
              <a:buClr>
                <a:srgbClr val="000000"/>
              </a:buClr>
              <a:buSzPct val="166666"/>
              <a:buFont typeface="Arial"/>
              <a:buChar char="•"/>
              <a:defRPr strike="noStrike" u="none" b="0" cap="none" baseline="0" sz="1800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 indent="-228600" marL="3429000">
              <a:spcBef>
                <a:spcPts val="360"/>
              </a:spcBef>
              <a:buClr>
                <a:srgbClr val="000000"/>
              </a:buClr>
              <a:buSzPct val="100000"/>
              <a:buFont typeface="Courier New"/>
              <a:buChar char="o"/>
              <a:defRPr strike="noStrike" u="none" b="0" cap="none" baseline="0" sz="1800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 indent="-228600" marL="3886200">
              <a:spcBef>
                <a:spcPts val="360"/>
              </a:spcBef>
              <a:buClr>
                <a:srgbClr val="000000"/>
              </a:buClr>
              <a:buSzPct val="100000"/>
              <a:buFont typeface="Wingdings"/>
              <a:buChar char="§"/>
              <a:defRPr strike="noStrike" u="none" b="0" cap="none" baseline="0" sz="1800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2="accent2" accent3="accent3" accent4="accent4" accent5="accent5" accent6="accent6" hlink="hlink" tx2="lt2" tx1="dk1" bg2="dk2" bg1="lt1" folHlink="folHlink" accent1="accent1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txStyles>
    <p:title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Target="../notesSlides/notesSlide1.xml" Type="http://schemas.openxmlformats.org/officeDocument/2006/relationships/notesSlide" Id="rId2"/><Relationship Target="../slideLayouts/slideLayout1.xml" Type="http://schemas.openxmlformats.org/officeDocument/2006/relationships/slideLayout" Id="rId1"/></Relationships>
</file>

<file path=ppt/slides/_rels/slide2.xml.rels><?xml version="1.0" encoding="UTF-8" standalone="yes"?><Relationships xmlns="http://schemas.openxmlformats.org/package/2006/relationships"><Relationship Target="../notesSlides/notesSlide2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3.xml.rels><?xml version="1.0" encoding="UTF-8" standalone="yes"?><Relationships xmlns="http://schemas.openxmlformats.org/package/2006/relationships"><Relationship Target="../notesSlides/notesSlide3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5.png" Type="http://schemas.openxmlformats.org/officeDocument/2006/relationships/image" Id="rId3"/></Relationships>
</file>

<file path=ppt/slides/_rels/slide4.xml.rels><?xml version="1.0" encoding="UTF-8" standalone="yes"?><Relationships xmlns="http://schemas.openxmlformats.org/package/2006/relationships"><Relationship Target="../notesSlides/notesSlide4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6.png" Type="http://schemas.openxmlformats.org/officeDocument/2006/relationships/image" Id="rId4"/><Relationship Target="../media/image11.png" Type="http://schemas.openxmlformats.org/officeDocument/2006/relationships/image" Id="rId3"/><Relationship Target="../media/image09.png" Type="http://schemas.openxmlformats.org/officeDocument/2006/relationships/image" Id="rId5"/></Relationships>
</file>

<file path=ppt/slides/_rels/slide5.xml.rels><?xml version="1.0" encoding="UTF-8" standalone="yes"?><Relationships xmlns="http://schemas.openxmlformats.org/package/2006/relationships"><Relationship Target="../notesSlides/notesSlide5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1.png" Type="http://schemas.openxmlformats.org/officeDocument/2006/relationships/image" Id="rId4"/><Relationship Target="../media/image02.png" Type="http://schemas.openxmlformats.org/officeDocument/2006/relationships/image" Id="rId3"/><Relationship Target="../media/image10.png" Type="http://schemas.openxmlformats.org/officeDocument/2006/relationships/image" Id="rId5"/></Relationships>
</file>

<file path=ppt/slides/_rels/slide6.xml.rels><?xml version="1.0" encoding="UTF-8" standalone="yes"?><Relationships xmlns="http://schemas.openxmlformats.org/package/2006/relationships"><Relationship Target="../notesSlides/notesSlide6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0.png" Type="http://schemas.openxmlformats.org/officeDocument/2006/relationships/image" Id="rId4"/><Relationship Target="../media/image04.png" Type="http://schemas.openxmlformats.org/officeDocument/2006/relationships/image" Id="rId3"/><Relationship Target="../media/image17.png" Type="http://schemas.openxmlformats.org/officeDocument/2006/relationships/image" Id="rId6"/><Relationship Target="../media/image03.png" Type="http://schemas.openxmlformats.org/officeDocument/2006/relationships/image" Id="rId5"/></Relationships>
</file>

<file path=ppt/slides/_rels/slide7.xml.rels><?xml version="1.0" encoding="UTF-8" standalone="yes"?><Relationships xmlns="http://schemas.openxmlformats.org/package/2006/relationships"><Relationship Target="../notesSlides/notesSlide7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8.png" Type="http://schemas.openxmlformats.org/officeDocument/2006/relationships/image" Id="rId4"/><Relationship Target="../media/image07.png" Type="http://schemas.openxmlformats.org/officeDocument/2006/relationships/image" Id="rId3"/></Relationships>
</file>

<file path=ppt/slides/_rels/slide8.xml.rels><?xml version="1.0" encoding="UTF-8" standalone="yes"?><Relationships xmlns="http://schemas.openxmlformats.org/package/2006/relationships"><Relationship Target="../notesSlides/notesSlide8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14.png" Type="http://schemas.openxmlformats.org/officeDocument/2006/relationships/image" Id="rId3"/></Relationships>
</file>

<file path=ppt/slides/_rels/slide9.xml.rels><?xml version="1.0" encoding="UTF-8" standalone="yes"?><Relationships xmlns="http://schemas.openxmlformats.org/package/2006/relationships"><Relationship Target="../notesSlides/notesSlide9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16.png" Type="http://schemas.openxmlformats.org/officeDocument/2006/relationships/image" Id="rId4"/><Relationship Target="../media/image25.png" Type="http://schemas.openxmlformats.org/officeDocument/2006/relationships/image" Id="rId3"/></Relationships>
</file>

<file path=ppt/slides/_rels/slide10.xml.rels><?xml version="1.0" encoding="UTF-8" standalone="yes"?><Relationships xmlns="http://schemas.openxmlformats.org/package/2006/relationships"><Relationship Target="../notesSlides/notesSlide10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11.xml.rels><?xml version="1.0" encoding="UTF-8" standalone="yes"?><Relationships xmlns="http://schemas.openxmlformats.org/package/2006/relationships"><Relationship Target="../notesSlides/notesSlide11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12.xml.rels><?xml version="1.0" encoding="UTF-8" standalone="yes"?><Relationships xmlns="http://schemas.openxmlformats.org/package/2006/relationships"><Relationship Target="../notesSlides/notesSlide12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18.png" Type="http://schemas.openxmlformats.org/officeDocument/2006/relationships/image" Id="rId3"/></Relationships>
</file>

<file path=ppt/slides/_rels/slide13.xml.rels><?xml version="1.0" encoding="UTF-8" standalone="yes"?><Relationships xmlns="http://schemas.openxmlformats.org/package/2006/relationships"><Relationship Target="../notesSlides/notesSlide13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13.jpg" Type="http://schemas.openxmlformats.org/officeDocument/2006/relationships/image" Id="rId3"/></Relationships>
</file>

<file path=ppt/slides/_rels/slide14.xml.rels><?xml version="1.0" encoding="UTF-8" standalone="yes"?><Relationships xmlns="http://schemas.openxmlformats.org/package/2006/relationships"><Relationship Target="../notesSlides/notesSlide14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20.jpg" Type="http://schemas.openxmlformats.org/officeDocument/2006/relationships/image" Id="rId4"/><Relationship Target="../media/image12.jpg" Type="http://schemas.openxmlformats.org/officeDocument/2006/relationships/image" Id="rId3"/><Relationship Target="../media/image15.png" Type="http://schemas.openxmlformats.org/officeDocument/2006/relationships/image" Id="rId5"/></Relationships>
</file>

<file path=ppt/slides/_rels/slide15.xml.rels><?xml version="1.0" encoding="UTF-8" standalone="yes"?><Relationships xmlns="http://schemas.openxmlformats.org/package/2006/relationships"><Relationship Target="../notesSlides/notesSlide15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41.png" Type="http://schemas.openxmlformats.org/officeDocument/2006/relationships/image" Id="rId4"/><Relationship Target="../media/image31.png" Type="http://schemas.openxmlformats.org/officeDocument/2006/relationships/image" Id="rId3"/></Relationships>
</file>

<file path=ppt/slides/_rels/slide16.xml.rels><?xml version="1.0" encoding="UTF-8" standalone="yes"?><Relationships xmlns="http://schemas.openxmlformats.org/package/2006/relationships"><Relationship Target="../notesSlides/notesSlide16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22.png" Type="http://schemas.openxmlformats.org/officeDocument/2006/relationships/image" Id="rId4"/><Relationship Target="../media/image19.png" Type="http://schemas.openxmlformats.org/officeDocument/2006/relationships/image" Id="rId3"/><Relationship Target="../media/image23.png" Type="http://schemas.openxmlformats.org/officeDocument/2006/relationships/image" Id="rId6"/><Relationship Target="../media/image21.png" Type="http://schemas.openxmlformats.org/officeDocument/2006/relationships/image" Id="rId5"/><Relationship Target="../media/image26.png" Type="http://schemas.openxmlformats.org/officeDocument/2006/relationships/image" Id="rId8"/><Relationship Target="../media/image24.png" Type="http://schemas.openxmlformats.org/officeDocument/2006/relationships/image" Id="rId7"/></Relationships>
</file>

<file path=ppt/slides/_rels/slide17.xml.rels><?xml version="1.0" encoding="UTF-8" standalone="yes"?><Relationships xmlns="http://schemas.openxmlformats.org/package/2006/relationships"><Relationship Target="../notesSlides/notesSlide17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32.png" Type="http://schemas.openxmlformats.org/officeDocument/2006/relationships/image" Id="rId4"/><Relationship Target="../media/image27.png" Type="http://schemas.openxmlformats.org/officeDocument/2006/relationships/image" Id="rId3"/></Relationships>
</file>

<file path=ppt/slides/_rels/slide18.xml.rels><?xml version="1.0" encoding="UTF-8" standalone="yes"?><Relationships xmlns="http://schemas.openxmlformats.org/package/2006/relationships"><Relationship Target="../notesSlides/notesSlide18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42.png" Type="http://schemas.openxmlformats.org/officeDocument/2006/relationships/image" Id="rId4"/><Relationship Target="../media/image28.png" Type="http://schemas.openxmlformats.org/officeDocument/2006/relationships/image" Id="rId3"/></Relationships>
</file>

<file path=ppt/slides/_rels/slide19.xml.rels><?xml version="1.0" encoding="UTF-8" standalone="yes"?><Relationships xmlns="http://schemas.openxmlformats.org/package/2006/relationships"><Relationship Target="../notesSlides/notesSlide19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29.png" Type="http://schemas.openxmlformats.org/officeDocument/2006/relationships/image" Id="rId4"/><Relationship Target="../media/image33.png" Type="http://schemas.openxmlformats.org/officeDocument/2006/relationships/image" Id="rId3"/></Relationships>
</file>

<file path=ppt/slides/_rels/slide20.xml.rels><?xml version="1.0" encoding="UTF-8" standalone="yes"?><Relationships xmlns="http://schemas.openxmlformats.org/package/2006/relationships"><Relationship Target="../notesSlides/notesSlide20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27.png" Type="http://schemas.openxmlformats.org/officeDocument/2006/relationships/image" Id="rId4"/><Relationship Target="../media/image28.png" Type="http://schemas.openxmlformats.org/officeDocument/2006/relationships/image" Id="rId3"/></Relationships>
</file>

<file path=ppt/slides/_rels/slide21.xml.rels><?xml version="1.0" encoding="UTF-8" standalone="yes"?><Relationships xmlns="http://schemas.openxmlformats.org/package/2006/relationships"><Relationship Target="../notesSlides/notesSlide21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30.png" Type="http://schemas.openxmlformats.org/officeDocument/2006/relationships/image" Id="rId4"/><Relationship Target="../media/image40.png" Type="http://schemas.openxmlformats.org/officeDocument/2006/relationships/image" Id="rId3"/></Relationships>
</file>

<file path=ppt/slides/_rels/slide22.xml.rels><?xml version="1.0" encoding="UTF-8" standalone="yes"?><Relationships xmlns="http://schemas.openxmlformats.org/package/2006/relationships"><Relationship Target="../notesSlides/notesSlide22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27.png" Type="http://schemas.openxmlformats.org/officeDocument/2006/relationships/image" Id="rId4"/><Relationship Target="../media/image42.png" Type="http://schemas.openxmlformats.org/officeDocument/2006/relationships/image" Id="rId3"/></Relationships>
</file>

<file path=ppt/slides/_rels/slide23.xml.rels><?xml version="1.0" encoding="UTF-8" standalone="yes"?><Relationships xmlns="http://schemas.openxmlformats.org/package/2006/relationships"><Relationship Target="../notesSlides/notesSlide23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35.png" Type="http://schemas.openxmlformats.org/officeDocument/2006/relationships/image" Id="rId4"/><Relationship Target="../media/image36.png" Type="http://schemas.openxmlformats.org/officeDocument/2006/relationships/image" Id="rId3"/></Relationships>
</file>

<file path=ppt/slides/_rels/slide24.xml.rels><?xml version="1.0" encoding="UTF-8" standalone="yes"?><Relationships xmlns="http://schemas.openxmlformats.org/package/2006/relationships"><Relationship Target="../notesSlides/notesSlide24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42.png" Type="http://schemas.openxmlformats.org/officeDocument/2006/relationships/image" Id="rId4"/><Relationship Target="../media/image28.png" Type="http://schemas.openxmlformats.org/officeDocument/2006/relationships/image" Id="rId3"/><Relationship Target="../media/image27.png" Type="http://schemas.openxmlformats.org/officeDocument/2006/relationships/image" Id="rId5"/></Relationships>
</file>

<file path=ppt/slides/_rels/slide25.xml.rels><?xml version="1.0" encoding="UTF-8" standalone="yes"?><Relationships xmlns="http://schemas.openxmlformats.org/package/2006/relationships"><Relationship Target="../notesSlides/notesSlide25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37.png" Type="http://schemas.openxmlformats.org/officeDocument/2006/relationships/image" Id="rId4"/><Relationship Target="../media/image39.png" Type="http://schemas.openxmlformats.org/officeDocument/2006/relationships/image" Id="rId3"/><Relationship Target="../media/image34.png" Type="http://schemas.openxmlformats.org/officeDocument/2006/relationships/image" Id="rId5"/></Relationships>
</file>

<file path=ppt/slides/_rels/slide26.xml.rels><?xml version="1.0" encoding="UTF-8" standalone="yes"?><Relationships xmlns="http://schemas.openxmlformats.org/package/2006/relationships"><Relationship Target="../notesSlides/notesSlide26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38.png" Type="http://schemas.openxmlformats.org/officeDocument/2006/relationships/image" Id="rId3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2" name="Shape 2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3" name="Shape 23"/>
          <p:cNvSpPr txBox="1"/>
          <p:nvPr>
            <p:ph type="ctrTitle"/>
          </p:nvPr>
        </p:nvSpPr>
        <p:spPr>
          <a:xfrm>
            <a:off y="2111123" x="685800"/>
            <a:ext cy="1546474" cx="77724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sz="6000" lang="en">
                <a:solidFill>
                  <a:srgbClr val="741B47"/>
                </a:solidFill>
                <a:latin typeface="Corsiva"/>
                <a:ea typeface="Corsiva"/>
                <a:cs typeface="Corsiva"/>
                <a:sym typeface="Corsiva"/>
              </a:rPr>
              <a:t>Scene Classification</a:t>
            </a:r>
          </a:p>
          <a:p>
            <a:pPr>
              <a:buNone/>
            </a:pPr>
            <a:r>
              <a:rPr u="sng" sz="6000" lang="en">
                <a:solidFill>
                  <a:srgbClr val="741B47"/>
                </a:solidFill>
                <a:latin typeface="Corsiva"/>
                <a:ea typeface="Corsiva"/>
                <a:cs typeface="Corsiva"/>
                <a:sym typeface="Corsiva"/>
              </a:rPr>
              <a:t>Final Presentation</a:t>
            </a:r>
          </a:p>
        </p:txBody>
      </p:sp>
      <p:sp>
        <p:nvSpPr>
          <p:cNvPr id="24" name="Shape 24"/>
          <p:cNvSpPr txBox="1"/>
          <p:nvPr>
            <p:ph idx="1" type="subTitle"/>
          </p:nvPr>
        </p:nvSpPr>
        <p:spPr>
          <a:xfrm>
            <a:off y="4119237" x="685800"/>
            <a:ext cy="1046400" cx="77724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2400" lang="en">
                <a:solidFill>
                  <a:srgbClr val="666666"/>
                </a:solidFill>
                <a:latin typeface="Georgia"/>
                <a:ea typeface="Georgia"/>
                <a:cs typeface="Georgia"/>
                <a:sym typeface="Georgia"/>
              </a:rPr>
              <a:t>Karina Damico    </a:t>
            </a:r>
          </a:p>
          <a:p>
            <a:pPr rtl="0" lvl="0">
              <a:buNone/>
            </a:pPr>
            <a:r>
              <a:rPr sz="2400" lang="en">
                <a:solidFill>
                  <a:srgbClr val="666666"/>
                </a:solidFill>
                <a:latin typeface="Georgia"/>
                <a:ea typeface="Georgia"/>
                <a:cs typeface="Georgia"/>
                <a:sym typeface="Georgia"/>
              </a:rPr>
              <a:t>Pauline Martial</a:t>
            </a:r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8" name="Shape 2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9" name="Shape 29"/>
          <p:cNvSpPr/>
          <p:nvPr/>
        </p:nvSpPr>
        <p:spPr>
          <a:xfrm>
            <a:off y="1732575" x="3002273"/>
            <a:ext cy="3503699" cx="3552300"/>
          </a:xfrm>
          <a:prstGeom prst="ellipse">
            <a:avLst/>
          </a:prstGeom>
          <a:solidFill>
            <a:srgbClr val="1F1F1F">
              <a:alpha val="57690"/>
            </a:srgbClr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30" name="Shape 30"/>
          <p:cNvSpPr/>
          <p:nvPr/>
        </p:nvSpPr>
        <p:spPr>
          <a:xfrm>
            <a:off y="2673925" x="3985948"/>
            <a:ext cy="3503699" cx="3552300"/>
          </a:xfrm>
          <a:prstGeom prst="ellipse">
            <a:avLst/>
          </a:prstGeom>
          <a:solidFill>
            <a:srgbClr val="FFF2CC">
              <a:alpha val="59230"/>
            </a:srgbClr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31" name="Shape 31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algn="ctr">
              <a:buNone/>
            </a:pPr>
            <a:r>
              <a:rPr lang="en">
                <a:solidFill>
                  <a:srgbClr val="741B47"/>
                </a:solidFill>
                <a:latin typeface="Ubuntu"/>
                <a:ea typeface="Ubuntu"/>
                <a:cs typeface="Ubuntu"/>
                <a:sym typeface="Ubuntu"/>
              </a:rPr>
              <a:t>Comparative study and Hybrid</a:t>
            </a:r>
          </a:p>
        </p:txBody>
      </p:sp>
      <p:sp>
        <p:nvSpPr>
          <p:cNvPr id="32" name="Shape 32"/>
          <p:cNvSpPr txBox="1"/>
          <p:nvPr/>
        </p:nvSpPr>
        <p:spPr>
          <a:xfrm>
            <a:off y="2126675" x="3718448"/>
            <a:ext cy="457200" cx="23139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sz="2400" lang="en">
                <a:latin typeface="Corsiva"/>
                <a:ea typeface="Corsiva"/>
                <a:cs typeface="Corsiva"/>
                <a:sym typeface="Corsiva"/>
              </a:rPr>
              <a:t>Color Histogram</a:t>
            </a:r>
          </a:p>
        </p:txBody>
      </p:sp>
      <p:sp>
        <p:nvSpPr>
          <p:cNvPr id="33" name="Shape 33"/>
          <p:cNvSpPr txBox="1"/>
          <p:nvPr/>
        </p:nvSpPr>
        <p:spPr>
          <a:xfrm>
            <a:off y="5133100" x="2420398"/>
            <a:ext cy="457200" cx="17594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3000" lang="en">
                <a:latin typeface="Corsiva"/>
                <a:ea typeface="Corsiva"/>
                <a:cs typeface="Corsiva"/>
                <a:sym typeface="Corsiva"/>
              </a:rPr>
              <a:t>Gabor</a:t>
            </a:r>
          </a:p>
        </p:txBody>
      </p:sp>
      <p:sp>
        <p:nvSpPr>
          <p:cNvPr id="34" name="Shape 34"/>
          <p:cNvSpPr txBox="1"/>
          <p:nvPr/>
        </p:nvSpPr>
        <p:spPr>
          <a:xfrm>
            <a:off y="5236275" x="5102626"/>
            <a:ext cy="457200" cx="20783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2400" lang="en">
                <a:latin typeface="Corsiva"/>
                <a:ea typeface="Corsiva"/>
                <a:cs typeface="Corsiva"/>
                <a:sym typeface="Corsiva"/>
              </a:rPr>
              <a:t>CENTRIST</a:t>
            </a:r>
          </a:p>
        </p:txBody>
      </p:sp>
      <p:sp>
        <p:nvSpPr>
          <p:cNvPr id="35" name="Shape 35"/>
          <p:cNvSpPr/>
          <p:nvPr/>
        </p:nvSpPr>
        <p:spPr>
          <a:xfrm>
            <a:off y="2673925" x="1619601"/>
            <a:ext cy="3503699" cx="3552300"/>
          </a:xfrm>
          <a:prstGeom prst="ellipse">
            <a:avLst/>
          </a:prstGeom>
          <a:solidFill>
            <a:srgbClr val="A51966">
              <a:alpha val="43850"/>
            </a:srgbClr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36" name="Shape 36"/>
          <p:cNvSpPr/>
          <p:nvPr/>
        </p:nvSpPr>
        <p:spPr>
          <a:xfrm>
            <a:off y="3893125" x="4156350"/>
            <a:ext cy="847799" cx="831299"/>
          </a:xfrm>
          <a:prstGeom prst="sun">
            <a:avLst>
              <a:gd fmla="val 25000" name="adj"/>
            </a:avLst>
          </a:prstGeom>
          <a:solidFill>
            <a:srgbClr val="741B47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cxnSp>
        <p:nvCxnSpPr>
          <p:cNvPr id="37" name="Shape 37"/>
          <p:cNvCxnSpPr/>
          <p:nvPr/>
        </p:nvCxnSpPr>
        <p:spPr>
          <a:xfrm>
            <a:off y="1429375" x="927575"/>
            <a:ext cy="0" cx="7618200"/>
          </a:xfrm>
          <a:prstGeom prst="straightConnector1">
            <a:avLst/>
          </a:prstGeom>
          <a:noFill/>
          <a:ln w="19050" cap="flat">
            <a:solidFill>
              <a:srgbClr val="CCCCCC"/>
            </a:solidFill>
            <a:prstDash val="solid"/>
            <a:round/>
            <a:headEnd w="lg" len="lg" type="none"/>
            <a:tailEnd w="lg" len="lg" type="none"/>
          </a:ln>
        </p:spPr>
      </p:cxn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41" name="Shape 4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2" name="Shape 42"/>
          <p:cNvSpPr txBox="1"/>
          <p:nvPr>
            <p:ph idx="1" type="body"/>
          </p:nvPr>
        </p:nvSpPr>
        <p:spPr>
          <a:xfrm>
            <a:off y="1600200" x="457200"/>
            <a:ext cy="24282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1800" lang="en"/>
              <a:t>Gabor Bank formation:</a:t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>
                <a:solidFill>
                  <a:srgbClr val="C27BA0"/>
                </a:solidFill>
              </a:rPr>
              <a:t>Scale: </a:t>
            </a:r>
            <a:r>
              <a:rPr sz="1800" lang="en"/>
              <a:t>3 scales</a:t>
            </a:r>
          </a:p>
          <a:p>
            <a:pPr rtl="0" lvl="0">
              <a:buNone/>
            </a:pPr>
            <a:r>
              <a:rPr sz="1800" lang="en">
                <a:solidFill>
                  <a:srgbClr val="C27BA0"/>
                </a:solidFill>
              </a:rPr>
              <a:t>Orientation: </a:t>
            </a:r>
            <a:r>
              <a:rPr sz="1800" lang="en"/>
              <a:t>4 orientations</a:t>
            </a:r>
          </a:p>
          <a:p>
            <a:pPr rtl="0" lvl="0">
              <a:buNone/>
            </a:pPr>
            <a:r>
              <a:rPr sz="1800" lang="en"/>
              <a:t>12 filter bank</a:t>
            </a:r>
          </a:p>
          <a:p>
            <a:r>
              <a:t/>
            </a:r>
          </a:p>
          <a:p>
            <a:pPr>
              <a:buNone/>
            </a:pPr>
            <a:r>
              <a:rPr lang="en"/>
              <a:t> </a:t>
            </a:r>
          </a:p>
        </p:txBody>
      </p:sp>
      <p:sp>
        <p:nvSpPr>
          <p:cNvPr id="43" name="Shape 43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algn="ctr" rtl="0" lvl="0">
              <a:buNone/>
            </a:pPr>
            <a:r>
              <a:rPr lang="en">
                <a:solidFill>
                  <a:srgbClr val="741B47"/>
                </a:solidFill>
                <a:latin typeface="Ubuntu"/>
                <a:ea typeface="Ubuntu"/>
                <a:cs typeface="Ubuntu"/>
                <a:sym typeface="Ubuntu"/>
              </a:rPr>
              <a:t>Gabor visual descriptor</a:t>
            </a:r>
          </a:p>
        </p:txBody>
      </p:sp>
      <p:cxnSp>
        <p:nvCxnSpPr>
          <p:cNvPr id="44" name="Shape 44"/>
          <p:cNvCxnSpPr/>
          <p:nvPr/>
        </p:nvCxnSpPr>
        <p:spPr>
          <a:xfrm>
            <a:off y="1429375" x="927575"/>
            <a:ext cy="0" cx="7618200"/>
          </a:xfrm>
          <a:prstGeom prst="straightConnector1">
            <a:avLst/>
          </a:prstGeom>
          <a:noFill/>
          <a:ln w="19050" cap="flat">
            <a:solidFill>
              <a:srgbClr val="CCCCCC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45" name="Shape 45"/>
          <p:cNvSpPr/>
          <p:nvPr/>
        </p:nvSpPr>
        <p:spPr>
          <a:xfrm>
            <a:off y="4409800" x="581999"/>
            <a:ext cy="1931100" cx="8104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w="38100" cap="flat">
            <a:solidFill>
              <a:srgbClr val="A64D79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46" name="Shape 46"/>
          <p:cNvSpPr/>
          <p:nvPr/>
        </p:nvSpPr>
        <p:spPr>
          <a:xfrm>
            <a:off y="1701725" x="5679036"/>
            <a:ext cy="1612500" cx="2798399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w="38100" cap="flat">
            <a:solidFill>
              <a:srgbClr val="D5A6BD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47" name="Shape 47"/>
          <p:cNvSpPr txBox="1"/>
          <p:nvPr/>
        </p:nvSpPr>
        <p:spPr>
          <a:xfrm>
            <a:off y="1988125" x="5865936"/>
            <a:ext cy="886799" cx="24246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Decision is made</a:t>
            </a:r>
          </a:p>
          <a:p>
            <a:pPr rtl="0" lvl="0">
              <a:buNone/>
            </a:pPr>
            <a:r>
              <a:rPr lang="en"/>
              <a:t>through viewing papers, but mostly intuitively</a:t>
            </a:r>
          </a:p>
        </p:txBody>
      </p:sp>
      <p:sp>
        <p:nvSpPr>
          <p:cNvPr id="48" name="Shape 48"/>
          <p:cNvSpPr/>
          <p:nvPr/>
        </p:nvSpPr>
        <p:spPr>
          <a:xfrm>
            <a:off y="4651450" x="1348275"/>
            <a:ext cy="1447800" cx="657225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49" name="Shape 49"/>
          <p:cNvSpPr txBox="1"/>
          <p:nvPr/>
        </p:nvSpPr>
        <p:spPr>
          <a:xfrm>
            <a:off y="5443325" x="1262250"/>
            <a:ext cy="457200" cx="36576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spcBef>
                <a:spcPts val="600"/>
              </a:spcBef>
              <a:buClr>
                <a:srgbClr val="000000"/>
              </a:buClr>
              <a:buSzPct val="61111"/>
              <a:buFont typeface="Arial"/>
              <a:buNone/>
            </a:pPr>
            <a:r>
              <a:rPr sz="1800" lang="en"/>
              <a:t>counter clock  in 45 degrees.</a:t>
            </a:r>
          </a:p>
          <a:p>
            <a:pPr rtl="0" lvl="0">
              <a:spcBef>
                <a:spcPts val="600"/>
              </a:spcBef>
              <a:buClr>
                <a:srgbClr val="000000"/>
              </a:buClr>
              <a:buSzPct val="61111"/>
              <a:buFont typeface="Arial"/>
              <a:buNone/>
            </a:pPr>
            <a:r>
              <a:rPr sz="1800" lang="en"/>
              <a:t>four directions: 0, 45, 90, 135</a:t>
            </a:r>
          </a:p>
        </p:txBody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53" name="Shape 5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4" name="Shape 54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algn="ctr" rtl="0" lvl="0">
              <a:buNone/>
            </a:pPr>
            <a:r>
              <a:rPr lang="en">
                <a:solidFill>
                  <a:srgbClr val="741B47"/>
                </a:solidFill>
                <a:latin typeface="Ubuntu"/>
                <a:ea typeface="Ubuntu"/>
                <a:cs typeface="Ubuntu"/>
                <a:sym typeface="Ubuntu"/>
              </a:rPr>
              <a:t>Gabor visual descriptor</a:t>
            </a:r>
          </a:p>
        </p:txBody>
      </p:sp>
      <p:sp>
        <p:nvSpPr>
          <p:cNvPr id="55" name="Shape 55"/>
          <p:cNvSpPr/>
          <p:nvPr/>
        </p:nvSpPr>
        <p:spPr>
          <a:xfrm>
            <a:off y="1639287" x="475268"/>
            <a:ext cy="2151522" cx="2735626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56" name="Shape 56"/>
          <p:cNvSpPr/>
          <p:nvPr/>
        </p:nvSpPr>
        <p:spPr>
          <a:xfrm>
            <a:off y="4071087" x="457200"/>
            <a:ext cy="2179500" cx="277239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  <p:cxnSp>
        <p:nvCxnSpPr>
          <p:cNvPr id="57" name="Shape 57"/>
          <p:cNvCxnSpPr/>
          <p:nvPr/>
        </p:nvCxnSpPr>
        <p:spPr>
          <a:xfrm>
            <a:off y="1429375" x="927575"/>
            <a:ext cy="0" cx="7618200"/>
          </a:xfrm>
          <a:prstGeom prst="straightConnector1">
            <a:avLst/>
          </a:prstGeom>
          <a:noFill/>
          <a:ln w="19050" cap="flat">
            <a:solidFill>
              <a:srgbClr val="CCCCCC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58" name="Shape 58"/>
          <p:cNvSpPr/>
          <p:nvPr/>
        </p:nvSpPr>
        <p:spPr>
          <a:xfrm>
            <a:off y="2169100" x="4230246"/>
            <a:ext cy="3697435" cx="3594978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</p:sp>
      <p:sp>
        <p:nvSpPr>
          <p:cNvPr id="59" name="Shape 59"/>
          <p:cNvSpPr txBox="1"/>
          <p:nvPr/>
        </p:nvSpPr>
        <p:spPr>
          <a:xfrm>
            <a:off y="1528462" x="5624975"/>
            <a:ext cy="457200" cx="19394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lang="en"/>
              <a:t>Waste...</a:t>
            </a:r>
          </a:p>
        </p:txBody>
      </p: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63" name="Shape 6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64" name="Shape 64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algn="ctr">
              <a:buNone/>
            </a:pPr>
            <a:r>
              <a:rPr lang="en">
                <a:solidFill>
                  <a:srgbClr val="741B47"/>
                </a:solidFill>
                <a:latin typeface="Ubuntu"/>
                <a:ea typeface="Ubuntu"/>
                <a:cs typeface="Ubuntu"/>
                <a:sym typeface="Ubuntu"/>
              </a:rPr>
              <a:t>Gabor visual descriptor</a:t>
            </a:r>
          </a:p>
        </p:txBody>
      </p:sp>
      <p:sp>
        <p:nvSpPr>
          <p:cNvPr id="65" name="Shape 65"/>
          <p:cNvSpPr/>
          <p:nvPr/>
        </p:nvSpPr>
        <p:spPr>
          <a:xfrm>
            <a:off y="1581150" x="457200"/>
            <a:ext cy="2344729" cx="274493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66" name="Shape 66"/>
          <p:cNvSpPr/>
          <p:nvPr/>
        </p:nvSpPr>
        <p:spPr>
          <a:xfrm>
            <a:off y="4121725" x="449573"/>
            <a:ext cy="2284519" cx="2760186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67" name="Shape 67"/>
          <p:cNvSpPr/>
          <p:nvPr/>
        </p:nvSpPr>
        <p:spPr>
          <a:xfrm>
            <a:off y="2177387" x="4242100"/>
            <a:ext cy="3762375" cx="3695700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</p:sp>
      <p:cxnSp>
        <p:nvCxnSpPr>
          <p:cNvPr id="68" name="Shape 68"/>
          <p:cNvCxnSpPr/>
          <p:nvPr/>
        </p:nvCxnSpPr>
        <p:spPr>
          <a:xfrm>
            <a:off y="1429375" x="927575"/>
            <a:ext cy="0" cx="7618200"/>
          </a:xfrm>
          <a:prstGeom prst="straightConnector1">
            <a:avLst/>
          </a:prstGeom>
          <a:noFill/>
          <a:ln w="19050" cap="flat">
            <a:solidFill>
              <a:srgbClr val="CCCCCC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69" name="Shape 69"/>
          <p:cNvSpPr txBox="1"/>
          <p:nvPr/>
        </p:nvSpPr>
        <p:spPr>
          <a:xfrm>
            <a:off y="1581150" x="5278600"/>
            <a:ext cy="457200" cx="36576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Waste...even more</a:t>
            </a:r>
          </a:p>
        </p:txBody>
      </p:sp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73" name="Shape 7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74" name="Shape 74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algn="ctr">
              <a:buNone/>
            </a:pPr>
            <a:r>
              <a:rPr lang="en">
                <a:solidFill>
                  <a:srgbClr val="741B47"/>
                </a:solidFill>
                <a:latin typeface="Ubuntu"/>
                <a:ea typeface="Ubuntu"/>
                <a:cs typeface="Ubuntu"/>
                <a:sym typeface="Ubuntu"/>
              </a:rPr>
              <a:t>Gabor visual descriptor</a:t>
            </a:r>
          </a:p>
        </p:txBody>
      </p:sp>
      <p:sp>
        <p:nvSpPr>
          <p:cNvPr id="75" name="Shape 75"/>
          <p:cNvSpPr/>
          <p:nvPr/>
        </p:nvSpPr>
        <p:spPr>
          <a:xfrm>
            <a:off y="1694600" x="4328550"/>
            <a:ext cy="4229100" cx="4191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76" name="Shape 76"/>
          <p:cNvSpPr/>
          <p:nvPr/>
        </p:nvSpPr>
        <p:spPr>
          <a:xfrm>
            <a:off y="1601550" x="335560"/>
            <a:ext cy="1662872" cx="1676326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77" name="Shape 77"/>
          <p:cNvSpPr/>
          <p:nvPr/>
        </p:nvSpPr>
        <p:spPr>
          <a:xfrm>
            <a:off y="1581363" x="2492310"/>
            <a:ext cy="1652659" cx="1601010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</p:sp>
      <p:sp>
        <p:nvSpPr>
          <p:cNvPr id="78" name="Shape 78"/>
          <p:cNvSpPr/>
          <p:nvPr/>
        </p:nvSpPr>
        <p:spPr>
          <a:xfrm>
            <a:off y="3900200" x="457200"/>
            <a:ext cy="2631081" cx="3367769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</p:sp>
      <p:sp>
        <p:nvSpPr>
          <p:cNvPr id="79" name="Shape 79"/>
          <p:cNvSpPr/>
          <p:nvPr/>
        </p:nvSpPr>
        <p:spPr>
          <a:xfrm>
            <a:off y="2189700" x="2098450"/>
            <a:ext cy="547500" cx="349799"/>
          </a:xfrm>
          <a:prstGeom prst="rightArrow">
            <a:avLst>
              <a:gd fmla="val 50000" name="adj1"/>
              <a:gd fmla="val 50000" name="adj2"/>
            </a:avLst>
          </a:prstGeom>
          <a:noFill/>
          <a:ln w="19050" cap="flat">
            <a:solidFill>
              <a:srgbClr val="741B47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80" name="Shape 80"/>
          <p:cNvSpPr/>
          <p:nvPr/>
        </p:nvSpPr>
        <p:spPr>
          <a:xfrm>
            <a:off y="3421400" x="3034365"/>
            <a:ext cy="395399" cx="516899"/>
          </a:xfrm>
          <a:prstGeom prst="downArrow">
            <a:avLst>
              <a:gd fmla="val 50000" name="adj1"/>
              <a:gd fmla="val 50000" name="adj2"/>
            </a:avLst>
          </a:prstGeom>
          <a:noFill/>
          <a:ln w="19050" cap="flat">
            <a:solidFill>
              <a:srgbClr val="4C1130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cxnSp>
        <p:nvCxnSpPr>
          <p:cNvPr id="81" name="Shape 81"/>
          <p:cNvCxnSpPr/>
          <p:nvPr/>
        </p:nvCxnSpPr>
        <p:spPr>
          <a:xfrm>
            <a:off y="1429375" x="927575"/>
            <a:ext cy="0" cx="7618200"/>
          </a:xfrm>
          <a:prstGeom prst="straightConnector1">
            <a:avLst/>
          </a:prstGeom>
          <a:noFill/>
          <a:ln w="19050" cap="flat">
            <a:solidFill>
              <a:srgbClr val="CCCCCC"/>
            </a:solidFill>
            <a:prstDash val="solid"/>
            <a:round/>
            <a:headEnd w="lg" len="lg" type="none"/>
            <a:tailEnd w="lg" len="lg" type="none"/>
          </a:ln>
        </p:spPr>
      </p:cxn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85" name="Shape 8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6" name="Shape 86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algn="ctr" rtl="0" lvl="0">
              <a:buNone/>
            </a:pPr>
            <a:r>
              <a:rPr lang="en">
                <a:solidFill>
                  <a:srgbClr val="741B47"/>
                </a:solidFill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cxnSp>
        <p:nvCxnSpPr>
          <p:cNvPr id="87" name="Shape 87"/>
          <p:cNvCxnSpPr/>
          <p:nvPr/>
        </p:nvCxnSpPr>
        <p:spPr>
          <a:xfrm>
            <a:off y="1429375" x="927575"/>
            <a:ext cy="0" cx="7618200"/>
          </a:xfrm>
          <a:prstGeom prst="straightConnector1">
            <a:avLst/>
          </a:prstGeom>
          <a:noFill/>
          <a:ln w="19050" cap="flat">
            <a:solidFill>
              <a:srgbClr val="CCCCCC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88" name="Shape 88"/>
          <p:cNvSpPr/>
          <p:nvPr/>
        </p:nvSpPr>
        <p:spPr>
          <a:xfrm>
            <a:off y="3334250" x="389500"/>
            <a:ext cy="1202147" cx="7012609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89" name="Shape 89"/>
          <p:cNvSpPr/>
          <p:nvPr/>
        </p:nvSpPr>
        <p:spPr>
          <a:xfrm>
            <a:off y="4995625" x="3504462"/>
            <a:ext cy="1238250" cx="4581525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90" name="Shape 90"/>
          <p:cNvSpPr txBox="1"/>
          <p:nvPr/>
        </p:nvSpPr>
        <p:spPr>
          <a:xfrm>
            <a:off y="1843432" x="457200"/>
            <a:ext cy="622199" cx="56891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1800" lang="en"/>
              <a:t>A CENTRIST is a histogram of CT value...</a:t>
            </a:r>
          </a:p>
          <a:p>
            <a:r>
              <a:t/>
            </a:r>
          </a:p>
          <a:p>
            <a:pPr>
              <a:buNone/>
            </a:pPr>
            <a:r>
              <a:rPr sz="1800" lang="en"/>
              <a:t>What is a CT value? </a:t>
            </a:r>
          </a:p>
        </p:txBody>
      </p:sp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94" name="Shape 9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5" name="Shape 95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algn="ctr">
              <a:buNone/>
            </a:pPr>
            <a:r>
              <a:rPr lang="en">
                <a:solidFill>
                  <a:srgbClr val="741B47"/>
                </a:solidFill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cxnSp>
        <p:nvCxnSpPr>
          <p:cNvPr id="96" name="Shape 96"/>
          <p:cNvCxnSpPr/>
          <p:nvPr/>
        </p:nvCxnSpPr>
        <p:spPr>
          <a:xfrm>
            <a:off y="1429375" x="927575"/>
            <a:ext cy="0" cx="7618200"/>
          </a:xfrm>
          <a:prstGeom prst="straightConnector1">
            <a:avLst/>
          </a:prstGeom>
          <a:noFill/>
          <a:ln w="19050" cap="flat">
            <a:solidFill>
              <a:srgbClr val="CCCCCC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97" name="Shape 97"/>
          <p:cNvSpPr/>
          <p:nvPr/>
        </p:nvSpPr>
        <p:spPr>
          <a:xfrm>
            <a:off y="1927950" x="728662"/>
            <a:ext cy="3657600" cx="7686675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01" name="Shape 10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2" name="Shape 102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algn="ctr" rtl="0" lvl="0">
              <a:buNone/>
            </a:pPr>
            <a:r>
              <a:rPr lang="en">
                <a:solidFill>
                  <a:srgbClr val="741B47"/>
                </a:solidFill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cxnSp>
        <p:nvCxnSpPr>
          <p:cNvPr id="103" name="Shape 103"/>
          <p:cNvCxnSpPr/>
          <p:nvPr/>
        </p:nvCxnSpPr>
        <p:spPr>
          <a:xfrm>
            <a:off y="1429375" x="927575"/>
            <a:ext cy="0" cx="7618200"/>
          </a:xfrm>
          <a:prstGeom prst="straightConnector1">
            <a:avLst/>
          </a:prstGeom>
          <a:noFill/>
          <a:ln w="19050" cap="flat">
            <a:solidFill>
              <a:srgbClr val="CCCCCC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104" name="Shape 104"/>
          <p:cNvSpPr/>
          <p:nvPr/>
        </p:nvSpPr>
        <p:spPr>
          <a:xfrm>
            <a:off y="1529762" x="381000"/>
            <a:ext cy="3076575" cx="74676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05" name="Shape 105"/>
          <p:cNvSpPr/>
          <p:nvPr/>
        </p:nvSpPr>
        <p:spPr>
          <a:xfrm>
            <a:off y="3233925" x="8015025"/>
            <a:ext cy="2556599" cx="982499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06" name="Shape 106"/>
          <p:cNvSpPr txBox="1"/>
          <p:nvPr/>
        </p:nvSpPr>
        <p:spPr>
          <a:xfrm>
            <a:off y="5676900" x="928425"/>
            <a:ext cy="457200" cx="38433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lang="en"/>
              <a:t>Distribution of CT values              histogram</a:t>
            </a:r>
          </a:p>
        </p:txBody>
      </p:sp>
      <p:sp>
        <p:nvSpPr>
          <p:cNvPr id="107" name="Shape 107"/>
          <p:cNvSpPr/>
          <p:nvPr/>
        </p:nvSpPr>
        <p:spPr>
          <a:xfrm>
            <a:off y="4682537" x="5168547"/>
            <a:ext cy="2073266" cx="2528627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108" name="Shape 108"/>
          <p:cNvSpPr/>
          <p:nvPr/>
        </p:nvSpPr>
        <p:spPr>
          <a:xfrm>
            <a:off y="5785200" x="3128225"/>
            <a:ext cy="240600" cx="381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12" name="Shape 11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13" name="Shape 113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algn="ctr" rtl="0" lvl="0">
              <a:buNone/>
            </a:pPr>
            <a:r>
              <a:rPr lang="en">
                <a:solidFill>
                  <a:srgbClr val="741B47"/>
                </a:solidFill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cxnSp>
        <p:nvCxnSpPr>
          <p:cNvPr id="114" name="Shape 114"/>
          <p:cNvCxnSpPr/>
          <p:nvPr/>
        </p:nvCxnSpPr>
        <p:spPr>
          <a:xfrm>
            <a:off y="1429375" x="927575"/>
            <a:ext cy="0" cx="7618200"/>
          </a:xfrm>
          <a:prstGeom prst="straightConnector1">
            <a:avLst/>
          </a:prstGeom>
          <a:noFill/>
          <a:ln w="19050" cap="flat">
            <a:solidFill>
              <a:srgbClr val="CCCCCC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115" name="Shape 115"/>
          <p:cNvSpPr/>
          <p:nvPr/>
        </p:nvSpPr>
        <p:spPr>
          <a:xfrm>
            <a:off y="1879098" x="716750"/>
            <a:ext cy="2326104" cx="1674377"/>
          </a:xfrm>
          <a:prstGeom prst="flowChartMultidocument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>
            <a:pPr algn="ctr">
              <a:lnSpc>
                <a:spcPct val="200000"/>
              </a:lnSpc>
              <a:buNone/>
            </a:pPr>
            <a:r>
              <a:rPr lang="en"/>
              <a:t>Images Database</a:t>
            </a:r>
          </a:p>
        </p:txBody>
      </p:sp>
      <p:sp>
        <p:nvSpPr>
          <p:cNvPr id="116" name="Shape 116"/>
          <p:cNvSpPr/>
          <p:nvPr/>
        </p:nvSpPr>
        <p:spPr>
          <a:xfrm>
            <a:off y="2565900" x="3580525"/>
            <a:ext cy="952499" cx="17748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w="19050" cap="flat">
            <a:solidFill>
              <a:schemeClr val="accent5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>
            <a:pPr algn="ctr" rtl="0" lvl="0">
              <a:buNone/>
            </a:pPr>
            <a:r>
              <a:rPr lang="en"/>
              <a:t>CTfeatureVector</a:t>
            </a:r>
          </a:p>
        </p:txBody>
      </p:sp>
      <p:sp>
        <p:nvSpPr>
          <p:cNvPr id="117" name="Shape 117"/>
          <p:cNvSpPr/>
          <p:nvPr/>
        </p:nvSpPr>
        <p:spPr>
          <a:xfrm>
            <a:off y="1879098" x="6677500"/>
            <a:ext cy="2326104" cx="1674377"/>
          </a:xfrm>
          <a:prstGeom prst="flowChartMultidocument">
            <a:avLst/>
          </a:prstGeom>
          <a:solidFill>
            <a:srgbClr val="9FC5E8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>
            <a:pPr algn="ctr" rtl="0" lvl="0">
              <a:lnSpc>
                <a:spcPct val="150000"/>
              </a:lnSpc>
              <a:buNone/>
            </a:pPr>
            <a:r>
              <a:rPr lang="en"/>
              <a:t>CT Feature Vectors Database</a:t>
            </a:r>
          </a:p>
        </p:txBody>
      </p:sp>
      <p:cxnSp>
        <p:nvCxnSpPr>
          <p:cNvPr id="118" name="Shape 118"/>
          <p:cNvCxnSpPr>
            <a:stCxn id="115" idx="3"/>
            <a:endCxn id="116" idx="1"/>
          </p:cNvCxnSpPr>
          <p:nvPr/>
        </p:nvCxnSpPr>
        <p:spPr>
          <a:xfrm rot="10800000" flipH="1">
            <a:off y="3042149" x="2391127"/>
            <a:ext cy="0" cx="1189397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round/>
            <a:headEnd w="lg" len="lg" type="none"/>
            <a:tailEnd w="lg" len="lg" type="triangle"/>
          </a:ln>
        </p:spPr>
      </p:cxnSp>
      <p:cxnSp>
        <p:nvCxnSpPr>
          <p:cNvPr id="119" name="Shape 119"/>
          <p:cNvCxnSpPr>
            <a:stCxn id="116" idx="3"/>
            <a:endCxn id="117" idx="1"/>
          </p:cNvCxnSpPr>
          <p:nvPr/>
        </p:nvCxnSpPr>
        <p:spPr>
          <a:xfrm>
            <a:off y="3042149" x="5355325"/>
            <a:ext cy="0" cx="1322174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round/>
            <a:headEnd w="lg" len="lg" type="none"/>
            <a:tailEnd w="lg" len="lg" type="triangle"/>
          </a:ln>
        </p:spPr>
      </p:cxnSp>
      <p:sp>
        <p:nvSpPr>
          <p:cNvPr id="120" name="Shape 120"/>
          <p:cNvSpPr txBox="1"/>
          <p:nvPr/>
        </p:nvSpPr>
        <p:spPr>
          <a:xfrm>
            <a:off y="4374350" x="1635150"/>
            <a:ext cy="2123399" cx="5784600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>
            <a:pPr rtl="0" lvl="0">
              <a:lnSpc>
                <a:spcPct val="150000"/>
              </a:lnSpc>
              <a:buNone/>
            </a:pPr>
            <a:r>
              <a:rPr sz="1800" lang="en"/>
              <a:t>Parameters: </a:t>
            </a:r>
          </a:p>
          <a:p>
            <a:pPr rtl="0" lvl="0" indent="-298450" marL="457200">
              <a:lnSpc>
                <a:spcPct val="115000"/>
              </a:lnSpc>
              <a:buClr>
                <a:srgbClr val="000000"/>
              </a:buClr>
              <a:buSzPct val="101851"/>
              <a:buFont typeface="Arial"/>
              <a:buChar char="•"/>
            </a:pPr>
            <a:r>
              <a:rPr sz="1800" lang="en"/>
              <a:t>0.125 downsize	</a:t>
            </a:r>
          </a:p>
          <a:p>
            <a:pPr rtl="0" lvl="0" indent="-298450" marL="457200">
              <a:lnSpc>
                <a:spcPct val="115000"/>
              </a:lnSpc>
              <a:buClr>
                <a:srgbClr val="000000"/>
              </a:buClr>
              <a:buSzPct val="101851"/>
              <a:buFont typeface="Arial"/>
              <a:buChar char="•"/>
            </a:pPr>
            <a:r>
              <a:rPr sz="1800" lang="en"/>
              <a:t>4 lines		</a:t>
            </a:r>
          </a:p>
          <a:p>
            <a:pPr rtl="0" lvl="0" indent="-298450" marL="457200">
              <a:lnSpc>
                <a:spcPct val="115000"/>
              </a:lnSpc>
              <a:buClr>
                <a:srgbClr val="000000"/>
              </a:buClr>
              <a:buSzPct val="101851"/>
              <a:buFont typeface="Arial"/>
              <a:buChar char="•"/>
            </a:pPr>
            <a:r>
              <a:rPr sz="1800" lang="en"/>
              <a:t>Histogram Intersection Method</a:t>
            </a:r>
          </a:p>
          <a:p>
            <a:pPr rtl="0" lvl="0" indent="-298450" marL="457200">
              <a:lnSpc>
                <a:spcPct val="115000"/>
              </a:lnSpc>
              <a:buClr>
                <a:srgbClr val="000000"/>
              </a:buClr>
              <a:buSzPct val="101851"/>
              <a:buFont typeface="Arial"/>
              <a:buChar char="•"/>
            </a:pPr>
            <a:r>
              <a:rPr sz="1800" lang="en"/>
              <a:t>40 bins histograms</a:t>
            </a:r>
          </a:p>
          <a:p>
            <a:r>
              <a:t/>
            </a:r>
          </a:p>
        </p:txBody>
      </p:sp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24" name="Shape 12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25" name="Shape 125"/>
          <p:cNvSpPr/>
          <p:nvPr/>
        </p:nvSpPr>
        <p:spPr>
          <a:xfrm>
            <a:off y="4191000" x="1604200"/>
            <a:ext cy="2185800" cx="6316499"/>
          </a:xfrm>
          <a:prstGeom prst="roundRect">
            <a:avLst>
              <a:gd fmla="val 16667" name="adj"/>
            </a:avLst>
          </a:prstGeom>
          <a:noFill/>
          <a:ln w="19050" cap="flat">
            <a:solidFill>
              <a:schemeClr val="accent5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26" name="Shape 126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algn="ctr" rtl="0" lvl="0">
              <a:buNone/>
            </a:pPr>
            <a:r>
              <a:rPr lang="en">
                <a:solidFill>
                  <a:srgbClr val="741B47"/>
                </a:solidFill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cxnSp>
        <p:nvCxnSpPr>
          <p:cNvPr id="127" name="Shape 127"/>
          <p:cNvCxnSpPr/>
          <p:nvPr/>
        </p:nvCxnSpPr>
        <p:spPr>
          <a:xfrm>
            <a:off y="1429375" x="927575"/>
            <a:ext cy="0" cx="7618200"/>
          </a:xfrm>
          <a:prstGeom prst="straightConnector1">
            <a:avLst/>
          </a:prstGeom>
          <a:noFill/>
          <a:ln w="19050" cap="flat">
            <a:solidFill>
              <a:srgbClr val="CCCCCC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128" name="Shape 128"/>
          <p:cNvSpPr txBox="1"/>
          <p:nvPr/>
        </p:nvSpPr>
        <p:spPr>
          <a:xfrm>
            <a:off y="1715362" x="457200"/>
            <a:ext cy="4670700" cx="7558199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>
            <a:pPr rtl="0" lvl="0">
              <a:buNone/>
            </a:pPr>
            <a:r>
              <a:rPr sz="1800" lang="en"/>
              <a:t>Voting algorithm:</a:t>
            </a:r>
          </a:p>
          <a:p>
            <a:r>
              <a:t/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/>
              <a:t>			CT 			Gabor		GIST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/>
              <a:t>					      		</a:t>
            </a:r>
          </a:p>
          <a:p>
            <a:pPr rtl="0" lvl="3" indent="-298450" marL="1828800">
              <a:lnSpc>
                <a:spcPct val="115000"/>
              </a:lnSpc>
              <a:buClr>
                <a:srgbClr val="000000"/>
              </a:buClr>
              <a:buSzPct val="101851"/>
              <a:buFont typeface="Arial"/>
              <a:buChar char="•"/>
            </a:pPr>
            <a:r>
              <a:rPr sz="1800" lang="en"/>
              <a:t>         				: high confidence (3)</a:t>
            </a:r>
          </a:p>
          <a:p>
            <a:r>
              <a:t/>
            </a:r>
          </a:p>
          <a:p>
            <a:pPr rtl="0" lvl="3" indent="-298450" marL="1828800">
              <a:lnSpc>
                <a:spcPct val="115000"/>
              </a:lnSpc>
              <a:buClr>
                <a:srgbClr val="000000"/>
              </a:buClr>
              <a:buSzPct val="101851"/>
              <a:buFont typeface="Arial"/>
              <a:buChar char="•"/>
            </a:pPr>
            <a:r>
              <a:rPr sz="1800" lang="en"/>
              <a:t>                                 	: medium confidence (2)</a:t>
            </a:r>
          </a:p>
          <a:p>
            <a:r>
              <a:t/>
            </a:r>
          </a:p>
          <a:p>
            <a:pPr rtl="0" lvl="3" indent="-298450" marL="1828800">
              <a:lnSpc>
                <a:spcPct val="115000"/>
              </a:lnSpc>
              <a:buClr>
                <a:srgbClr val="000000"/>
              </a:buClr>
              <a:buSzPct val="101851"/>
              <a:buFont typeface="Arial"/>
              <a:buChar char="•"/>
            </a:pPr>
            <a:r>
              <a:rPr sz="1800" lang="en"/>
              <a:t>                                 	: low confidence (1)</a:t>
            </a:r>
          </a:p>
        </p:txBody>
      </p:sp>
      <p:cxnSp>
        <p:nvCxnSpPr>
          <p:cNvPr id="129" name="Shape 129"/>
          <p:cNvCxnSpPr/>
          <p:nvPr/>
        </p:nvCxnSpPr>
        <p:spPr>
          <a:xfrm>
            <a:off y="3238225" x="2196625"/>
            <a:ext cy="752700" cx="1082700"/>
          </a:xfrm>
          <a:prstGeom prst="straightConnector1">
            <a:avLst/>
          </a:prstGeom>
          <a:noFill/>
          <a:ln w="19050" cap="flat">
            <a:solidFill>
              <a:schemeClr val="accent5"/>
            </a:solidFill>
            <a:prstDash val="solid"/>
            <a:round/>
            <a:headEnd w="lg" len="lg" type="none"/>
            <a:tailEnd w="lg" len="lg" type="triangle"/>
          </a:ln>
        </p:spPr>
      </p:cxnSp>
      <p:cxnSp>
        <p:nvCxnSpPr>
          <p:cNvPr id="130" name="Shape 130"/>
          <p:cNvCxnSpPr/>
          <p:nvPr/>
        </p:nvCxnSpPr>
        <p:spPr>
          <a:xfrm>
            <a:off y="3208425" x="3619500"/>
            <a:ext cy="782099" cx="130499"/>
          </a:xfrm>
          <a:prstGeom prst="straightConnector1">
            <a:avLst/>
          </a:prstGeom>
          <a:noFill/>
          <a:ln w="19050" cap="flat">
            <a:solidFill>
              <a:schemeClr val="accent5"/>
            </a:solidFill>
            <a:prstDash val="solid"/>
            <a:round/>
            <a:headEnd w="lg" len="lg" type="none"/>
            <a:tailEnd w="lg" len="lg" type="triangle"/>
          </a:ln>
        </p:spPr>
      </p:cxnSp>
      <p:cxnSp>
        <p:nvCxnSpPr>
          <p:cNvPr id="131" name="Shape 131"/>
          <p:cNvCxnSpPr/>
          <p:nvPr/>
        </p:nvCxnSpPr>
        <p:spPr>
          <a:xfrm flipH="1">
            <a:off y="3228475" x="4130925"/>
            <a:ext cy="771899" cx="791999"/>
          </a:xfrm>
          <a:prstGeom prst="straightConnector1">
            <a:avLst/>
          </a:prstGeom>
          <a:noFill/>
          <a:ln w="19050" cap="flat">
            <a:solidFill>
              <a:schemeClr val="accent5"/>
            </a:solidFill>
            <a:prstDash val="solid"/>
            <a:round/>
            <a:headEnd w="lg" len="lg" type="none"/>
            <a:tailEnd w="lg" len="lg" type="triangle"/>
          </a:ln>
        </p:spPr>
      </p:cxnSp>
      <p:sp>
        <p:nvSpPr>
          <p:cNvPr id="132" name="Shape 132"/>
          <p:cNvSpPr txBox="1"/>
          <p:nvPr/>
        </p:nvSpPr>
        <p:spPr>
          <a:xfrm>
            <a:off y="3238225" x="2541525"/>
            <a:ext cy="457200" cx="5429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lang="en">
                <a:solidFill>
                  <a:schemeClr val="accent4"/>
                </a:solidFill>
              </a:rPr>
              <a:t>vote</a:t>
            </a:r>
          </a:p>
        </p:txBody>
      </p:sp>
      <p:sp>
        <p:nvSpPr>
          <p:cNvPr id="133" name="Shape 133"/>
          <p:cNvSpPr txBox="1"/>
          <p:nvPr/>
        </p:nvSpPr>
        <p:spPr>
          <a:xfrm>
            <a:off y="3310400" x="3619500"/>
            <a:ext cy="457200" cx="5429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>
                <a:solidFill>
                  <a:schemeClr val="accent4"/>
                </a:solidFill>
              </a:rPr>
              <a:t>vote</a:t>
            </a:r>
          </a:p>
        </p:txBody>
      </p:sp>
      <p:sp>
        <p:nvSpPr>
          <p:cNvPr id="134" name="Shape 134"/>
          <p:cNvSpPr txBox="1"/>
          <p:nvPr/>
        </p:nvSpPr>
        <p:spPr>
          <a:xfrm>
            <a:off y="3385975" x="4547650"/>
            <a:ext cy="457200" cx="5429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>
                <a:solidFill>
                  <a:schemeClr val="accent4"/>
                </a:solidFill>
              </a:rPr>
              <a:t>vote</a:t>
            </a:r>
          </a:p>
        </p:txBody>
      </p:sp>
      <p:sp>
        <p:nvSpPr>
          <p:cNvPr id="135" name="Shape 135"/>
          <p:cNvSpPr/>
          <p:nvPr/>
        </p:nvSpPr>
        <p:spPr>
          <a:xfrm>
            <a:off y="4365750" x="2402575"/>
            <a:ext cy="501299" cx="561599"/>
          </a:xfrm>
          <a:prstGeom prst="sun">
            <a:avLst>
              <a:gd fmla="val 25000" name="adj"/>
            </a:avLst>
          </a:prstGeom>
          <a:solidFill>
            <a:srgbClr val="FFFF00"/>
          </a:solidFill>
          <a:ln w="19050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36" name="Shape 136"/>
          <p:cNvSpPr/>
          <p:nvPr/>
        </p:nvSpPr>
        <p:spPr>
          <a:xfrm>
            <a:off y="4365750" x="3084525"/>
            <a:ext cy="501299" cx="561599"/>
          </a:xfrm>
          <a:prstGeom prst="sun">
            <a:avLst>
              <a:gd fmla="val 25000" name="adj"/>
            </a:avLst>
          </a:prstGeom>
          <a:solidFill>
            <a:srgbClr val="FFFF00"/>
          </a:solidFill>
          <a:ln w="19050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37" name="Shape 137"/>
          <p:cNvSpPr/>
          <p:nvPr/>
        </p:nvSpPr>
        <p:spPr>
          <a:xfrm>
            <a:off y="4365750" x="3796100"/>
            <a:ext cy="501299" cx="561599"/>
          </a:xfrm>
          <a:prstGeom prst="sun">
            <a:avLst>
              <a:gd fmla="val 25000" name="adj"/>
            </a:avLst>
          </a:prstGeom>
          <a:solidFill>
            <a:srgbClr val="FFFF00"/>
          </a:solidFill>
          <a:ln w="19050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38" name="Shape 138"/>
          <p:cNvSpPr/>
          <p:nvPr/>
        </p:nvSpPr>
        <p:spPr>
          <a:xfrm>
            <a:off y="5033250" x="3048162"/>
            <a:ext cy="501299" cx="561599"/>
          </a:xfrm>
          <a:prstGeom prst="sun">
            <a:avLst>
              <a:gd fmla="val 25000" name="adj"/>
            </a:avLst>
          </a:prstGeom>
          <a:solidFill>
            <a:srgbClr val="FFFF00"/>
          </a:solidFill>
          <a:ln w="19050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39" name="Shape 139"/>
          <p:cNvSpPr/>
          <p:nvPr/>
        </p:nvSpPr>
        <p:spPr>
          <a:xfrm>
            <a:off y="5033250" x="3759737"/>
            <a:ext cy="501299" cx="561599"/>
          </a:xfrm>
          <a:prstGeom prst="sun">
            <a:avLst>
              <a:gd fmla="val 25000" name="adj"/>
            </a:avLst>
          </a:prstGeom>
          <a:solidFill>
            <a:srgbClr val="FFFF00"/>
          </a:solidFill>
          <a:ln w="19050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40" name="Shape 140"/>
          <p:cNvSpPr/>
          <p:nvPr/>
        </p:nvSpPr>
        <p:spPr>
          <a:xfrm>
            <a:off y="5621075" x="3759737"/>
            <a:ext cy="501299" cx="561599"/>
          </a:xfrm>
          <a:prstGeom prst="sun">
            <a:avLst>
              <a:gd fmla="val 25000" name="adj"/>
            </a:avLst>
          </a:prstGeom>
          <a:solidFill>
            <a:srgbClr val="FFFF00"/>
          </a:solidFill>
          <a:ln w="19050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41" name="Shape 141"/>
          <p:cNvSpPr/>
          <p:nvPr/>
        </p:nvSpPr>
        <p:spPr>
          <a:xfrm>
            <a:off y="5113746" x="2341000"/>
            <a:ext cy="340308" cx="536328"/>
          </a:xfrm>
          <a:prstGeom prst="cloud">
            <a:avLst/>
          </a:prstGeom>
          <a:solidFill>
            <a:srgbClr val="9FC5E8"/>
          </a:solidFill>
          <a:ln w="19050" cap="flat">
            <a:solidFill>
              <a:srgbClr val="073763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42" name="Shape 142"/>
          <p:cNvSpPr/>
          <p:nvPr/>
        </p:nvSpPr>
        <p:spPr>
          <a:xfrm>
            <a:off y="5701571" x="2341000"/>
            <a:ext cy="340308" cx="536328"/>
          </a:xfrm>
          <a:prstGeom prst="cloud">
            <a:avLst/>
          </a:prstGeom>
          <a:solidFill>
            <a:srgbClr val="9FC5E8"/>
          </a:solidFill>
          <a:ln w="19050" cap="flat">
            <a:solidFill>
              <a:srgbClr val="073763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43" name="Shape 143"/>
          <p:cNvSpPr/>
          <p:nvPr/>
        </p:nvSpPr>
        <p:spPr>
          <a:xfrm>
            <a:off y="5630775" x="3166025"/>
            <a:ext cy="433200" cx="412500"/>
          </a:xfrm>
          <a:prstGeom prst="moon">
            <a:avLst>
              <a:gd fmla="val 50000" name="adj"/>
            </a:avLst>
          </a:prstGeom>
          <a:solidFill>
            <a:srgbClr val="A51966">
              <a:alpha val="43530"/>
            </a:srgbClr>
          </a:solidFill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47" name="Shape 14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48" name="Shape 148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algn="ctr" rtl="0" lvl="0">
              <a:buNone/>
            </a:pPr>
            <a:r>
              <a:rPr lang="en">
                <a:solidFill>
                  <a:srgbClr val="741B47"/>
                </a:solidFill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cxnSp>
        <p:nvCxnSpPr>
          <p:cNvPr id="149" name="Shape 149"/>
          <p:cNvCxnSpPr/>
          <p:nvPr/>
        </p:nvCxnSpPr>
        <p:spPr>
          <a:xfrm>
            <a:off y="1429375" x="927575"/>
            <a:ext cy="0" cx="7618200"/>
          </a:xfrm>
          <a:prstGeom prst="straightConnector1">
            <a:avLst/>
          </a:prstGeom>
          <a:noFill/>
          <a:ln w="19050" cap="flat">
            <a:solidFill>
              <a:srgbClr val="CCCCCC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150" name="Shape 150"/>
          <p:cNvSpPr/>
          <p:nvPr/>
        </p:nvSpPr>
        <p:spPr>
          <a:xfrm>
            <a:off y="2029325" x="2818054"/>
            <a:ext cy="4401559" cx="5868745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151" name="Shape 151"/>
          <p:cNvSpPr txBox="1"/>
          <p:nvPr/>
        </p:nvSpPr>
        <p:spPr>
          <a:xfrm>
            <a:off y="2062578" x="323254"/>
            <a:ext cy="3732599" cx="2412299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>
            <a:pPr rtl="0" lvl="0">
              <a:lnSpc>
                <a:spcPct val="200000"/>
              </a:lnSpc>
              <a:buNone/>
            </a:pPr>
            <a:r>
              <a:rPr sz="1800" lang="en"/>
              <a:t>Voting algorithm</a:t>
            </a:r>
          </a:p>
          <a:p>
            <a:r>
              <a:t/>
            </a:r>
          </a:p>
          <a:p>
            <a:pPr rtl="0" lvl="0">
              <a:lnSpc>
                <a:spcPct val="115000"/>
              </a:lnSpc>
              <a:buNone/>
            </a:pPr>
            <a:r>
              <a:rPr sz="1800" lang="en"/>
              <a:t>Use randomly chosen images for training/ testing.</a:t>
            </a:r>
          </a:p>
          <a:p>
            <a:r>
              <a:t/>
            </a:r>
          </a:p>
          <a:p>
            <a:pPr rtl="0" lvl="0" indent="457200" marL="457200">
              <a:lnSpc>
                <a:spcPct val="200000"/>
              </a:lnSpc>
              <a:buNone/>
            </a:pPr>
            <a:r>
              <a:rPr sz="1800" lang="en"/>
              <a:t>    Results:</a:t>
            </a:r>
          </a:p>
        </p:txBody>
      </p:sp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55" name="Shape 15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56" name="Shape 156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algn="ctr" rtl="0" lvl="0">
              <a:buNone/>
            </a:pPr>
            <a:r>
              <a:rPr lang="en">
                <a:solidFill>
                  <a:srgbClr val="741B47"/>
                </a:solidFill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cxnSp>
        <p:nvCxnSpPr>
          <p:cNvPr id="157" name="Shape 157"/>
          <p:cNvCxnSpPr/>
          <p:nvPr/>
        </p:nvCxnSpPr>
        <p:spPr>
          <a:xfrm>
            <a:off y="1429375" x="927575"/>
            <a:ext cy="0" cx="7618200"/>
          </a:xfrm>
          <a:prstGeom prst="straightConnector1">
            <a:avLst/>
          </a:prstGeom>
          <a:noFill/>
          <a:ln w="19050" cap="flat">
            <a:solidFill>
              <a:srgbClr val="CCCCCC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158" name="Shape 158"/>
          <p:cNvSpPr/>
          <p:nvPr/>
        </p:nvSpPr>
        <p:spPr>
          <a:xfrm>
            <a:off y="1546812" x="457200"/>
            <a:ext cy="5205444" cx="703696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62" name="Shape 16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63" name="Shape 163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algn="ctr" rtl="0" lvl="0">
              <a:buNone/>
            </a:pPr>
            <a:r>
              <a:rPr lang="en">
                <a:solidFill>
                  <a:srgbClr val="741B47"/>
                </a:solidFill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cxnSp>
        <p:nvCxnSpPr>
          <p:cNvPr id="164" name="Shape 164"/>
          <p:cNvCxnSpPr/>
          <p:nvPr/>
        </p:nvCxnSpPr>
        <p:spPr>
          <a:xfrm>
            <a:off y="1429375" x="927575"/>
            <a:ext cy="0" cx="7618200"/>
          </a:xfrm>
          <a:prstGeom prst="straightConnector1">
            <a:avLst/>
          </a:prstGeom>
          <a:noFill/>
          <a:ln w="19050" cap="flat">
            <a:solidFill>
              <a:srgbClr val="CCCCCC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165" name="Shape 165"/>
          <p:cNvSpPr/>
          <p:nvPr/>
        </p:nvSpPr>
        <p:spPr>
          <a:xfrm>
            <a:off y="1429375" x="198262"/>
            <a:ext cy="3009398" cx="4546436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66" name="Shape 166"/>
          <p:cNvSpPr/>
          <p:nvPr/>
        </p:nvSpPr>
        <p:spPr>
          <a:xfrm>
            <a:off y="3453246" x="4329129"/>
            <a:ext cy="3229040" cx="459655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167" name="Shape 167"/>
          <p:cNvSpPr/>
          <p:nvPr/>
        </p:nvSpPr>
        <p:spPr>
          <a:xfrm>
            <a:off y="5496925" x="130593"/>
            <a:ext cy="1118550" cx="414037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71" name="Shape 17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72" name="Shape 172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algn="ctr">
              <a:buNone/>
            </a:pPr>
            <a:r>
              <a:rPr lang="en">
                <a:solidFill>
                  <a:srgbClr val="741B47"/>
                </a:solidFill>
                <a:latin typeface="Ubuntu"/>
                <a:ea typeface="Ubuntu"/>
                <a:cs typeface="Ubuntu"/>
                <a:sym typeface="Ubuntu"/>
              </a:rPr>
              <a:t>CENTRIST descriptor - 4 line</a:t>
            </a:r>
          </a:p>
        </p:txBody>
      </p:sp>
      <p:sp>
        <p:nvSpPr>
          <p:cNvPr id="173" name="Shape 173"/>
          <p:cNvSpPr/>
          <p:nvPr/>
        </p:nvSpPr>
        <p:spPr>
          <a:xfrm>
            <a:off y="1860987" x="222525"/>
            <a:ext cy="4377660" cx="414265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74" name="Shape 174"/>
          <p:cNvSpPr/>
          <p:nvPr/>
        </p:nvSpPr>
        <p:spPr>
          <a:xfrm>
            <a:off y="1860987" x="4650849"/>
            <a:ext cy="4184065" cx="4146775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  <p:cxnSp>
        <p:nvCxnSpPr>
          <p:cNvPr id="175" name="Shape 175"/>
          <p:cNvCxnSpPr/>
          <p:nvPr/>
        </p:nvCxnSpPr>
        <p:spPr>
          <a:xfrm>
            <a:off y="1429375" x="927575"/>
            <a:ext cy="0" cx="7618200"/>
          </a:xfrm>
          <a:prstGeom prst="straightConnector1">
            <a:avLst/>
          </a:prstGeom>
          <a:noFill/>
          <a:ln w="19050" cap="flat">
            <a:solidFill>
              <a:srgbClr val="CCCCCC"/>
            </a:solidFill>
            <a:prstDash val="solid"/>
            <a:round/>
            <a:headEnd w="lg" len="lg" type="none"/>
            <a:tailEnd w="lg" len="lg" type="none"/>
          </a:ln>
        </p:spPr>
      </p:cxnSp>
    </p:spTree>
  </p:cSld>
  <p:clrMapOvr>
    <a:masterClrMapping/>
  </p:clrMapOvr>
  <p:transition spd="slow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79" name="Shape 17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80" name="Shape 180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algn="ctr">
              <a:buNone/>
            </a:pPr>
            <a:r>
              <a:rPr lang="en">
                <a:solidFill>
                  <a:srgbClr val="741B47"/>
                </a:solidFill>
                <a:latin typeface="Ubuntu"/>
                <a:ea typeface="Ubuntu"/>
                <a:cs typeface="Ubuntu"/>
                <a:sym typeface="Ubuntu"/>
              </a:rPr>
              <a:t>Color Histogram</a:t>
            </a:r>
          </a:p>
        </p:txBody>
      </p:sp>
      <p:sp>
        <p:nvSpPr>
          <p:cNvPr id="181" name="Shape 181"/>
          <p:cNvSpPr txBox="1"/>
          <p:nvPr>
            <p:ph idx="1" type="body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1800" lang="en"/>
              <a:t>Manually calculates a count for:</a:t>
            </a:r>
          </a:p>
          <a:p>
            <a:pPr rtl="0" lvl="0" indent="-342900" marL="457200">
              <a:buClr>
                <a:srgbClr val="A64D79"/>
              </a:buClr>
              <a:buSzPct val="166666"/>
              <a:buFont typeface="Arial"/>
              <a:buChar char="•"/>
            </a:pPr>
            <a:r>
              <a:rPr sz="1800" lang="en">
                <a:solidFill>
                  <a:srgbClr val="A64D79"/>
                </a:solidFill>
              </a:rPr>
              <a:t>red</a:t>
            </a:r>
          </a:p>
          <a:p>
            <a:pPr rtl="0" lvl="0" indent="-342900" marL="457200">
              <a:buClr>
                <a:srgbClr val="A64D79"/>
              </a:buClr>
              <a:buSzPct val="166666"/>
              <a:buFont typeface="Arial"/>
              <a:buChar char="•"/>
            </a:pPr>
            <a:r>
              <a:rPr sz="1800" lang="en">
                <a:solidFill>
                  <a:srgbClr val="A64D79"/>
                </a:solidFill>
              </a:rPr>
              <a:t>yellow</a:t>
            </a:r>
          </a:p>
          <a:p>
            <a:pPr rtl="0" lvl="0" indent="-342900" marL="457200">
              <a:buClr>
                <a:srgbClr val="A64D79"/>
              </a:buClr>
              <a:buSzPct val="166666"/>
              <a:buFont typeface="Arial"/>
              <a:buChar char="•"/>
            </a:pPr>
            <a:r>
              <a:rPr sz="1800" lang="en">
                <a:solidFill>
                  <a:srgbClr val="A64D79"/>
                </a:solidFill>
              </a:rPr>
              <a:t>green</a:t>
            </a:r>
          </a:p>
          <a:p>
            <a:pPr rtl="0" lvl="0" indent="-342900" marL="457200">
              <a:buClr>
                <a:srgbClr val="A64D79"/>
              </a:buClr>
              <a:buSzPct val="166666"/>
              <a:buFont typeface="Arial"/>
              <a:buChar char="•"/>
            </a:pPr>
            <a:r>
              <a:rPr sz="1800" lang="en">
                <a:solidFill>
                  <a:srgbClr val="A64D79"/>
                </a:solidFill>
              </a:rPr>
              <a:t>cyan</a:t>
            </a:r>
          </a:p>
          <a:p>
            <a:pPr rtl="0" lvl="0" indent="-342900" marL="457200">
              <a:buClr>
                <a:srgbClr val="A64D79"/>
              </a:buClr>
              <a:buSzPct val="166666"/>
              <a:buFont typeface="Arial"/>
              <a:buChar char="•"/>
            </a:pPr>
            <a:r>
              <a:rPr sz="1800" lang="en">
                <a:solidFill>
                  <a:srgbClr val="A64D79"/>
                </a:solidFill>
              </a:rPr>
              <a:t>blue</a:t>
            </a:r>
          </a:p>
          <a:p>
            <a:pPr rtl="0" lvl="0" indent="-342900" marL="457200">
              <a:buClr>
                <a:srgbClr val="A64D79"/>
              </a:buClr>
              <a:buSzPct val="166666"/>
              <a:buFont typeface="Arial"/>
              <a:buChar char="•"/>
            </a:pPr>
            <a:r>
              <a:rPr sz="1800" lang="en">
                <a:solidFill>
                  <a:srgbClr val="A64D79"/>
                </a:solidFill>
              </a:rPr>
              <a:t>magenta</a:t>
            </a:r>
          </a:p>
          <a:p>
            <a:pPr rtl="0" lvl="0" indent="-342900" marL="457200">
              <a:buClr>
                <a:srgbClr val="A64D79"/>
              </a:buClr>
              <a:buSzPct val="166666"/>
              <a:buFont typeface="Arial"/>
              <a:buChar char="•"/>
            </a:pPr>
            <a:r>
              <a:rPr sz="1800" lang="en">
                <a:solidFill>
                  <a:srgbClr val="A64D79"/>
                </a:solidFill>
              </a:rPr>
              <a:t>white</a:t>
            </a:r>
          </a:p>
          <a:p>
            <a:pPr rtl="0" lvl="0" indent="-342900" marL="457200">
              <a:buClr>
                <a:srgbClr val="A64D79"/>
              </a:buClr>
              <a:buSzPct val="166666"/>
              <a:buFont typeface="Arial"/>
              <a:buChar char="•"/>
            </a:pPr>
            <a:r>
              <a:rPr sz="1800" lang="en">
                <a:solidFill>
                  <a:srgbClr val="A64D79"/>
                </a:solidFill>
              </a:rPr>
              <a:t>black</a:t>
            </a:r>
          </a:p>
          <a:p>
            <a:pPr rtl="0" lvl="0">
              <a:buNone/>
            </a:pPr>
            <a:r>
              <a:rPr sz="1800" lang="en"/>
              <a:t>through HSV color space</a:t>
            </a:r>
          </a:p>
          <a:p>
            <a:r>
              <a:t/>
            </a:r>
          </a:p>
          <a:p>
            <a:pPr lvl="0">
              <a:buNone/>
            </a:pPr>
            <a:r>
              <a:rPr sz="1800" lang="en"/>
              <a:t>[1x8 feature vector]</a:t>
            </a:r>
          </a:p>
        </p:txBody>
      </p:sp>
      <p:cxnSp>
        <p:nvCxnSpPr>
          <p:cNvPr id="182" name="Shape 182"/>
          <p:cNvCxnSpPr/>
          <p:nvPr/>
        </p:nvCxnSpPr>
        <p:spPr>
          <a:xfrm>
            <a:off y="1429375" x="927575"/>
            <a:ext cy="0" cx="7618200"/>
          </a:xfrm>
          <a:prstGeom prst="straightConnector1">
            <a:avLst/>
          </a:prstGeom>
          <a:noFill/>
          <a:ln w="19050" cap="flat">
            <a:solidFill>
              <a:srgbClr val="CCCCCC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183" name="Shape 183"/>
          <p:cNvSpPr/>
          <p:nvPr/>
        </p:nvSpPr>
        <p:spPr>
          <a:xfrm>
            <a:off y="1486722" x="4048812"/>
            <a:ext cy="1656857" cx="1652804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84" name="Shape 184"/>
          <p:cNvSpPr/>
          <p:nvPr/>
        </p:nvSpPr>
        <p:spPr>
          <a:xfrm>
            <a:off y="1484787" x="6152398"/>
            <a:ext cy="1660727" cx="2176305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185" name="Shape 185"/>
          <p:cNvSpPr/>
          <p:nvPr/>
        </p:nvSpPr>
        <p:spPr>
          <a:xfrm>
            <a:off y="3319233" x="4048812"/>
            <a:ext cy="1649541" cx="1648668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</p:sp>
      <p:sp>
        <p:nvSpPr>
          <p:cNvPr id="186" name="Shape 186"/>
          <p:cNvSpPr/>
          <p:nvPr/>
        </p:nvSpPr>
        <p:spPr>
          <a:xfrm>
            <a:off y="3283546" x="6172426"/>
            <a:ext cy="1601006" cx="2136250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</p:sp>
      <p:sp>
        <p:nvSpPr>
          <p:cNvPr id="187" name="Shape 187"/>
          <p:cNvSpPr/>
          <p:nvPr/>
        </p:nvSpPr>
        <p:spPr>
          <a:xfrm>
            <a:off y="5138183" x="4078791"/>
            <a:ext cy="1579422" cx="1588711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</p:sp>
      <p:sp>
        <p:nvSpPr>
          <p:cNvPr id="188" name="Shape 188"/>
          <p:cNvSpPr/>
          <p:nvPr/>
        </p:nvSpPr>
        <p:spPr>
          <a:xfrm>
            <a:off y="5105182" x="6135397"/>
            <a:ext cy="1645425" cx="2210307"/>
          </a:xfrm>
          <a:prstGeom prst="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</p:sp>
      <p:cxnSp>
        <p:nvCxnSpPr>
          <p:cNvPr id="189" name="Shape 189"/>
          <p:cNvCxnSpPr/>
          <p:nvPr/>
        </p:nvCxnSpPr>
        <p:spPr>
          <a:xfrm rot="10800000" flipH="1">
            <a:off y="3232575" x="4866150"/>
            <a:ext cy="1199" cx="2331300"/>
          </a:xfrm>
          <a:prstGeom prst="straightConnector1">
            <a:avLst/>
          </a:prstGeom>
          <a:noFill/>
          <a:ln w="19050" cap="flat">
            <a:solidFill>
              <a:srgbClr val="CCCCCC"/>
            </a:solidFill>
            <a:prstDash val="solid"/>
            <a:round/>
            <a:headEnd w="lg" len="lg" type="none"/>
            <a:tailEnd w="lg" len="lg" type="none"/>
          </a:ln>
        </p:spPr>
      </p:cxnSp>
      <p:cxnSp>
        <p:nvCxnSpPr>
          <p:cNvPr id="190" name="Shape 190"/>
          <p:cNvCxnSpPr/>
          <p:nvPr/>
        </p:nvCxnSpPr>
        <p:spPr>
          <a:xfrm rot="10800000" flipH="1">
            <a:off y="5028050" x="4947125"/>
            <a:ext cy="1199" cx="2331300"/>
          </a:xfrm>
          <a:prstGeom prst="straightConnector1">
            <a:avLst/>
          </a:prstGeom>
          <a:noFill/>
          <a:ln w="19050" cap="flat">
            <a:solidFill>
              <a:srgbClr val="CCCCCC"/>
            </a:solidFill>
            <a:prstDash val="solid"/>
            <a:round/>
            <a:headEnd w="lg" len="lg" type="none"/>
            <a:tailEnd w="lg" len="lg" type="none"/>
          </a:ln>
        </p:spPr>
      </p:cxnSp>
    </p:spTree>
  </p:cSld>
  <p:clrMapOvr>
    <a:masterClrMapping/>
  </p:clrMapOvr>
  <p:transition spd="slow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94" name="Shape 19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95" name="Shape 195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algn="ctr">
              <a:buNone/>
            </a:pPr>
            <a:r>
              <a:rPr lang="en">
                <a:solidFill>
                  <a:srgbClr val="741B47"/>
                </a:solidFill>
                <a:latin typeface="Ubuntu"/>
                <a:ea typeface="Ubuntu"/>
                <a:cs typeface="Ubuntu"/>
                <a:sym typeface="Ubuntu"/>
              </a:rPr>
              <a:t>Color Histogram</a:t>
            </a:r>
          </a:p>
        </p:txBody>
      </p:sp>
      <p:cxnSp>
        <p:nvCxnSpPr>
          <p:cNvPr id="196" name="Shape 196"/>
          <p:cNvCxnSpPr/>
          <p:nvPr/>
        </p:nvCxnSpPr>
        <p:spPr>
          <a:xfrm>
            <a:off y="1429375" x="927575"/>
            <a:ext cy="0" cx="7618200"/>
          </a:xfrm>
          <a:prstGeom prst="straightConnector1">
            <a:avLst/>
          </a:prstGeom>
          <a:noFill/>
          <a:ln w="19050" cap="flat">
            <a:solidFill>
              <a:srgbClr val="CCCCCC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197" name="Shape 197"/>
          <p:cNvSpPr txBox="1"/>
          <p:nvPr/>
        </p:nvSpPr>
        <p:spPr>
          <a:xfrm>
            <a:off y="1558650" x="525800"/>
            <a:ext cy="457200" cx="36576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lang="en"/>
              <a:t>8 neurons in hidden layer</a:t>
            </a:r>
          </a:p>
        </p:txBody>
      </p:sp>
      <p:sp>
        <p:nvSpPr>
          <p:cNvPr id="198" name="Shape 198"/>
          <p:cNvSpPr/>
          <p:nvPr/>
        </p:nvSpPr>
        <p:spPr>
          <a:xfrm>
            <a:off y="2015850" x="4776376"/>
            <a:ext cy="4072646" cx="391042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99" name="Shape 199"/>
          <p:cNvSpPr/>
          <p:nvPr/>
        </p:nvSpPr>
        <p:spPr>
          <a:xfrm>
            <a:off y="2015850" x="355925"/>
            <a:ext cy="4094002" cx="4138493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  <p:transition spd="slow">
    <p:cut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03" name="Shape 20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04" name="Shape 204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algn="ctr">
              <a:buNone/>
            </a:pPr>
            <a:r>
              <a:rPr lang="en">
                <a:solidFill>
                  <a:srgbClr val="741B47"/>
                </a:solidFill>
                <a:latin typeface="Ubuntu"/>
                <a:ea typeface="Ubuntu"/>
                <a:cs typeface="Ubuntu"/>
                <a:sym typeface="Ubuntu"/>
              </a:rPr>
              <a:t>Hybrid: Gabor + CENTRIST</a:t>
            </a:r>
          </a:p>
        </p:txBody>
      </p:sp>
      <p:sp>
        <p:nvSpPr>
          <p:cNvPr id="205" name="Shape 205"/>
          <p:cNvSpPr/>
          <p:nvPr/>
        </p:nvSpPr>
        <p:spPr>
          <a:xfrm>
            <a:off y="1802931" x="540325"/>
            <a:ext cy="3252136" cx="3223165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206" name="Shape 206"/>
          <p:cNvSpPr/>
          <p:nvPr/>
        </p:nvSpPr>
        <p:spPr>
          <a:xfrm>
            <a:off y="3401300" x="5219696"/>
            <a:ext cy="3249219" cx="3217729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207" name="Shape 207"/>
          <p:cNvSpPr/>
          <p:nvPr/>
        </p:nvSpPr>
        <p:spPr>
          <a:xfrm>
            <a:off y="3172700" x="4191000"/>
            <a:ext cy="637200" cx="762000"/>
          </a:xfrm>
          <a:prstGeom prst="heart">
            <a:avLst/>
          </a:prstGeom>
          <a:solidFill>
            <a:srgbClr val="C27BA0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208" name="Shape 208"/>
          <p:cNvSpPr/>
          <p:nvPr/>
        </p:nvSpPr>
        <p:spPr>
          <a:xfrm>
            <a:off y="2937175" x="1752600"/>
            <a:ext cy="415500" cx="408599"/>
          </a:xfrm>
          <a:prstGeom prst="ellipse">
            <a:avLst/>
          </a:prstGeom>
          <a:noFill/>
          <a:ln w="19050" cap="flat">
            <a:solidFill>
              <a:srgbClr val="CC0000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209" name="Shape 209"/>
          <p:cNvSpPr/>
          <p:nvPr/>
        </p:nvSpPr>
        <p:spPr>
          <a:xfrm>
            <a:off y="4558150" x="6414650"/>
            <a:ext cy="415500" cx="408599"/>
          </a:xfrm>
          <a:prstGeom prst="ellipse">
            <a:avLst/>
          </a:prstGeom>
          <a:noFill/>
          <a:ln w="19050" cap="flat">
            <a:solidFill>
              <a:srgbClr val="CC0000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210" name="Shape 210"/>
          <p:cNvSpPr/>
          <p:nvPr/>
        </p:nvSpPr>
        <p:spPr>
          <a:xfrm>
            <a:off y="1995050" x="796625"/>
            <a:ext cy="415500" cx="408599"/>
          </a:xfrm>
          <a:prstGeom prst="ellipse">
            <a:avLst/>
          </a:prstGeom>
          <a:noFill/>
          <a:ln w="19050" cap="flat">
            <a:solidFill>
              <a:srgbClr val="1155CC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211" name="Shape 211"/>
          <p:cNvSpPr/>
          <p:nvPr/>
        </p:nvSpPr>
        <p:spPr>
          <a:xfrm>
            <a:off y="3588325" x="5479450"/>
            <a:ext cy="415500" cx="408599"/>
          </a:xfrm>
          <a:prstGeom prst="ellipse">
            <a:avLst/>
          </a:prstGeom>
          <a:noFill/>
          <a:ln w="19050" cap="flat">
            <a:solidFill>
              <a:srgbClr val="1155CC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212" name="Shape 212"/>
          <p:cNvSpPr/>
          <p:nvPr/>
        </p:nvSpPr>
        <p:spPr>
          <a:xfrm>
            <a:off y="2479950" x="1274600"/>
            <a:ext cy="415500" cx="408599"/>
          </a:xfrm>
          <a:prstGeom prst="ellipse">
            <a:avLst/>
          </a:prstGeom>
          <a:noFill/>
          <a:ln w="19050" cap="flat">
            <a:solidFill>
              <a:srgbClr val="38761D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213" name="Shape 213"/>
          <p:cNvSpPr/>
          <p:nvPr/>
        </p:nvSpPr>
        <p:spPr>
          <a:xfrm>
            <a:off y="4052450" x="5950500"/>
            <a:ext cy="415500" cx="408599"/>
          </a:xfrm>
          <a:prstGeom prst="ellipse">
            <a:avLst/>
          </a:prstGeom>
          <a:noFill/>
          <a:ln w="19050" cap="flat">
            <a:solidFill>
              <a:srgbClr val="38761D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214" name="Shape 214"/>
          <p:cNvSpPr/>
          <p:nvPr/>
        </p:nvSpPr>
        <p:spPr>
          <a:xfrm>
            <a:off y="3900050" x="2680850"/>
            <a:ext cy="415500" cx="408599"/>
          </a:xfrm>
          <a:prstGeom prst="ellipse">
            <a:avLst/>
          </a:prstGeom>
          <a:noFill/>
          <a:ln w="19050" cap="flat">
            <a:solidFill>
              <a:srgbClr val="E69138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215" name="Shape 215"/>
          <p:cNvSpPr/>
          <p:nvPr/>
        </p:nvSpPr>
        <p:spPr>
          <a:xfrm>
            <a:off y="5465625" x="7356750"/>
            <a:ext cy="415500" cx="408599"/>
          </a:xfrm>
          <a:prstGeom prst="ellipse">
            <a:avLst/>
          </a:prstGeom>
          <a:noFill/>
          <a:ln w="19050" cap="flat">
            <a:solidFill>
              <a:srgbClr val="E69138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216" name="Shape 216"/>
          <p:cNvSpPr txBox="1"/>
          <p:nvPr/>
        </p:nvSpPr>
        <p:spPr>
          <a:xfrm>
            <a:off y="1802931" x="5339235"/>
            <a:ext cy="1226099" cx="22998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Expected improvements:</a:t>
            </a:r>
          </a:p>
          <a:p>
            <a:pPr rtl="0" lvl="0" indent="-317500" marL="457200">
              <a:buClr>
                <a:srgbClr val="000000"/>
              </a:buClr>
              <a:buSzPct val="166666"/>
              <a:buFont typeface="Arial"/>
              <a:buChar char="•"/>
            </a:pPr>
            <a:r>
              <a:rPr lang="en">
                <a:solidFill>
                  <a:srgbClr val="741B47"/>
                </a:solidFill>
              </a:rPr>
              <a:t>coast</a:t>
            </a:r>
          </a:p>
          <a:p>
            <a:pPr rtl="0" lvl="0" indent="-317500" marL="457200">
              <a:buClr>
                <a:srgbClr val="000000"/>
              </a:buClr>
              <a:buSzPct val="166666"/>
              <a:buFont typeface="Arial"/>
              <a:buChar char="•"/>
            </a:pPr>
            <a:r>
              <a:rPr lang="en">
                <a:solidFill>
                  <a:srgbClr val="741B47"/>
                </a:solidFill>
              </a:rPr>
              <a:t>forest</a:t>
            </a:r>
          </a:p>
          <a:p>
            <a:pPr rtl="0" lvl="0" indent="-317500" marL="457200">
              <a:buClr>
                <a:srgbClr val="000000"/>
              </a:buClr>
              <a:buSzPct val="166666"/>
              <a:buFont typeface="Arial"/>
              <a:buChar char="•"/>
            </a:pPr>
            <a:r>
              <a:rPr lang="en">
                <a:solidFill>
                  <a:srgbClr val="741B47"/>
                </a:solidFill>
              </a:rPr>
              <a:t>highway</a:t>
            </a:r>
          </a:p>
          <a:p>
            <a:pPr lvl="0" indent="-317500" marL="457200">
              <a:buClr>
                <a:srgbClr val="000000"/>
              </a:buClr>
              <a:buSzPct val="166666"/>
              <a:buFont typeface="Arial"/>
              <a:buChar char="•"/>
            </a:pPr>
            <a:r>
              <a:rPr lang="en">
                <a:solidFill>
                  <a:srgbClr val="741B47"/>
                </a:solidFill>
              </a:rPr>
              <a:t>tall building</a:t>
            </a:r>
          </a:p>
        </p:txBody>
      </p:sp>
      <p:cxnSp>
        <p:nvCxnSpPr>
          <p:cNvPr id="217" name="Shape 217"/>
          <p:cNvCxnSpPr/>
          <p:nvPr/>
        </p:nvCxnSpPr>
        <p:spPr>
          <a:xfrm>
            <a:off y="1429375" x="927575"/>
            <a:ext cy="0" cx="7618200"/>
          </a:xfrm>
          <a:prstGeom prst="straightConnector1">
            <a:avLst/>
          </a:prstGeom>
          <a:noFill/>
          <a:ln w="19050" cap="flat">
            <a:solidFill>
              <a:srgbClr val="CCCCCC"/>
            </a:solidFill>
            <a:prstDash val="solid"/>
            <a:round/>
            <a:headEnd w="lg" len="lg" type="none"/>
            <a:tailEnd w="lg" len="lg" type="none"/>
          </a:ln>
        </p:spPr>
      </p:cxnSp>
    </p:spTree>
  </p:cSld>
  <p:clrMapOvr>
    <a:masterClrMapping/>
  </p:clrMapOvr>
  <p:transition spd="slow">
    <p:cut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21" name="Shape 22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22" name="Shape 222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algn="ctr">
              <a:buNone/>
            </a:pPr>
            <a:r>
              <a:rPr lang="en">
                <a:solidFill>
                  <a:srgbClr val="741B47"/>
                </a:solidFill>
                <a:latin typeface="Ubuntu"/>
                <a:ea typeface="Ubuntu"/>
                <a:cs typeface="Ubuntu"/>
                <a:sym typeface="Ubuntu"/>
              </a:rPr>
              <a:t>Hybrid: Gabor + CENTRIST</a:t>
            </a:r>
          </a:p>
        </p:txBody>
      </p:sp>
      <p:sp>
        <p:nvSpPr>
          <p:cNvPr id="223" name="Shape 223"/>
          <p:cNvSpPr/>
          <p:nvPr/>
        </p:nvSpPr>
        <p:spPr>
          <a:xfrm>
            <a:off y="1652150" x="190525"/>
            <a:ext cy="4107883" cx="390358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224" name="Shape 224"/>
          <p:cNvSpPr/>
          <p:nvPr/>
        </p:nvSpPr>
        <p:spPr>
          <a:xfrm>
            <a:off y="1713446" x="4748650"/>
            <a:ext cy="3985290" cx="3880929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  <p:cxnSp>
        <p:nvCxnSpPr>
          <p:cNvPr id="225" name="Shape 225"/>
          <p:cNvCxnSpPr/>
          <p:nvPr/>
        </p:nvCxnSpPr>
        <p:spPr>
          <a:xfrm>
            <a:off y="1429375" x="927575"/>
            <a:ext cy="0" cx="7618200"/>
          </a:xfrm>
          <a:prstGeom prst="straightConnector1">
            <a:avLst/>
          </a:prstGeom>
          <a:noFill/>
          <a:ln w="19050" cap="flat">
            <a:solidFill>
              <a:srgbClr val="CCCCCC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226" name="Shape 226"/>
          <p:cNvSpPr txBox="1"/>
          <p:nvPr/>
        </p:nvSpPr>
        <p:spPr>
          <a:xfrm>
            <a:off y="6005950" x="3660650"/>
            <a:ext cy="457200" cx="36576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b="1" sz="1800" lang="en" i="1">
                <a:solidFill>
                  <a:srgbClr val="A64D79"/>
                </a:solidFill>
              </a:rPr>
              <a:t>93.3 % accuracy</a:t>
            </a:r>
          </a:p>
        </p:txBody>
      </p:sp>
    </p:spTree>
  </p:cSld>
  <p:clrMapOvr>
    <a:masterClrMapping/>
  </p:clrMapOvr>
  <p:transition spd="slow">
    <p:cut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30" name="Shape 23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31" name="Shape 231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algn="ctr">
              <a:buNone/>
            </a:pPr>
            <a:r>
              <a:rPr lang="en">
                <a:solidFill>
                  <a:srgbClr val="741B47"/>
                </a:solidFill>
                <a:latin typeface="Ubuntu"/>
                <a:ea typeface="Ubuntu"/>
                <a:cs typeface="Ubuntu"/>
                <a:sym typeface="Ubuntu"/>
              </a:rPr>
              <a:t>Hybrid: Gabor + Color Histogram</a:t>
            </a:r>
          </a:p>
        </p:txBody>
      </p:sp>
      <p:sp>
        <p:nvSpPr>
          <p:cNvPr id="232" name="Shape 232"/>
          <p:cNvSpPr/>
          <p:nvPr/>
        </p:nvSpPr>
        <p:spPr>
          <a:xfrm>
            <a:off y="1802931" x="540325"/>
            <a:ext cy="3252136" cx="3223165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233" name="Shape 233"/>
          <p:cNvSpPr/>
          <p:nvPr/>
        </p:nvSpPr>
        <p:spPr>
          <a:xfrm rot="10622646">
            <a:off y="3338961" x="4190943"/>
            <a:ext cy="637155" cx="762113"/>
          </a:xfrm>
          <a:prstGeom prst="heart">
            <a:avLst/>
          </a:prstGeom>
          <a:solidFill>
            <a:srgbClr val="999999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234" name="Shape 234"/>
          <p:cNvSpPr txBox="1"/>
          <p:nvPr/>
        </p:nvSpPr>
        <p:spPr>
          <a:xfrm>
            <a:off y="1802931" x="5339235"/>
            <a:ext cy="1226099" cx="22998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Expected improvements:</a:t>
            </a:r>
          </a:p>
          <a:p>
            <a:pPr rtl="0" lvl="0" indent="-317500" marL="457200">
              <a:buClr>
                <a:srgbClr val="000000"/>
              </a:buClr>
              <a:buSzPct val="166666"/>
              <a:buFont typeface="Arial"/>
              <a:buChar char="•"/>
            </a:pPr>
            <a:r>
              <a:rPr lang="en">
                <a:solidFill>
                  <a:srgbClr val="741B47"/>
                </a:solidFill>
              </a:rPr>
              <a:t>none</a:t>
            </a:r>
          </a:p>
        </p:txBody>
      </p:sp>
      <p:sp>
        <p:nvSpPr>
          <p:cNvPr id="235" name="Shape 235"/>
          <p:cNvSpPr txBox="1"/>
          <p:nvPr/>
        </p:nvSpPr>
        <p:spPr>
          <a:xfrm>
            <a:off y="3328289" x="4395100"/>
            <a:ext cy="658500" cx="630899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>
            <a:pPr rtl="0" lvl="0">
              <a:buNone/>
            </a:pPr>
            <a:r>
              <a:rPr b="1" sz="3000"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?</a:t>
            </a:r>
          </a:p>
        </p:txBody>
      </p:sp>
      <p:cxnSp>
        <p:nvCxnSpPr>
          <p:cNvPr id="236" name="Shape 236"/>
          <p:cNvCxnSpPr/>
          <p:nvPr/>
        </p:nvCxnSpPr>
        <p:spPr>
          <a:xfrm>
            <a:off y="1429375" x="927575"/>
            <a:ext cy="0" cx="7618200"/>
          </a:xfrm>
          <a:prstGeom prst="straightConnector1">
            <a:avLst/>
          </a:prstGeom>
          <a:noFill/>
          <a:ln w="19050" cap="flat">
            <a:solidFill>
              <a:srgbClr val="CCCCCC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237" name="Shape 237"/>
          <p:cNvSpPr/>
          <p:nvPr/>
        </p:nvSpPr>
        <p:spPr>
          <a:xfrm>
            <a:off y="3181431" x="5339235"/>
            <a:ext cy="3421483" cx="328389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  <p:transition spd="slow">
    <p:cut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41" name="Shape 24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42" name="Shape 242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algn="ctr" rtl="0" lvl="0">
              <a:buNone/>
            </a:pPr>
            <a:r>
              <a:rPr lang="en">
                <a:solidFill>
                  <a:srgbClr val="741B47"/>
                </a:solidFill>
                <a:latin typeface="Ubuntu"/>
                <a:ea typeface="Ubuntu"/>
                <a:cs typeface="Ubuntu"/>
                <a:sym typeface="Ubuntu"/>
              </a:rPr>
              <a:t>Hybrid: Gabor + Color Histogram</a:t>
            </a:r>
          </a:p>
        </p:txBody>
      </p:sp>
      <p:cxnSp>
        <p:nvCxnSpPr>
          <p:cNvPr id="243" name="Shape 243"/>
          <p:cNvCxnSpPr/>
          <p:nvPr/>
        </p:nvCxnSpPr>
        <p:spPr>
          <a:xfrm>
            <a:off y="1429375" x="927575"/>
            <a:ext cy="0" cx="7618200"/>
          </a:xfrm>
          <a:prstGeom prst="straightConnector1">
            <a:avLst/>
          </a:prstGeom>
          <a:noFill/>
          <a:ln w="19050" cap="flat">
            <a:solidFill>
              <a:srgbClr val="CCCCCC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244" name="Shape 244"/>
          <p:cNvSpPr/>
          <p:nvPr/>
        </p:nvSpPr>
        <p:spPr>
          <a:xfrm>
            <a:off y="1824037" x="353300"/>
            <a:ext cy="4470710" cx="4232407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245" name="Shape 245"/>
          <p:cNvSpPr/>
          <p:nvPr/>
        </p:nvSpPr>
        <p:spPr>
          <a:xfrm>
            <a:off y="2175602" x="4930288"/>
            <a:ext cy="3767581" cx="3756511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246" name="Shape 246"/>
          <p:cNvSpPr/>
          <p:nvPr/>
        </p:nvSpPr>
        <p:spPr>
          <a:xfrm>
            <a:off y="2424550" x="5327050"/>
            <a:ext cy="415500" cx="408599"/>
          </a:xfrm>
          <a:prstGeom prst="ellipse">
            <a:avLst/>
          </a:prstGeom>
          <a:noFill/>
          <a:ln w="19050" cap="flat">
            <a:solidFill>
              <a:srgbClr val="38761D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247" name="Shape 247"/>
          <p:cNvSpPr/>
          <p:nvPr/>
        </p:nvSpPr>
        <p:spPr>
          <a:xfrm>
            <a:off y="3512125" x="6407700"/>
            <a:ext cy="415500" cx="408599"/>
          </a:xfrm>
          <a:prstGeom prst="ellipse">
            <a:avLst/>
          </a:prstGeom>
          <a:noFill/>
          <a:ln w="19050" cap="flat">
            <a:solidFill>
              <a:srgbClr val="38761D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248" name="Shape 248"/>
          <p:cNvSpPr/>
          <p:nvPr/>
        </p:nvSpPr>
        <p:spPr>
          <a:xfrm>
            <a:off y="4059375" x="6948050"/>
            <a:ext cy="415500" cx="408599"/>
          </a:xfrm>
          <a:prstGeom prst="ellipse">
            <a:avLst/>
          </a:prstGeom>
          <a:noFill/>
          <a:ln w="19050" cap="flat">
            <a:solidFill>
              <a:srgbClr val="38761D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249" name="Shape 249"/>
          <p:cNvSpPr/>
          <p:nvPr/>
        </p:nvSpPr>
        <p:spPr>
          <a:xfrm>
            <a:off y="2951000" x="5867375"/>
            <a:ext cy="415500" cx="408599"/>
          </a:xfrm>
          <a:prstGeom prst="ellipse">
            <a:avLst/>
          </a:prstGeom>
          <a:noFill/>
          <a:ln w="19050" cap="flat">
            <a:solidFill>
              <a:srgbClr val="CC0000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250" name="Shape 250"/>
          <p:cNvSpPr/>
          <p:nvPr/>
        </p:nvSpPr>
        <p:spPr>
          <a:xfrm>
            <a:off y="4592750" x="7509150"/>
            <a:ext cy="415500" cx="408599"/>
          </a:xfrm>
          <a:prstGeom prst="ellipse">
            <a:avLst/>
          </a:prstGeom>
          <a:noFill/>
          <a:ln w="19050" cap="flat">
            <a:solidFill>
              <a:srgbClr val="CC0000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251" name="Shape 251"/>
          <p:cNvSpPr txBox="1"/>
          <p:nvPr/>
        </p:nvSpPr>
        <p:spPr>
          <a:xfrm>
            <a:off y="1600200" x="4778844"/>
            <a:ext cy="457200" cx="42828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lang="en"/>
              <a:t>300 neurons: Some progress!  - 86% =&gt; 89.3%</a:t>
            </a:r>
          </a:p>
        </p:txBody>
      </p:sp>
    </p:spTree>
  </p:cSld>
  <p:clrMapOvr>
    <a:masterClrMapping/>
  </p:clrMapOvr>
  <p:transition spd="slow">
    <p:cut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55" name="Shape 25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56" name="Shape 256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algn="ctr" rtl="0" lvl="0">
              <a:buNone/>
            </a:pPr>
            <a:r>
              <a:rPr lang="en">
                <a:solidFill>
                  <a:srgbClr val="741B47"/>
                </a:solidFill>
                <a:latin typeface="Ubuntu"/>
                <a:ea typeface="Ubuntu"/>
                <a:cs typeface="Ubuntu"/>
                <a:sym typeface="Ubuntu"/>
              </a:rPr>
              <a:t>Hybrid: CENTRIST + Color Histogram</a:t>
            </a:r>
          </a:p>
        </p:txBody>
      </p:sp>
      <p:sp>
        <p:nvSpPr>
          <p:cNvPr id="257" name="Shape 257"/>
          <p:cNvSpPr/>
          <p:nvPr/>
        </p:nvSpPr>
        <p:spPr>
          <a:xfrm>
            <a:off y="1804390" x="373788"/>
            <a:ext cy="3498609" cx="3463936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258" name="Shape 258"/>
          <p:cNvSpPr/>
          <p:nvPr/>
        </p:nvSpPr>
        <p:spPr>
          <a:xfrm rot="10622646">
            <a:off y="3338961" x="4190943"/>
            <a:ext cy="637155" cx="762113"/>
          </a:xfrm>
          <a:prstGeom prst="heart">
            <a:avLst/>
          </a:prstGeom>
          <a:solidFill>
            <a:srgbClr val="999999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259" name="Shape 259"/>
          <p:cNvSpPr txBox="1"/>
          <p:nvPr/>
        </p:nvSpPr>
        <p:spPr>
          <a:xfrm>
            <a:off y="1802931" x="5339235"/>
            <a:ext cy="1226099" cx="22998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Expected improvements:</a:t>
            </a:r>
          </a:p>
          <a:p>
            <a:pPr rtl="0" lvl="0" indent="-317500" marL="457200">
              <a:buClr>
                <a:srgbClr val="000000"/>
              </a:buClr>
              <a:buSzPct val="166666"/>
              <a:buFont typeface="Arial"/>
              <a:buChar char="•"/>
            </a:pPr>
            <a:r>
              <a:rPr lang="en">
                <a:solidFill>
                  <a:srgbClr val="741B47"/>
                </a:solidFill>
              </a:rPr>
              <a:t>none</a:t>
            </a:r>
          </a:p>
        </p:txBody>
      </p:sp>
      <p:sp>
        <p:nvSpPr>
          <p:cNvPr id="260" name="Shape 260"/>
          <p:cNvSpPr txBox="1"/>
          <p:nvPr/>
        </p:nvSpPr>
        <p:spPr>
          <a:xfrm>
            <a:off y="3328289" x="4395100"/>
            <a:ext cy="658500" cx="630899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>
            <a:pPr rtl="0" lvl="0">
              <a:buNone/>
            </a:pPr>
            <a:r>
              <a:rPr b="1" sz="3000" lang="en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?</a:t>
            </a:r>
          </a:p>
        </p:txBody>
      </p:sp>
      <p:cxnSp>
        <p:nvCxnSpPr>
          <p:cNvPr id="261" name="Shape 261"/>
          <p:cNvCxnSpPr/>
          <p:nvPr/>
        </p:nvCxnSpPr>
        <p:spPr>
          <a:xfrm>
            <a:off y="1429375" x="927575"/>
            <a:ext cy="0" cx="7618200"/>
          </a:xfrm>
          <a:prstGeom prst="straightConnector1">
            <a:avLst/>
          </a:prstGeom>
          <a:noFill/>
          <a:ln w="19050" cap="flat">
            <a:solidFill>
              <a:srgbClr val="CCCCCC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262" name="Shape 262"/>
          <p:cNvSpPr/>
          <p:nvPr/>
        </p:nvSpPr>
        <p:spPr>
          <a:xfrm>
            <a:off y="3181431" x="5339235"/>
            <a:ext cy="3421483" cx="328389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  <p:transition spd="slow">
    <p:cut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66" name="Shape 26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67" name="Shape 267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algn="ctr" rtl="0" lvl="0">
              <a:buNone/>
            </a:pPr>
            <a:r>
              <a:rPr lang="en">
                <a:solidFill>
                  <a:srgbClr val="741B47"/>
                </a:solidFill>
                <a:latin typeface="Ubuntu"/>
                <a:ea typeface="Ubuntu"/>
                <a:cs typeface="Ubuntu"/>
                <a:sym typeface="Ubuntu"/>
              </a:rPr>
              <a:t>Hybrid: CENTRIST + Color Histogram</a:t>
            </a:r>
          </a:p>
        </p:txBody>
      </p:sp>
      <p:sp>
        <p:nvSpPr>
          <p:cNvPr id="268" name="Shape 268"/>
          <p:cNvSpPr txBox="1"/>
          <p:nvPr/>
        </p:nvSpPr>
        <p:spPr>
          <a:xfrm>
            <a:off y="1417637" x="4920700"/>
            <a:ext cy="457200" cx="39618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Clr>
                <a:srgbClr val="000000"/>
              </a:buClr>
              <a:buSzPct val="78571"/>
              <a:buFont typeface="Arial"/>
              <a:buNone/>
            </a:pPr>
            <a:r>
              <a:rPr lang="en"/>
              <a:t>80 neurons: Some progress!  - 86% =&gt; 89.3%</a:t>
            </a:r>
          </a:p>
          <a:p>
            <a:r>
              <a:t/>
            </a:r>
          </a:p>
        </p:txBody>
      </p:sp>
      <p:sp>
        <p:nvSpPr>
          <p:cNvPr id="269" name="Shape 269"/>
          <p:cNvSpPr/>
          <p:nvPr/>
        </p:nvSpPr>
        <p:spPr>
          <a:xfrm>
            <a:off y="1949175" x="264100"/>
            <a:ext cy="4400555" cx="425645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270" name="Shape 270"/>
          <p:cNvSpPr/>
          <p:nvPr/>
        </p:nvSpPr>
        <p:spPr>
          <a:xfrm>
            <a:off y="1987277" x="4805800"/>
            <a:ext cy="4324350" cx="407670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271" name="Shape 271"/>
          <p:cNvSpPr/>
          <p:nvPr/>
        </p:nvSpPr>
        <p:spPr>
          <a:xfrm>
            <a:off y="2313700" x="5216200"/>
            <a:ext cy="415500" cx="408599"/>
          </a:xfrm>
          <a:prstGeom prst="ellipse">
            <a:avLst/>
          </a:prstGeom>
          <a:noFill/>
          <a:ln w="19050" cap="flat">
            <a:solidFill>
              <a:srgbClr val="38761D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272" name="Shape 272"/>
          <p:cNvSpPr/>
          <p:nvPr/>
        </p:nvSpPr>
        <p:spPr>
          <a:xfrm>
            <a:off y="2951025" x="5811975"/>
            <a:ext cy="415500" cx="408599"/>
          </a:xfrm>
          <a:prstGeom prst="ellipse">
            <a:avLst/>
          </a:prstGeom>
          <a:noFill/>
          <a:ln w="19050" cap="flat">
            <a:solidFill>
              <a:srgbClr val="38761D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273" name="Shape 273"/>
          <p:cNvSpPr/>
          <p:nvPr/>
        </p:nvSpPr>
        <p:spPr>
          <a:xfrm>
            <a:off y="4170225" x="7058875"/>
            <a:ext cy="415500" cx="408599"/>
          </a:xfrm>
          <a:prstGeom prst="ellipse">
            <a:avLst/>
          </a:prstGeom>
          <a:noFill/>
          <a:ln w="19050" cap="flat">
            <a:solidFill>
              <a:srgbClr val="38761D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274" name="Shape 274"/>
          <p:cNvSpPr/>
          <p:nvPr/>
        </p:nvSpPr>
        <p:spPr>
          <a:xfrm>
            <a:off y="3546750" x="6421550"/>
            <a:ext cy="415500" cx="408599"/>
          </a:xfrm>
          <a:prstGeom prst="ellipse">
            <a:avLst/>
          </a:prstGeom>
          <a:noFill/>
          <a:ln w="19050" cap="flat">
            <a:solidFill>
              <a:srgbClr val="CC0000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275" name="Shape 275"/>
          <p:cNvSpPr/>
          <p:nvPr/>
        </p:nvSpPr>
        <p:spPr>
          <a:xfrm>
            <a:off y="4765950" x="7668450"/>
            <a:ext cy="415500" cx="408599"/>
          </a:xfrm>
          <a:prstGeom prst="ellipse">
            <a:avLst/>
          </a:prstGeom>
          <a:noFill/>
          <a:ln w="19050" cap="flat">
            <a:solidFill>
              <a:srgbClr val="CC0000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</p:spTree>
  </p:cSld>
  <p:clrMapOvr>
    <a:masterClrMapping/>
  </p:clrMapOvr>
  <p:transition spd="slow">
    <p:cut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79" name="Shape 27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80" name="Shape 280"/>
          <p:cNvSpPr/>
          <p:nvPr/>
        </p:nvSpPr>
        <p:spPr>
          <a:xfrm>
            <a:off y="1539705" x="927575"/>
            <a:ext cy="2457677" cx="243587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281" name="Shape 281"/>
          <p:cNvSpPr/>
          <p:nvPr/>
        </p:nvSpPr>
        <p:spPr>
          <a:xfrm>
            <a:off y="1539705" x="5286106"/>
            <a:ext cy="2417950" cx="2395141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282" name="Shape 282"/>
          <p:cNvSpPr/>
          <p:nvPr/>
        </p:nvSpPr>
        <p:spPr>
          <a:xfrm>
            <a:off y="2538059" x="4031750"/>
            <a:ext cy="490499" cx="595500"/>
          </a:xfrm>
          <a:prstGeom prst="heart">
            <a:avLst/>
          </a:prstGeom>
          <a:solidFill>
            <a:srgbClr val="C27BA0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283" name="Shape 283"/>
          <p:cNvSpPr/>
          <p:nvPr/>
        </p:nvSpPr>
        <p:spPr>
          <a:xfrm>
            <a:off y="3797381" x="4035050"/>
            <a:ext cy="484799" cx="588899"/>
          </a:xfrm>
          <a:prstGeom prst="heart">
            <a:avLst/>
          </a:prstGeom>
          <a:noFill/>
          <a:ln w="19050" cap="flat">
            <a:solidFill>
              <a:srgbClr val="A64D79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284" name="Shape 284"/>
          <p:cNvSpPr/>
          <p:nvPr/>
        </p:nvSpPr>
        <p:spPr>
          <a:xfrm rot="5400000">
            <a:off y="3207299" x="4135550"/>
            <a:ext cy="443399" cx="387899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rgbClr val="FFF2CC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285" name="Shape 285"/>
          <p:cNvSpPr txBox="1"/>
          <p:nvPr/>
        </p:nvSpPr>
        <p:spPr>
          <a:xfrm>
            <a:off y="3755831" x="4152800"/>
            <a:ext cy="567900" cx="4295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b="1" sz="3000" lang="en">
                <a:solidFill>
                  <a:srgbClr val="A64D79"/>
                </a:solidFill>
                <a:latin typeface="Ubuntu"/>
                <a:ea typeface="Ubuntu"/>
                <a:cs typeface="Ubuntu"/>
                <a:sym typeface="Ubuntu"/>
              </a:rPr>
              <a:t>?</a:t>
            </a:r>
          </a:p>
        </p:txBody>
      </p:sp>
      <p:sp>
        <p:nvSpPr>
          <p:cNvPr id="286" name="Shape 286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algn="ctr" rtl="0" lvl="0">
              <a:buNone/>
            </a:pPr>
            <a:r>
              <a:rPr sz="3000" lang="en">
                <a:solidFill>
                  <a:srgbClr val="741B47"/>
                </a:solidFill>
                <a:latin typeface="Ubuntu"/>
                <a:ea typeface="Ubuntu"/>
                <a:cs typeface="Ubuntu"/>
                <a:sym typeface="Ubuntu"/>
              </a:rPr>
              <a:t>Hybrid: Gabor + CENTRIST + Color Histogram</a:t>
            </a:r>
          </a:p>
        </p:txBody>
      </p:sp>
      <p:cxnSp>
        <p:nvCxnSpPr>
          <p:cNvPr id="287" name="Shape 287"/>
          <p:cNvCxnSpPr/>
          <p:nvPr/>
        </p:nvCxnSpPr>
        <p:spPr>
          <a:xfrm>
            <a:off y="1429375" x="927575"/>
            <a:ext cy="0" cx="7618200"/>
          </a:xfrm>
          <a:prstGeom prst="straightConnector1">
            <a:avLst/>
          </a:prstGeom>
          <a:noFill/>
          <a:ln w="19050" cap="flat">
            <a:solidFill>
              <a:srgbClr val="CCCCCC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288" name="Shape 288"/>
          <p:cNvSpPr/>
          <p:nvPr/>
        </p:nvSpPr>
        <p:spPr>
          <a:xfrm>
            <a:off y="4323731" x="3053691"/>
            <a:ext cy="2514712" cx="2413071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  <p:transition spd="slow">
    <p:cut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92" name="Shape 29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93" name="Shape 293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algn="ctr">
              <a:buNone/>
            </a:pPr>
            <a:r>
              <a:rPr sz="3000" lang="en">
                <a:solidFill>
                  <a:srgbClr val="741B47"/>
                </a:solidFill>
                <a:latin typeface="Ubuntu"/>
                <a:ea typeface="Ubuntu"/>
                <a:cs typeface="Ubuntu"/>
                <a:sym typeface="Ubuntu"/>
              </a:rPr>
              <a:t>Hybrid: Gabor + CENTRIST + Color Histogram</a:t>
            </a:r>
          </a:p>
        </p:txBody>
      </p:sp>
      <p:cxnSp>
        <p:nvCxnSpPr>
          <p:cNvPr id="294" name="Shape 294"/>
          <p:cNvCxnSpPr/>
          <p:nvPr/>
        </p:nvCxnSpPr>
        <p:spPr>
          <a:xfrm>
            <a:off y="1429375" x="927575"/>
            <a:ext cy="0" cx="7618200"/>
          </a:xfrm>
          <a:prstGeom prst="straightConnector1">
            <a:avLst/>
          </a:prstGeom>
          <a:noFill/>
          <a:ln w="19050" cap="flat">
            <a:solidFill>
              <a:srgbClr val="CCCCCC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295" name="Shape 295"/>
          <p:cNvSpPr txBox="1"/>
          <p:nvPr/>
        </p:nvSpPr>
        <p:spPr>
          <a:xfrm>
            <a:off y="1489375" x="2907875"/>
            <a:ext cy="457200" cx="36576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lang="en"/>
              <a:t>744 =&gt; 210 =&gt; 5</a:t>
            </a:r>
          </a:p>
        </p:txBody>
      </p:sp>
      <p:sp>
        <p:nvSpPr>
          <p:cNvPr id="296" name="Shape 296"/>
          <p:cNvSpPr/>
          <p:nvPr/>
        </p:nvSpPr>
        <p:spPr>
          <a:xfrm>
            <a:off y="1600200" x="140672"/>
            <a:ext cy="4710552" cx="451292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297" name="Shape 297"/>
          <p:cNvSpPr/>
          <p:nvPr/>
        </p:nvSpPr>
        <p:spPr>
          <a:xfrm>
            <a:off y="1919290" x="4872475"/>
            <a:ext cy="4238625" cx="4105275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298" name="Shape 298"/>
          <p:cNvSpPr/>
          <p:nvPr/>
        </p:nvSpPr>
        <p:spPr>
          <a:xfrm>
            <a:off y="5264750" x="8257300"/>
            <a:ext cy="498899" cx="595500"/>
          </a:xfrm>
          <a:prstGeom prst="heart">
            <a:avLst/>
          </a:prstGeom>
          <a:noFill/>
          <a:ln w="19050" cap="flat">
            <a:solidFill>
              <a:srgbClr val="CC0000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299" name="Shape 299"/>
          <p:cNvSpPr txBox="1"/>
          <p:nvPr/>
        </p:nvSpPr>
        <p:spPr>
          <a:xfrm>
            <a:off y="1417637" x="6031562"/>
            <a:ext cy="457200" cx="28815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sz="2400" lang="en">
                <a:solidFill>
                  <a:srgbClr val="CC0000"/>
                </a:solidFill>
                <a:latin typeface="Corsiva"/>
                <a:ea typeface="Corsiva"/>
                <a:cs typeface="Corsiva"/>
                <a:sym typeface="Corsiva"/>
              </a:rPr>
              <a:t>95.3% accuracy :)</a:t>
            </a:r>
          </a:p>
        </p:txBody>
      </p:sp>
      <p:sp>
        <p:nvSpPr>
          <p:cNvPr id="300" name="Shape 300"/>
          <p:cNvSpPr/>
          <p:nvPr/>
        </p:nvSpPr>
        <p:spPr>
          <a:xfrm>
            <a:off y="6400800" x="2393525"/>
            <a:ext cy="457200" cx="4686300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</p:sp>
      <p:sp>
        <p:nvSpPr>
          <p:cNvPr id="301" name="Shape 301"/>
          <p:cNvSpPr/>
          <p:nvPr/>
        </p:nvSpPr>
        <p:spPr>
          <a:xfrm>
            <a:off y="3477475" x="6476950"/>
            <a:ext cy="415500" cx="408599"/>
          </a:xfrm>
          <a:prstGeom prst="ellipse">
            <a:avLst/>
          </a:prstGeom>
          <a:noFill/>
          <a:ln w="19050" cap="flat">
            <a:solidFill>
              <a:srgbClr val="38761D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302" name="Shape 302"/>
          <p:cNvSpPr/>
          <p:nvPr/>
        </p:nvSpPr>
        <p:spPr>
          <a:xfrm>
            <a:off y="2244425" x="5243900"/>
            <a:ext cy="415500" cx="408599"/>
          </a:xfrm>
          <a:prstGeom prst="ellipse">
            <a:avLst/>
          </a:prstGeom>
          <a:noFill/>
          <a:ln w="19050" cap="flat">
            <a:solidFill>
              <a:srgbClr val="CC0000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</p:spTree>
  </p:cSld>
  <p:clrMapOvr>
    <a:masterClrMapping/>
  </p:clrMapOvr>
  <p:transition spd="slow">
    <p:cut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06" name="Shape 30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07" name="Shape 307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algn="ctr">
              <a:buNone/>
            </a:pPr>
            <a:r>
              <a:rPr lang="en">
                <a:solidFill>
                  <a:srgbClr val="741B47"/>
                </a:solidFill>
                <a:latin typeface="Ubuntu"/>
                <a:ea typeface="Ubuntu"/>
                <a:cs typeface="Ubuntu"/>
                <a:sym typeface="Ubuntu"/>
              </a:rPr>
              <a:t>Conclusion</a:t>
            </a:r>
          </a:p>
        </p:txBody>
      </p:sp>
      <p:sp>
        <p:nvSpPr>
          <p:cNvPr id="308" name="Shape 308"/>
          <p:cNvSpPr txBox="1"/>
          <p:nvPr>
            <p:ph idx="1" type="body"/>
          </p:nvPr>
        </p:nvSpPr>
        <p:spPr>
          <a:xfrm>
            <a:off y="1558650" x="865800"/>
            <a:ext cy="2032800" cx="7412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2000" lang="en">
                <a:solidFill>
                  <a:srgbClr val="741B47"/>
                </a:solidFill>
              </a:rPr>
              <a:t>Good features + good features = even better features.</a:t>
            </a:r>
          </a:p>
          <a:p>
            <a:r>
              <a:t/>
            </a:r>
          </a:p>
          <a:p>
            <a:pPr rtl="0" lvl="0">
              <a:buNone/>
            </a:pPr>
            <a:r>
              <a:rPr sz="2000" lang="en">
                <a:solidFill>
                  <a:srgbClr val="741B47"/>
                </a:solidFill>
              </a:rPr>
              <a:t>Good + bad = can create confusion somewhere, but can add improvements as well - test separately and check!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</p:txBody>
      </p:sp>
      <p:cxnSp>
        <p:nvCxnSpPr>
          <p:cNvPr id="309" name="Shape 309"/>
          <p:cNvCxnSpPr/>
          <p:nvPr/>
        </p:nvCxnSpPr>
        <p:spPr>
          <a:xfrm>
            <a:off y="1429375" x="927575"/>
            <a:ext cy="0" cx="7618200"/>
          </a:xfrm>
          <a:prstGeom prst="straightConnector1">
            <a:avLst/>
          </a:prstGeom>
          <a:noFill/>
          <a:ln w="19050" cap="flat">
            <a:solidFill>
              <a:srgbClr val="CCCCCC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310" name="Shape 310"/>
          <p:cNvSpPr/>
          <p:nvPr/>
        </p:nvSpPr>
        <p:spPr>
          <a:xfrm>
            <a:off y="568025" x="6165275"/>
            <a:ext cy="789600" cx="789600"/>
          </a:xfrm>
          <a:prstGeom prst="sun">
            <a:avLst>
              <a:gd fmla="val 25000" name="adj"/>
            </a:avLst>
          </a:prstGeom>
          <a:solidFill>
            <a:srgbClr val="FFF2CC"/>
          </a:solidFill>
          <a:ln w="19050" cap="flat">
            <a:solidFill>
              <a:srgbClr val="A64D79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311" name="Shape 311"/>
          <p:cNvSpPr/>
          <p:nvPr/>
        </p:nvSpPr>
        <p:spPr>
          <a:xfrm>
            <a:off y="3467375" x="5645975"/>
            <a:ext cy="2325786" cx="244073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312" name="Shape 312"/>
          <p:cNvSpPr txBox="1"/>
          <p:nvPr/>
        </p:nvSpPr>
        <p:spPr>
          <a:xfrm>
            <a:off y="3512168" x="865800"/>
            <a:ext cy="2236200" cx="41898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sz="2000" lang="en">
                <a:solidFill>
                  <a:srgbClr val="741B47"/>
                </a:solidFill>
              </a:rPr>
              <a:t>Overall, enjoyed experimenting and working on this project =&gt; satisfaction :) and, Ravdeep, </a:t>
            </a:r>
            <a:r>
              <a:rPr sz="2000" lang="en">
                <a:solidFill>
                  <a:srgbClr val="CC0000"/>
                </a:solidFill>
              </a:rPr>
              <a:t>95.3%</a:t>
            </a:r>
            <a:r>
              <a:rPr sz="2400" lang="en">
                <a:solidFill>
                  <a:srgbClr val="CC0000"/>
                </a:solidFill>
              </a:rPr>
              <a:t> accuracy</a:t>
            </a:r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</a:theme>
</file>