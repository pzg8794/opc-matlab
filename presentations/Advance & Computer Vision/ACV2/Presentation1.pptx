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67" r:id="rId11"/>
    <p:sldId id="266" r:id="rId12"/>
    <p:sldId id="269" r:id="rId13"/>
    <p:sldId id="265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3" autoAdjust="0"/>
    <p:restoredTop sz="94660"/>
  </p:normalViewPr>
  <p:slideViewPr>
    <p:cSldViewPr snapToGrid="0">
      <p:cViewPr varScale="1">
        <p:scale>
          <a:sx n="67" d="100"/>
          <a:sy n="67" d="100"/>
        </p:scale>
        <p:origin x="5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F38F1-4805-43A6-A93A-F353F0780859}" type="datetimeFigureOut">
              <a:rPr lang="en-US"/>
              <a:t>2/7/2013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DBD8F-590E-416F-BE70-16C04963749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0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73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41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6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26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63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47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54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21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86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39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86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58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39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37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00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353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570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663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56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75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845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587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466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684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996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867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DBD8F-590E-416F-BE70-16C049637493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49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49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1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02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54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95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30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78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1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14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82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29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60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67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20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95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76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11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FA7AC5-6045-4418-8E60-F48788734473}" type="datetimeFigureOut">
              <a:rPr lang="en-US" smtClean="0"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49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3253" y="1163878"/>
            <a:ext cx="8992403" cy="2616200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Car Segmentation</a:t>
            </a:r>
            <a:br>
              <a:rPr lang="en-US" b="1">
                <a:latin typeface="Times New Roman"/>
                <a:cs typeface="Times New Roman"/>
              </a:rPr>
            </a:br>
            <a:r>
              <a:rPr lang="en-US" b="1">
                <a:latin typeface="Times New Roman"/>
                <a:cs typeface="Times New Roman"/>
              </a:rPr>
              <a:t>Final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</a:rPr>
              <a:t>By</a:t>
            </a:r>
          </a:p>
          <a:p>
            <a:r>
              <a:rPr lang="en-US" sz="3600" b="1">
                <a:latin typeface="Times New Roman"/>
              </a:rPr>
              <a:t>Piter Garcia</a:t>
            </a:r>
          </a:p>
        </p:txBody>
      </p:sp>
    </p:spTree>
    <p:extLst>
      <p:ext uri="{BB962C8B-B14F-4D97-AF65-F5344CB8AC3E}">
        <p14:creationId xmlns:p14="http://schemas.microsoft.com/office/powerpoint/2010/main" val="584396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3" y="36513"/>
            <a:ext cx="10359059" cy="67738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ROCHESTER INSTITUTE OF TECHNOLOGY</a:t>
            </a:r>
          </a:p>
          <a:p>
            <a:pPr marL="0" indent="0" algn="ctr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ABSTRACT</a:t>
            </a:r>
            <a:endParaRPr lang="en-US">
              <a:latin typeface="Times New Roman"/>
              <a:cs typeface="Times New Roman"/>
            </a:endParaRPr>
          </a:p>
          <a:p>
            <a:pPr marL="0" indent="0" algn="ctr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 algn="ctr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>
                <a:latin typeface="Times New Roman"/>
                <a:cs typeface="Times New Roman"/>
              </a:rPr>
              <a:t>In this project, we explore the detection of car and circles in a basic gray scale images.</a:t>
            </a:r>
          </a:p>
          <a:p>
            <a:pPr marL="0" indent="0">
              <a:buNone/>
            </a:pPr>
            <a:r>
              <a:rPr lang="en-US" sz="2000"/>
              <a:t/>
            </a:r>
            <a:br>
              <a:rPr lang="en-US" sz="2000"/>
            </a:br>
            <a:r>
              <a:rPr lang="en-US">
                <a:latin typeface="Times New Roman"/>
                <a:cs typeface="Times New Roman"/>
              </a:rPr>
              <a:t>This work is based in detection of cars and its tires.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>
                <a:latin typeface="Times New Roman"/>
                <a:cs typeface="Times New Roman"/>
              </a:rPr>
              <a:t>The car and circle detection process used is based on:</a:t>
            </a:r>
          </a:p>
          <a:p>
            <a:r>
              <a:rPr lang="en-US">
                <a:latin typeface="Times New Roman"/>
                <a:cs typeface="Times New Roman"/>
              </a:rPr>
              <a:t> pixel direction concept of Cannyn</a:t>
            </a:r>
            <a:br>
              <a:rPr lang="en-US">
                <a:latin typeface="Times New Roman"/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non-maximum suppression process for contour tracing described by Neubeck and Gool. </a:t>
            </a: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algn="ctr"/>
            <a:endParaRPr lang="en-US" sz="2000"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036754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9973" y="119303"/>
            <a:ext cx="10018712" cy="64432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r>
              <a:rPr lang="en-US" sz="3600" b="1">
                <a:solidFill>
                  <a:srgbClr val="000000"/>
                </a:solidFill>
                <a:latin typeface="Times New Roman"/>
                <a:cs typeface="Times New Roman"/>
              </a:rPr>
              <a:t>Topics of Interest: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Objective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Introduction</a:t>
            </a:r>
          </a:p>
          <a:p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Approach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Strategies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Implementation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Practical Problems and Solutions</a:t>
            </a:r>
          </a:p>
          <a:p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Goal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Conclusion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Question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214467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3" y="352638"/>
            <a:ext cx="10018712" cy="5438562"/>
          </a:xfrm>
        </p:spPr>
        <p:txBody>
          <a:bodyPr/>
          <a:lstStyle/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OBJECTIVE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Detection and recognition of shapes such as cars and tires.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Evaluate edge segments to determine the desired shape.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I use the edge threshold property of Canny edge detection. 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Test my algorithm on different images of cars. </a:t>
            </a:r>
          </a:p>
          <a:p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The main objective is to describe the techniques and approaches taken towards car segmentation system.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227928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5634" y="46038"/>
            <a:ext cx="10018712" cy="642585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000000"/>
                </a:solidFill>
                <a:latin typeface="Times New Roman"/>
                <a:cs typeface="Times New Roman"/>
              </a:rPr>
              <a:t>INTRODUCTION</a:t>
            </a: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Extracting the edges from an image simplifies the analysis of the image by: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dramatically reducing the amount of data to be processed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preserving useful information about the boundaries. </a:t>
            </a: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The edge extracted image is used by many algorithms such as: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the Circular Hough transform 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the Linear Square method to further extract shape information in an image.</a:t>
            </a: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The aim of this project is to develop an explanation of the imaging system used in: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capturing the data to get the shape of cars and circles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discuss the challenges imposed by the dataset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apply some algorithms such as mixture of Gaussians, Canny edge detection, and HSB</a:t>
            </a: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Analyze the difficulties encountered in handling this data to identify the potential car and tire shapes.</a:t>
            </a:r>
          </a:p>
        </p:txBody>
      </p:sp>
    </p:spTree>
    <p:extLst>
      <p:ext uri="{BB962C8B-B14F-4D97-AF65-F5344CB8AC3E}">
        <p14:creationId xmlns:p14="http://schemas.microsoft.com/office/powerpoint/2010/main" val="1773383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3" y="114300"/>
            <a:ext cx="10018712" cy="64767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APPROACH</a:t>
            </a: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Main approaches are: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Extracting roads from the image. 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Implement Hough transform and Canny edge detection. 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Another algorithm that turned out more efficient for car segmentation is HSB.</a:t>
            </a: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Convolution and non-maximum suppression combination. </a:t>
            </a: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Canny Edge Detection: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The algorithm uses a multi-stage process to detect a wide range of edges in images. </a:t>
            </a: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The stages used in this project are: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Image smoothing. This is done to reduce the noise in the image.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Calculating edge strength and edge direction.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Directional non-maximum suppression to obtain thin edges across the image.</a:t>
            </a:r>
          </a:p>
          <a:p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Invoking threshold with hysteresis to obtain only the valid edges in an image.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164588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8113" y="-48344"/>
            <a:ext cx="10629900" cy="688558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b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700" b="1">
                <a:solidFill>
                  <a:srgbClr val="000000"/>
                </a:solidFill>
                <a:latin typeface="Times New Roman"/>
                <a:cs typeface="Times New Roman"/>
              </a:rPr>
              <a:t>  Block diagram of the Stages of the Canny Edge Detector.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A block diagram of the Canny edge detection algorithm is shown above.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The input to the detector can be either a color image or a grayscale image.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The output is an image containing only those edges that have been detected.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Helvetica"/>
              <a:cs typeface="Helvetica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  <p:pic>
        <p:nvPicPr>
          <p:cNvPr id="5" name="Picture 4" descr="image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238" y="1777491"/>
            <a:ext cx="10384326" cy="275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6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1295" y="28575"/>
            <a:ext cx="10018712" cy="66815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Image Smoothing: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First stage of the Canny edge detection.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Pixel values of the input image are convolved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Reduce the noise within an image 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Gaussian filter. 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It is a discrete version of the 2-dimensional function shown below.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σ is the standard deviation of the Gaussian filter: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Describes the narrowness of the peaked function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x and y are spatial coordinates. </a:t>
            </a:r>
          </a:p>
        </p:txBody>
      </p:sp>
      <p:pic>
        <p:nvPicPr>
          <p:cNvPr id="5" name="Picture 4" descr="image0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397" y="3159814"/>
            <a:ext cx="8127850" cy="196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63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2892" y="12448"/>
            <a:ext cx="10444146" cy="67484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An example of the conversion of a 2-dimensional 5x5 discrete Gaussian filter function is shown in the above equation. </a:t>
            </a: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The function is obtained for σ = 1.4 </a:t>
            </a: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Substituting integer values for x and y and re-normalizing.</a:t>
            </a:r>
          </a:p>
          <a:p>
            <a:endParaRPr lang="en-US" sz="2000">
              <a:solidFill>
                <a:srgbClr val="000000"/>
              </a:solidFill>
              <a:latin typeface="Corbel"/>
            </a:endParaRPr>
          </a:p>
          <a:p>
            <a:endParaRPr lang="en-US" sz="2000">
              <a:solidFill>
                <a:srgbClr val="000000"/>
              </a:solidFill>
              <a:latin typeface="Corbel"/>
            </a:endParaRPr>
          </a:p>
          <a:p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A is the 2-dimensional array of input pixel values and B is an output image.</a:t>
            </a:r>
          </a:p>
          <a:p>
            <a:pPr marL="0" indent="0"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The process of smoothing an image using an M x M block filter yields: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  <a:cs typeface="Times New Roman"/>
            </a:endParaRP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Each  pixel value to be a weighted average of the surrounding pixel values</a:t>
            </a: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The pixel value at the center weighted much more strongly than nearby points.</a:t>
            </a: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suppress noise and get a continuous edge contour in the non-max suppression process.</a:t>
            </a: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The output obtained is a blurred intermediate image</a:t>
            </a: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Next block is calculated with this output to get strength and direction of the edges.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  <a:cs typeface="Times New Roman"/>
            </a:endParaRPr>
          </a:p>
        </p:txBody>
      </p:sp>
      <p:pic>
        <p:nvPicPr>
          <p:cNvPr id="4" name="Picture 3" descr="image0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544" y="1514295"/>
            <a:ext cx="5180938" cy="238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3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116" y="3175"/>
            <a:ext cx="10444147" cy="64103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Extraction of Shapes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Algorithms used are: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Linear Square Method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Hough Transform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- HT was successful detecting circles in noisy environments.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Circular Hough Transform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The Canny edge detector forms the input to extract the circle using the circular Hough transform. 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This figure shows three circles defined by three edge points labeled 1, 2 and 3: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- These circles are defined for a given radius value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- Each edge point defines a circle for the other values of the radius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- All edge points map to a cone of votes in the accumulator space</a:t>
            </a:r>
          </a:p>
        </p:txBody>
      </p:sp>
      <p:pic>
        <p:nvPicPr>
          <p:cNvPr id="4" name="Picture 3" descr="image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229" y="2308225"/>
            <a:ext cx="5625982" cy="976313"/>
          </a:xfrm>
          <a:prstGeom prst="rect">
            <a:avLst/>
          </a:prstGeom>
        </p:spPr>
      </p:pic>
      <p:pic>
        <p:nvPicPr>
          <p:cNvPr id="2" name="Picture 1" descr="image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047" y="175505"/>
            <a:ext cx="4052887" cy="2828715"/>
          </a:xfrm>
          <a:prstGeom prst="rect">
            <a:avLst/>
          </a:prstGeom>
        </p:spPr>
      </p:pic>
      <p:pic>
        <p:nvPicPr>
          <p:cNvPr id="5" name="Picture 4" descr="image0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25" y="3121025"/>
            <a:ext cx="2743200" cy="328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21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9437" y="80963"/>
            <a:ext cx="10018713" cy="657812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 b="1">
                <a:solidFill>
                  <a:srgbClr val="000000"/>
                </a:solidFill>
                <a:latin typeface="Times New Roman"/>
                <a:cs typeface="Times New Roman"/>
              </a:rPr>
              <a:t>IMPLEMENTATION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Analyze my algorithm's performance  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with the given approaches: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The Canny edge detection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uses thresholding with hysteresis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with two values, T1 and T2.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selecting which points belong to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edges and which do not.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Edges detected by: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(a) 0.1 times the default threshold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(b) 0.2 times the default threshold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(c) 0.5 times the default threshold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(d) 0.9 times the threshold value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Only pixel directions are used to validate the edges in this case. Thus, the issue of finding the right threshold for every image is solved.</a:t>
            </a:r>
          </a:p>
        </p:txBody>
      </p:sp>
      <p:pic>
        <p:nvPicPr>
          <p:cNvPr id="4" name="Picture 3" descr="image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90488"/>
            <a:ext cx="6248400" cy="576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5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0213" y="131763"/>
            <a:ext cx="10018712" cy="662942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rbel"/>
              </a:rPr>
              <a:t>Sensitivity to Illumination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rbel"/>
              </a:rPr>
              <a:t>Some factors that affect the results of the edge detection are: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rbel"/>
              </a:rPr>
              <a:t>shade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rbel"/>
              </a:rPr>
              <a:t>texture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rbel"/>
              </a:rPr>
              <a:t>illumination, and so on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rbel"/>
              </a:rPr>
              <a:t>In these figures, the goal of the edge detector is to: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rbel"/>
              </a:rPr>
              <a:t>Discard the edges created by shades, textures and illuminations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rbel"/>
              </a:rPr>
              <a:t>Give the edge segments for only the strong boundaries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rbel"/>
              </a:rPr>
              <a:t>The figures to the left are examples of its implementation: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rbel"/>
              </a:rPr>
              <a:t>The intensity of the original image is decreased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rbel"/>
              </a:rPr>
              <a:t>The illustration of dependency of the Canny edge detector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rbel"/>
              </a:rPr>
              <a:t>The proposed algorithm caused this change in intensity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31332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2875" y="0"/>
            <a:ext cx="10648950" cy="679099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Images (a) through (d) are Canny edge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detector results with different threshold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values.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Notice that: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The reduction in edges is detected.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Images (e) &amp; (f) are not much different and still have enough info to detect a circle.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These two images detected similar edges using the different thresholds, 0.8 and 0.9.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The number of edges detected in (f) has decreased, but still the algorithm used get a similar response as the response in (e).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  <p:pic>
        <p:nvPicPr>
          <p:cNvPr id="7" name="Picture 6" descr="image001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188" y="36513"/>
            <a:ext cx="6157038" cy="2699744"/>
          </a:xfrm>
          <a:prstGeom prst="rect">
            <a:avLst/>
          </a:prstGeom>
        </p:spPr>
      </p:pic>
      <p:pic>
        <p:nvPicPr>
          <p:cNvPr id="6" name="Picture 5" descr="image00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396" y="2581956"/>
            <a:ext cx="5839613" cy="245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0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7521" y="63500"/>
            <a:ext cx="10018712" cy="66296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In this case:</a:t>
            </a: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</a:endParaRP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illumination does affect my algorithm</a:t>
            </a: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the sensitivity to illumination is less when compared to the Canny edge detector</a:t>
            </a: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it uses the rate of change of pixel values</a:t>
            </a: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we use the edge direction, which is derived by comparing the pixel values.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  <p:pic>
        <p:nvPicPr>
          <p:cNvPr id="6" name="Picture 5" descr="image00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138" y="167760"/>
            <a:ext cx="8957476" cy="385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304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3" y="63500"/>
            <a:ext cx="10018712" cy="6578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Some of the disadvantages of the implemented algorithms are: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Quantization errors:</a:t>
            </a: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An appropriate size of accumulator array is difficult to choose. </a:t>
            </a: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Difficulties with noise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The advantage and weakness of my algorithms is that:</a:t>
            </a: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They connect edge points across the image to some form of parametric curve. </a:t>
            </a:r>
          </a:p>
          <a:p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Good phantom circles could also be detected with a reasonably large voting array.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53438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3" y="114300"/>
            <a:ext cx="10018712" cy="66128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 sz="2700" b="1">
                <a:solidFill>
                  <a:srgbClr val="000000"/>
                </a:solidFill>
                <a:latin typeface="Times New Roman"/>
                <a:cs typeface="Times New Roman"/>
              </a:rPr>
              <a:t>Thresholding: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Eliminates spurious points and non-edge pixels from results of non-maximum suppression.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Good smoothing, calculating edge strength and edge pixel, and the non-maximum suppression stage, to obtain thin edges in the image.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Two threshold values, T1 (high) and T2 (low), for the edge strength of the pixel of the img.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Edge strength which is greater than T1 is considered as a definite edge.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Edge strength which is less than T2 is set to zero.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The pixel with edge strength between T1 and T2 is considered if there is a path from this pixel to a pixel with edge strength above T1.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The path must be entirely through pixels with edge strength of at least T2.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This process reduces the probability of streaking.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As the edge strength is dependent on the intensity of the pixel of the image, thresholds T1 and T2 also depend on the intensity of the pixel of the image.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The thresholds T1 and T2 are calculated by the Canny edge detectors using adaptive algorithms.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All the edges in an image are detected using the Canny edge detection.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2237147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7469" y="-276847"/>
            <a:ext cx="10580285" cy="6697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GOAL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</a:rPr>
              <a:t>In this project, only two three-dimensional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</a:rPr>
              <a:t> color spaces are investigated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RGB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HSV</a:t>
            </a:r>
          </a:p>
        </p:txBody>
      </p:sp>
      <p:pic>
        <p:nvPicPr>
          <p:cNvPr id="4" name="Picture 3" descr="image001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364" y="224878"/>
            <a:ext cx="4275492" cy="3134508"/>
          </a:xfrm>
          <a:prstGeom prst="rect">
            <a:avLst/>
          </a:prstGeom>
        </p:spPr>
      </p:pic>
      <p:pic>
        <p:nvPicPr>
          <p:cNvPr id="5" name="Picture 4" descr="image002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695" y="254194"/>
            <a:ext cx="4135352" cy="3141748"/>
          </a:xfrm>
          <a:prstGeom prst="rect">
            <a:avLst/>
          </a:prstGeom>
        </p:spPr>
      </p:pic>
      <p:pic>
        <p:nvPicPr>
          <p:cNvPr id="6" name="Picture 5" descr="image003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838" y="3551238"/>
            <a:ext cx="4165600" cy="287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019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800" y="10255"/>
            <a:ext cx="10529887" cy="4078190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Existing color-based general-purpose image retrieval systems roughly fall into three categories depending on the signature extraction approach used: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histogram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color layout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region-based search</a:t>
            </a:r>
          </a:p>
        </p:txBody>
      </p:sp>
      <p:pic>
        <p:nvPicPr>
          <p:cNvPr id="4" name="Picture 3" descr="image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546" y="1802262"/>
            <a:ext cx="7633918" cy="453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9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4394" y="194515"/>
            <a:ext cx="10018713" cy="628964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</a:rPr>
              <a:t>Histogram search characterizes an image by:</a:t>
            </a:r>
          </a:p>
          <a:p>
            <a:pPr marL="0" indent="0">
              <a:buNone/>
            </a:pPr>
            <a:endParaRPr lang="en-US" sz="3600">
              <a:solidFill>
                <a:srgbClr val="000000"/>
              </a:solidFill>
              <a:latin typeface="Times New Roman"/>
            </a:endParaRP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its color distribution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histogram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drawback of a global histogram representation is that information about:</a:t>
            </a:r>
          </a:p>
          <a:p>
            <a:pPr marL="0" indent="0">
              <a:buNone/>
            </a:pPr>
            <a:endParaRPr lang="en-US" sz="3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object location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shape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texture is discarded. </a:t>
            </a:r>
          </a:p>
          <a:p>
            <a:pPr marL="0" indent="0">
              <a:buNone/>
            </a:pPr>
            <a:endParaRPr lang="en-US" sz="3600">
              <a:solidFill>
                <a:srgbClr val="000000"/>
              </a:solidFill>
              <a:latin typeface="Corbel"/>
            </a:endParaRPr>
          </a:p>
        </p:txBody>
      </p:sp>
      <p:pic>
        <p:nvPicPr>
          <p:cNvPr id="4" name="Picture 3" descr="image00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088" y="1603500"/>
            <a:ext cx="9856787" cy="285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415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3" y="748176"/>
            <a:ext cx="10018712" cy="57618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sz="3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sz="3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This project showes that images retrieved by using the global color histogram may not be semantically related, even though they share similar color distribution in some results.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  <p:pic>
        <p:nvPicPr>
          <p:cNvPr id="4" name="Picture 3" descr="image00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986" y="341313"/>
            <a:ext cx="4975277" cy="3746290"/>
          </a:xfrm>
          <a:prstGeom prst="rect">
            <a:avLst/>
          </a:prstGeom>
        </p:spPr>
      </p:pic>
      <p:pic>
        <p:nvPicPr>
          <p:cNvPr id="5" name="Picture 4" descr="image003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175" y="361950"/>
            <a:ext cx="4981768" cy="362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47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5631" y="3745301"/>
            <a:ext cx="10018713" cy="31242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Histogram-based retrievals in HSV showed better performance than in RGB color space. 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The histogram Intersection-based image retrieval in HSV color space was found to be most desirable than the Canny edge detection algorithm.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  <p:pic>
        <p:nvPicPr>
          <p:cNvPr id="4" name="Picture 3" descr="image00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445" y="104775"/>
            <a:ext cx="4894393" cy="3816157"/>
          </a:xfrm>
          <a:prstGeom prst="rect">
            <a:avLst/>
          </a:prstGeom>
        </p:spPr>
      </p:pic>
      <p:pic>
        <p:nvPicPr>
          <p:cNvPr id="5" name="Picture 4" descr="image0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022" y="149225"/>
            <a:ext cx="4826918" cy="378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49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8775" y="202512"/>
            <a:ext cx="10018713" cy="39252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212121"/>
                </a:solidFill>
                <a:latin typeface="Times New Roman"/>
                <a:cs typeface="Times New Roman"/>
              </a:rPr>
              <a:t>The pictures are the result of the HSB</a:t>
            </a:r>
            <a:r>
              <a:rPr lang="en-US">
                <a:solidFill>
                  <a:srgbClr val="000000"/>
                </a:solidFill>
                <a:latin typeface="Corbel"/>
                <a:cs typeface="Times New Roman"/>
              </a:rPr>
              <a:t> </a:t>
            </a:r>
            <a:r>
              <a:rPr lang="en-US">
                <a:solidFill>
                  <a:srgbClr val="212121"/>
                </a:solidFill>
                <a:latin typeface="Times New Roman"/>
                <a:cs typeface="Times New Roman"/>
              </a:rPr>
              <a:t>algorithm: </a:t>
            </a:r>
          </a:p>
          <a:p>
            <a:r>
              <a:rPr lang="en-US">
                <a:solidFill>
                  <a:srgbClr val="000000"/>
                </a:solidFill>
                <a:latin typeface="Corbel"/>
                <a:cs typeface="Times New Roman"/>
              </a:rPr>
              <a:t>successfully </a:t>
            </a:r>
            <a:r>
              <a:rPr lang="en-US">
                <a:solidFill>
                  <a:srgbClr val="212121"/>
                </a:solidFill>
                <a:latin typeface="Times New Roman"/>
                <a:cs typeface="Times New Roman"/>
              </a:rPr>
              <a:t>worked detecting the car in pictures assigned </a:t>
            </a:r>
          </a:p>
          <a:p>
            <a:r>
              <a:rPr lang="en-US">
                <a:solidFill>
                  <a:srgbClr val="212121"/>
                </a:solidFill>
                <a:latin typeface="Times New Roman"/>
                <a:cs typeface="Times New Roman"/>
              </a:rPr>
              <a:t>drew a box around the car’s shape. 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endParaRPr lang="en-US">
              <a:solidFill>
                <a:srgbClr val="212121"/>
              </a:solidFill>
              <a:latin typeface="Times New Roman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  <p:pic>
        <p:nvPicPr>
          <p:cNvPr id="4" name="Picture 3" descr="image00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763" y="1713362"/>
            <a:ext cx="5293174" cy="3965500"/>
          </a:xfrm>
          <a:prstGeom prst="rect">
            <a:avLst/>
          </a:prstGeom>
        </p:spPr>
      </p:pic>
      <p:pic>
        <p:nvPicPr>
          <p:cNvPr id="7" name="Picture 6" descr="image004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438" y="1766888"/>
            <a:ext cx="5285549" cy="396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33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8653" y="64878"/>
            <a:ext cx="7312951" cy="5303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212121"/>
                </a:solidFill>
                <a:latin typeface="Times New Roman"/>
                <a:cs typeface="Times New Roman"/>
              </a:rPr>
              <a:t>Same approach was used with canny edge detector :</a:t>
            </a:r>
          </a:p>
          <a:p>
            <a:r>
              <a:rPr lang="en-US" sz="2000">
                <a:solidFill>
                  <a:srgbClr val="212121"/>
                </a:solidFill>
                <a:latin typeface="Times New Roman"/>
                <a:cs typeface="Times New Roman"/>
              </a:rPr>
              <a:t>the result was not as successful at the HSB algorithm.</a:t>
            </a:r>
          </a:p>
          <a:p>
            <a:pPr marL="0" indent="0">
              <a:buNone/>
            </a:pPr>
            <a:r>
              <a:rPr lang="en-US" sz="2000">
                <a:solidFill>
                  <a:srgbClr val="212121"/>
                </a:solidFill>
                <a:latin typeface="Times New Roman"/>
                <a:cs typeface="Times New Roman"/>
              </a:rPr>
              <a:t>The reasons why:</a:t>
            </a:r>
          </a:p>
          <a:p>
            <a:r>
              <a:rPr lang="en-US" sz="2000">
                <a:solidFill>
                  <a:srgbClr val="212121"/>
                </a:solidFill>
                <a:latin typeface="Times New Roman"/>
                <a:cs typeface="Times New Roman"/>
              </a:rPr>
              <a:t>recognizing cars only on the basis of pixels values </a:t>
            </a:r>
          </a:p>
          <a:p>
            <a:r>
              <a:rPr lang="en-US" sz="2000">
                <a:solidFill>
                  <a:srgbClr val="212121"/>
                </a:solidFill>
                <a:latin typeface="Times New Roman"/>
                <a:cs typeface="Times New Roman"/>
              </a:rPr>
              <a:t>not recognizing cars on color intensities.</a:t>
            </a: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Corbel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rgbClr val="212121"/>
                </a:solidFill>
                <a:latin typeface="Times New Roman"/>
                <a:cs typeface="Times New Roman"/>
              </a:rPr>
              <a:t>HSB algorithm works better recognizing a car in an image.</a:t>
            </a:r>
          </a:p>
          <a:p>
            <a:pPr marL="0" indent="0">
              <a:buNone/>
            </a:pPr>
            <a:r>
              <a:rPr lang="en-US" sz="2000">
                <a:solidFill>
                  <a:srgbClr val="212121"/>
                </a:solidFill>
                <a:latin typeface="Times New Roman"/>
                <a:cs typeface="Times New Roman"/>
              </a:rPr>
              <a:t>Boxes around the car do not come out as perfect as desired:</a:t>
            </a:r>
          </a:p>
          <a:p>
            <a:r>
              <a:rPr lang="en-US" sz="2000">
                <a:solidFill>
                  <a:srgbClr val="212121"/>
                </a:solidFill>
                <a:latin typeface="Times New Roman"/>
                <a:cs typeface="Times New Roman"/>
              </a:rPr>
              <a:t>there is a reflection of light present in some images.</a:t>
            </a:r>
          </a:p>
          <a:p>
            <a:r>
              <a:rPr lang="en-US" sz="2000">
                <a:solidFill>
                  <a:srgbClr val="212121"/>
                </a:solidFill>
                <a:latin typeface="Times New Roman"/>
                <a:cs typeface="Times New Roman"/>
              </a:rPr>
              <a:t>reflection brings noise, causing problems in image recognition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  <p:pic>
        <p:nvPicPr>
          <p:cNvPr id="4" name="Picture 3" descr="image00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832" y="3864227"/>
            <a:ext cx="3872042" cy="2889490"/>
          </a:xfrm>
          <a:prstGeom prst="rect">
            <a:avLst/>
          </a:prstGeom>
        </p:spPr>
      </p:pic>
      <p:pic>
        <p:nvPicPr>
          <p:cNvPr id="6" name="Picture 5" descr="image00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906" y="435819"/>
            <a:ext cx="3921395" cy="291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30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3" y="46038"/>
            <a:ext cx="10018712" cy="1915640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rbel"/>
              </a:rPr>
              <a:t>RGB and HSB histogram-based image retrieval methods in two color spaces are exhaustively compared by providing graphs for each image class and for all test images.</a:t>
            </a:r>
          </a:p>
        </p:txBody>
      </p:sp>
      <p:pic>
        <p:nvPicPr>
          <p:cNvPr id="4" name="Picture 3" descr="image0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017" y="1199851"/>
            <a:ext cx="3675109" cy="2766224"/>
          </a:xfrm>
          <a:prstGeom prst="rect">
            <a:avLst/>
          </a:prstGeom>
        </p:spPr>
      </p:pic>
      <p:pic>
        <p:nvPicPr>
          <p:cNvPr id="5" name="Picture 4" descr="image0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485" y="4041384"/>
            <a:ext cx="3680774" cy="2787229"/>
          </a:xfrm>
          <a:prstGeom prst="rect">
            <a:avLst/>
          </a:prstGeom>
        </p:spPr>
      </p:pic>
      <p:pic>
        <p:nvPicPr>
          <p:cNvPr id="6" name="Picture 5" descr="image00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250" y="2098675"/>
            <a:ext cx="4860916" cy="367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32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3" y="7938"/>
            <a:ext cx="10018712" cy="3039768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In this section of the project: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two different algorithms were combined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obtain the shape of the cars along with the shape of the tires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  <p:pic>
        <p:nvPicPr>
          <p:cNvPr id="7" name="Picture 6" descr="image0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057" y="2457928"/>
            <a:ext cx="5166222" cy="3857147"/>
          </a:xfrm>
          <a:prstGeom prst="rect">
            <a:avLst/>
          </a:prstGeom>
        </p:spPr>
      </p:pic>
      <p:pic>
        <p:nvPicPr>
          <p:cNvPr id="9" name="Picture 8" descr="image002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734" y="1773742"/>
            <a:ext cx="4562095" cy="359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721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3432" y="40437"/>
            <a:ext cx="10018713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This image retrieval system was built with the: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canny edge recognition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HSB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This is a similar process to the previous code. 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This algorithm identifies a car shape</a:t>
            </a:r>
          </a:p>
          <a:p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along with the car’s tires.</a:t>
            </a:r>
          </a:p>
        </p:txBody>
      </p:sp>
      <p:pic>
        <p:nvPicPr>
          <p:cNvPr id="4" name="Picture 3" descr="image00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664" y="179388"/>
            <a:ext cx="4155249" cy="3140327"/>
          </a:xfrm>
          <a:prstGeom prst="rect">
            <a:avLst/>
          </a:prstGeom>
        </p:spPr>
      </p:pic>
      <p:pic>
        <p:nvPicPr>
          <p:cNvPr id="5" name="Picture 4" descr="image00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895" y="3407519"/>
            <a:ext cx="4203229" cy="3164702"/>
          </a:xfrm>
          <a:prstGeom prst="rect">
            <a:avLst/>
          </a:prstGeom>
        </p:spPr>
      </p:pic>
      <p:pic>
        <p:nvPicPr>
          <p:cNvPr id="6" name="Picture 5" descr="image00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5746" y="3174438"/>
            <a:ext cx="4469334" cy="338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14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9973" y="42413"/>
            <a:ext cx="10018712" cy="669693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 sz="3600" b="1">
                <a:solidFill>
                  <a:srgbClr val="000000"/>
                </a:solidFill>
                <a:latin typeface="Times New Roman"/>
                <a:cs typeface="Times New Roman"/>
              </a:rPr>
              <a:t>CONCLUSION</a:t>
            </a:r>
          </a:p>
          <a:p>
            <a:pPr marL="0" indent="0">
              <a:buNone/>
            </a:pPr>
            <a:endParaRPr lang="en-US" sz="3600" b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A threshold invariant algorithm has been proposed: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uses a modification of the Canny edge detector. 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The algorithm has been tested on a group of 10 images.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reduced sensitivity to changes in image intensity.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One on the most challenging tasks in this project was: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the car extraction in images. </a:t>
            </a:r>
          </a:p>
          <a:p>
            <a:endParaRPr lang="en-US" sz="3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A solution to this problem was: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provide an algorithm that can be used to find any shape.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classify image accordingly to described shapes. 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2445087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8775" y="203200"/>
            <a:ext cx="10018713" cy="606766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Techniques</a:t>
            </a:r>
            <a:r>
              <a:rPr lang="en-US" sz="27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used Hough Transform: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used to identify circular objects in low-contrast noisy images. 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Highly dependent converting gray-scale images to bin images </a:t>
            </a:r>
          </a:p>
          <a:p>
            <a:endParaRPr lang="en-US" sz="27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Using edge detection techniques such as Canny: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find irregular instances of objects </a:t>
            </a:r>
          </a:p>
          <a:p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predefined set of shapes by a voting procedure.</a:t>
            </a:r>
          </a:p>
          <a:p>
            <a:endParaRPr lang="en-US" sz="27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In general, histogram-based retrievals in HSV color space showed better performance than in RGB color space since it showed higher precision values for the same recall values. 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068170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28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Parallax</vt:lpstr>
      <vt:lpstr>Car Segmentation Final Project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36</cp:revision>
  <dcterms:created xsi:type="dcterms:W3CDTF">2012-07-27T01:16:44Z</dcterms:created>
  <dcterms:modified xsi:type="dcterms:W3CDTF">2013-02-07T12:43:14Z</dcterms:modified>
</cp:coreProperties>
</file>