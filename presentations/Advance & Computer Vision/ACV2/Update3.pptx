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A2A1DF85-07D8-49B2-9346-D1FBEFDC84BB}">
  <a:tblStyle styleName="Table_0" styleId="{A2A1DF85-07D8-49B2-9346-D1FBEFDC84BB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  <a:tblStyle styleName="Table_1" styleId="{6BCCE643-9AC4-4FF9-AB23-2F404A72E9FA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  <a:tblStyle styleName="Table_2" styleId="{25CBE8F9-1573-41CB-BE9F-CC55339D5EEF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</a:tblStyleLst>
</file>

<file path=ppt/_rels/presentation.xml.rels><?xml version="1.0" encoding="UTF-8" standalone="yes"?><Relationships xmlns="http://schemas.openxmlformats.org/package/2006/relationships"><Relationship Target="slides/slide34.xml" Type="http://schemas.openxmlformats.org/officeDocument/2006/relationships/slide" Id="rId39"/><Relationship Target="slides/slide33.xml" Type="http://schemas.openxmlformats.org/officeDocument/2006/relationships/slide" Id="rId38"/><Relationship Target="slides/slide32.xml" Type="http://schemas.openxmlformats.org/officeDocument/2006/relationships/slide" Id="rId37"/><Relationship Target="slides/slide14.xml" Type="http://schemas.openxmlformats.org/officeDocument/2006/relationships/slide" Id="rId19"/><Relationship Target="slides/slide31.xml" Type="http://schemas.openxmlformats.org/officeDocument/2006/relationships/slide" Id="rId36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slides/slide25.xml" Type="http://schemas.openxmlformats.org/officeDocument/2006/relationships/slide" Id="rId30"/><Relationship Target="slides/slide7.xml" Type="http://schemas.openxmlformats.org/officeDocument/2006/relationships/slide" Id="rId12"/><Relationship Target="slides/slide26.xml" Type="http://schemas.openxmlformats.org/officeDocument/2006/relationships/slide" Id="rId31"/><Relationship Target="slides/slide8.xml" Type="http://schemas.openxmlformats.org/officeDocument/2006/relationships/slide" Id="rId13"/><Relationship Target="slides/slide5.xml" Type="http://schemas.openxmlformats.org/officeDocument/2006/relationships/slide" Id="rId10"/><Relationship Target="slides/slide6.xml" Type="http://schemas.openxmlformats.org/officeDocument/2006/relationships/slide" Id="rId11"/><Relationship Target="slides/slide29.xml" Type="http://schemas.openxmlformats.org/officeDocument/2006/relationships/slide" Id="rId34"/><Relationship Target="slides/slide30.xml" Type="http://schemas.openxmlformats.org/officeDocument/2006/relationships/slide" Id="rId35"/><Relationship Target="slides/slide27.xml" Type="http://schemas.openxmlformats.org/officeDocument/2006/relationships/slide" Id="rId32"/><Relationship Target="slides/slide28.xml" Type="http://schemas.openxmlformats.org/officeDocument/2006/relationships/slide" Id="rId33"/><Relationship Target="slides/slide24.xml" Type="http://schemas.openxmlformats.org/officeDocument/2006/relationships/slide" Id="rId29"/><Relationship Target="slides/slide21.xml" Type="http://schemas.openxmlformats.org/officeDocument/2006/relationships/slide" Id="rId26"/><Relationship Target="slides/slide20.xml" Type="http://schemas.openxmlformats.org/officeDocument/2006/relationships/slide" Id="rId25"/><Relationship Target="slides/slide23.xml" Type="http://schemas.openxmlformats.org/officeDocument/2006/relationships/slide" Id="rId28"/><Relationship Target="slides/slide22.xml" Type="http://schemas.openxmlformats.org/officeDocument/2006/relationships/slide" Id="rId27"/><Relationship Target="presProps.xml" Type="http://schemas.openxmlformats.org/officeDocument/2006/relationships/presProps" Id="rId2"/><Relationship Target="slides/slide16.xml" Type="http://schemas.openxmlformats.org/officeDocument/2006/relationships/slide" Id="rId21"/><Relationship Target="theme/theme1.xml" Type="http://schemas.openxmlformats.org/officeDocument/2006/relationships/theme" Id="rId1"/><Relationship Target="slides/slide17.xml" Type="http://schemas.openxmlformats.org/officeDocument/2006/relationships/slide" Id="rId22"/><Relationship Target="slideMasters/slideMaster1.xml" Type="http://schemas.openxmlformats.org/officeDocument/2006/relationships/slideMaster" Id="rId4"/><Relationship Target="slides/slide18.xml" Type="http://schemas.openxmlformats.org/officeDocument/2006/relationships/slide" Id="rId23"/><Relationship Target="tableStyles.xml" Type="http://schemas.openxmlformats.org/officeDocument/2006/relationships/tableStyles" Id="rId3"/><Relationship Target="slides/slide19.xml" Type="http://schemas.openxmlformats.org/officeDocument/2006/relationships/slide" Id="rId24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1" name="Shape 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Shape 4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9" name="Shape 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8" name="Shape 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9" name="Shape 7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8" name="Shape 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7" name="Shape 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1" name="Shape 1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3" name="Shape 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4" name="Shape 14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4" name="Shape 1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5" name="Shape 15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9" name="Shape 15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0" name="Shape 16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1" name="Shape 1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2" name="Shape 18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0" name="Shape 2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1" name="Shape 20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7" name="Shape 20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8" name="Shape 20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9" name="Shape 20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4" name="Shape 2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5" name="Shape 21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0" name="Shape 23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1" name="Shape 23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32" name="Shape 23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6" name="Shape 2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7" name="Shape 24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48" name="Shape 2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3" name="Shape 2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4" name="Shape 25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55" name="Shape 25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2" name="Shape 2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3" name="Shape 26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4" name="Shape 26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7" name="Shape 2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8" name="Shape 26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9" name="Shape 26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9" name="Shape 2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0" name="Shape 28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81" name="Shape 28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85" name="Shape 2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6" name="Shape 28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87" name="Shape 28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90" name="Shape 29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1" name="Shape 29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92" name="Shape 29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95" name="Shape 2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6" name="Shape 29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97" name="Shape 29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0" name="Shape 3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1" name="Shape 30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02" name="Shape 3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5" name="Shape 30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6" name="Shape 30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07" name="Shape 30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1" name="Shape 3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2" name="Shape 31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13" name="Shape 31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6" name="Shape 3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7" name="Shape 31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18" name="Shape 31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1" name="Shape 3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2" name="Shape 32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23" name="Shape 32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7" name="Shape 3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8" name="Shape 32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29" name="Shape 32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32" name="Shape 3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3" name="Shape 33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34" name="Shape 33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37" name="Shape 3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8" name="Shape 33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39" name="Shape 33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43" name="Shape 3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4" name="Shape 34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45" name="Shape 34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8" name="Shape 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" name="Shape 9"/>
          <p:cNvSpPr/>
          <p:nvPr/>
        </p:nvSpPr>
        <p:spPr>
          <a:xfrm>
            <a:off y="0" x="4724400"/>
            <a:ext cy="6854063" cx="3012140"/>
          </a:xfrm>
          <a:custGeom>
            <a:pathLst>
              <a:path w="3012141" extrusionOk="0" h="6854064">
                <a:moveTo>
                  <a:pt y="0" x="2623817"/>
                </a:moveTo>
                <a:lnTo>
                  <a:pt y="608783" x="2791741"/>
                </a:lnTo>
                <a:lnTo>
                  <a:pt y="1301537" x="1826176"/>
                </a:lnTo>
                <a:lnTo>
                  <a:pt y="2466623" x="2130539"/>
                </a:lnTo>
                <a:lnTo>
                  <a:pt y="3190866" x="1175470"/>
                </a:lnTo>
                <a:lnTo>
                  <a:pt y="4355952" x="1469337"/>
                </a:lnTo>
                <a:lnTo>
                  <a:pt y="5080194" x="493277"/>
                </a:lnTo>
                <a:lnTo>
                  <a:pt y="6255776" x="808135"/>
                </a:lnTo>
                <a:lnTo>
                  <a:pt y="6854064" x="0"/>
                </a:lnTo>
                <a:lnTo>
                  <a:pt y="6854064" x="388325"/>
                </a:lnTo>
                <a:lnTo>
                  <a:pt y="6308258" x="1007545"/>
                </a:lnTo>
                <a:lnTo>
                  <a:pt y="5122179" x="713678"/>
                </a:lnTo>
                <a:lnTo>
                  <a:pt y="4408433" x="1679242"/>
                </a:lnTo>
                <a:lnTo>
                  <a:pt y="3232851" x="1364384"/>
                </a:lnTo>
                <a:lnTo>
                  <a:pt y="2498112" x="2361435"/>
                </a:lnTo>
                <a:lnTo>
                  <a:pt y="1343522" x="2015091"/>
                </a:lnTo>
                <a:lnTo>
                  <a:pt y="608783" x="3012141"/>
                </a:lnTo>
                <a:lnTo>
                  <a:pt y="0" x="2833722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10" name="Shape 10"/>
          <p:cNvGrpSpPr/>
          <p:nvPr/>
        </p:nvGrpSpPr>
        <p:grpSpPr>
          <a:xfrm>
            <a:off y="0" x="4571999"/>
            <a:ext cy="6857999" cx="4546600"/>
            <a:chOff y="0" x="1447"/>
            <a:chExt cy="4319" cx="2863"/>
          </a:xfrm>
        </p:grpSpPr>
        <p:sp>
          <p:nvSpPr>
            <p:cNvPr id="11" name="Shape 11"/>
            <p:cNvSpPr/>
            <p:nvPr/>
          </p:nvSpPr>
          <p:spPr>
            <a:xfrm>
              <a:off y="0" x="1447"/>
              <a:ext cy="4319" cx="1885"/>
            </a:xfrm>
            <a:custGeom>
              <a:pathLst>
                <a:path w="1886" extrusionOk="0" h="4320">
                  <a:moveTo>
                    <a:pt y="0" x="1719"/>
                  </a:moveTo>
                  <a:lnTo>
                    <a:pt y="357" x="1813"/>
                  </a:lnTo>
                  <a:lnTo>
                    <a:pt y="805" x="1194"/>
                  </a:lnTo>
                  <a:lnTo>
                    <a:pt y="1544" x="1393"/>
                  </a:lnTo>
                  <a:lnTo>
                    <a:pt y="1991" x="777"/>
                  </a:lnTo>
                  <a:lnTo>
                    <a:pt y="2734" x="972"/>
                  </a:lnTo>
                  <a:lnTo>
                    <a:pt y="3178" x="355"/>
                  </a:lnTo>
                  <a:lnTo>
                    <a:pt y="3921" x="554"/>
                  </a:lnTo>
                  <a:lnTo>
                    <a:pt y="4320" x="0"/>
                  </a:lnTo>
                  <a:lnTo>
                    <a:pt y="4320" x="109"/>
                  </a:lnTo>
                  <a:lnTo>
                    <a:pt y="3948" x="623"/>
                  </a:lnTo>
                  <a:lnTo>
                    <a:pt y="3205" x="430"/>
                  </a:lnTo>
                  <a:lnTo>
                    <a:pt y="2761" x="1045"/>
                  </a:lnTo>
                  <a:lnTo>
                    <a:pt y="2018" x="850"/>
                  </a:lnTo>
                  <a:lnTo>
                    <a:pt y="1572" x="1468"/>
                  </a:lnTo>
                  <a:lnTo>
                    <a:pt y="830" x="1271"/>
                  </a:lnTo>
                  <a:lnTo>
                    <a:pt y="386" x="1886"/>
                  </a:lnTo>
                  <a:lnTo>
                    <a:pt y="0" x="1788"/>
                  </a:lnTo>
                  <a:lnTo>
                    <a:pt y="0" x="1719"/>
                  </a:lnTo>
                  <a:close/>
                </a:path>
              </a:pathLst>
            </a:custGeom>
            <a:solidFill>
              <a:srgbClr val="A64129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2" name="Shape 12"/>
            <p:cNvSpPr/>
            <p:nvPr/>
          </p:nvSpPr>
          <p:spPr>
            <a:xfrm>
              <a:off y="0" x="1559"/>
              <a:ext cy="4319" cx="1978"/>
            </a:xfrm>
            <a:custGeom>
              <a:pathLst>
                <a:path w="1979" extrusionOk="0" h="4320">
                  <a:moveTo>
                    <a:pt y="0" x="1673"/>
                  </a:moveTo>
                  <a:lnTo>
                    <a:pt y="382" x="1777"/>
                  </a:lnTo>
                  <a:lnTo>
                    <a:pt y="830" x="1160"/>
                  </a:lnTo>
                  <a:lnTo>
                    <a:pt y="1570" x="1357"/>
                  </a:lnTo>
                  <a:lnTo>
                    <a:pt y="2016" x="743"/>
                  </a:lnTo>
                  <a:lnTo>
                    <a:pt y="2759" x="936"/>
                  </a:lnTo>
                  <a:lnTo>
                    <a:pt y="3204" x="319"/>
                  </a:lnTo>
                  <a:lnTo>
                    <a:pt y="3947" x="517"/>
                  </a:lnTo>
                  <a:lnTo>
                    <a:pt y="4320" x="0"/>
                  </a:lnTo>
                  <a:lnTo>
                    <a:pt y="4320" x="304"/>
                  </a:lnTo>
                  <a:lnTo>
                    <a:pt y="4025" x="717"/>
                  </a:lnTo>
                  <a:lnTo>
                    <a:pt y="3280" x="521"/>
                  </a:lnTo>
                  <a:lnTo>
                    <a:pt y="2836" x="1136"/>
                  </a:lnTo>
                  <a:lnTo>
                    <a:pt y="2093" x="941"/>
                  </a:lnTo>
                  <a:lnTo>
                    <a:pt y="1648" x="1559"/>
                  </a:lnTo>
                  <a:lnTo>
                    <a:pt y="905" x="1362"/>
                  </a:lnTo>
                  <a:lnTo>
                    <a:pt y="461" x="1979"/>
                  </a:lnTo>
                  <a:lnTo>
                    <a:pt y="0" x="1859"/>
                  </a:lnTo>
                  <a:lnTo>
                    <a:pt y="0" x="1673"/>
                  </a:lnTo>
                  <a:close/>
                </a:path>
              </a:pathLst>
            </a:custGeom>
            <a:solidFill>
              <a:srgbClr val="384452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3" name="Shape 13"/>
            <p:cNvSpPr/>
            <p:nvPr/>
          </p:nvSpPr>
          <p:spPr>
            <a:xfrm>
              <a:off y="0" x="2090"/>
              <a:ext cy="4319" cx="1805"/>
            </a:xfrm>
            <a:custGeom>
              <a:pathLst>
                <a:path w="1806" extrusionOk="0" h="4320">
                  <a:moveTo>
                    <a:pt y="0" x="1462"/>
                  </a:moveTo>
                  <a:lnTo>
                    <a:pt y="510" x="1604"/>
                  </a:lnTo>
                  <a:lnTo>
                    <a:pt y="958" x="987"/>
                  </a:lnTo>
                  <a:lnTo>
                    <a:pt y="1696" x="1183"/>
                  </a:lnTo>
                  <a:lnTo>
                    <a:pt y="2142" x="570"/>
                  </a:lnTo>
                  <a:lnTo>
                    <a:pt y="2885" x="764"/>
                  </a:lnTo>
                  <a:lnTo>
                    <a:pt y="3329" x="147"/>
                  </a:lnTo>
                  <a:lnTo>
                    <a:pt y="4072" x="344"/>
                  </a:lnTo>
                  <a:lnTo>
                    <a:pt y="4320" x="0"/>
                  </a:lnTo>
                  <a:lnTo>
                    <a:pt y="4320" x="304"/>
                  </a:lnTo>
                  <a:lnTo>
                    <a:pt y="4151" x="544"/>
                  </a:lnTo>
                  <a:lnTo>
                    <a:pt y="3406" x="349"/>
                  </a:lnTo>
                  <a:lnTo>
                    <a:pt y="2961" x="965"/>
                  </a:lnTo>
                  <a:lnTo>
                    <a:pt y="2220" x="768"/>
                  </a:lnTo>
                  <a:lnTo>
                    <a:pt y="1776" x="1385"/>
                  </a:lnTo>
                  <a:lnTo>
                    <a:pt y="1031" x="1189"/>
                  </a:lnTo>
                  <a:lnTo>
                    <a:pt y="586" x="1806"/>
                  </a:lnTo>
                  <a:lnTo>
                    <a:pt y="0" x="1647"/>
                  </a:lnTo>
                  <a:lnTo>
                    <a:pt y="0" x="1462"/>
                  </a:lnTo>
                  <a:close/>
                </a:path>
              </a:pathLst>
            </a:custGeom>
            <a:solidFill>
              <a:srgbClr val="F68C1F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4" name="Shape 14"/>
            <p:cNvSpPr/>
            <p:nvPr/>
          </p:nvSpPr>
          <p:spPr>
            <a:xfrm>
              <a:off y="0" x="2463"/>
              <a:ext cy="4319" cx="1847"/>
            </a:xfrm>
            <a:custGeom>
              <a:pathLst>
                <a:path w="1848" extrusionOk="0" h="4320">
                  <a:moveTo>
                    <a:pt y="0" x="1311"/>
                  </a:moveTo>
                  <a:lnTo>
                    <a:pt y="606" x="1475"/>
                  </a:lnTo>
                  <a:lnTo>
                    <a:pt y="1055" x="856"/>
                  </a:lnTo>
                  <a:lnTo>
                    <a:pt y="1794" x="1054"/>
                  </a:lnTo>
                  <a:lnTo>
                    <a:pt y="2240" x="439"/>
                  </a:lnTo>
                  <a:lnTo>
                    <a:pt y="2981" x="634"/>
                  </a:lnTo>
                  <a:lnTo>
                    <a:pt y="3428" x="16"/>
                  </a:lnTo>
                  <a:lnTo>
                    <a:pt y="4169" x="215"/>
                  </a:lnTo>
                  <a:lnTo>
                    <a:pt y="4320" x="0"/>
                  </a:lnTo>
                  <a:lnTo>
                    <a:pt y="4320" x="570"/>
                  </a:lnTo>
                  <a:lnTo>
                    <a:pt y="4304" x="584"/>
                  </a:lnTo>
                  <a:lnTo>
                    <a:pt y="3570" x="391"/>
                  </a:lnTo>
                  <a:lnTo>
                    <a:pt y="3118" x="1005"/>
                  </a:lnTo>
                  <a:lnTo>
                    <a:pt y="2380" x="810"/>
                  </a:lnTo>
                  <a:lnTo>
                    <a:pt y="1936" x="1422"/>
                  </a:lnTo>
                  <a:lnTo>
                    <a:pt y="1193" x="1229"/>
                  </a:lnTo>
                  <a:lnTo>
                    <a:pt y="743" x="1848"/>
                  </a:lnTo>
                  <a:lnTo>
                    <a:pt y="0" x="1650"/>
                  </a:lnTo>
                  <a:lnTo>
                    <a:pt y="0" x="1311"/>
                  </a:lnTo>
                  <a:close/>
                </a:path>
              </a:pathLst>
            </a:custGeom>
            <a:solidFill>
              <a:srgbClr val="A4BDC0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</p:grpSp>
      <p:sp>
        <p:nvSpPr>
          <p:cNvPr id="15" name="Shape 15"/>
          <p:cNvSpPr txBox="1"/>
          <p:nvPr>
            <p:ph type="ctrTitle"/>
          </p:nvPr>
        </p:nvSpPr>
        <p:spPr>
          <a:xfrm>
            <a:off y="995251" x="685800"/>
            <a:ext cy="1544700" cx="5258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y="2648555" x="685800"/>
            <a:ext cy="1030200" cx="5258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19" name="Shape 1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 sz="3600">
                <a:solidFill>
                  <a:schemeClr val="dk1"/>
                </a:solidFill>
              </a:defRPr>
            </a:lvl1pPr>
            <a:lvl2pPr rtl="0">
              <a:defRPr sz="3600">
                <a:solidFill>
                  <a:schemeClr val="dk1"/>
                </a:solidFill>
              </a:defRPr>
            </a:lvl2pPr>
            <a:lvl3pPr rtl="0">
              <a:defRPr sz="3600">
                <a:solidFill>
                  <a:schemeClr val="dk1"/>
                </a:solidFill>
              </a:defRPr>
            </a:lvl3pPr>
            <a:lvl4pPr rtl="0">
              <a:defRPr sz="3600">
                <a:solidFill>
                  <a:schemeClr val="dk1"/>
                </a:solidFill>
              </a:defRPr>
            </a:lvl4pPr>
            <a:lvl5pPr rtl="0">
              <a:defRPr sz="3600">
                <a:solidFill>
                  <a:schemeClr val="dk1"/>
                </a:solidFill>
              </a:defRPr>
            </a:lvl5pPr>
            <a:lvl6pPr rtl="0">
              <a:defRPr sz="3600">
                <a:solidFill>
                  <a:schemeClr val="dk1"/>
                </a:solidFill>
              </a:defRPr>
            </a:lvl6pPr>
            <a:lvl7pPr rtl="0">
              <a:defRPr sz="3600">
                <a:solidFill>
                  <a:schemeClr val="dk1"/>
                </a:solidFill>
              </a:defRPr>
            </a:lvl7pPr>
            <a:lvl8pPr rtl="0">
              <a:defRPr sz="3600">
                <a:solidFill>
                  <a:schemeClr val="dk1"/>
                </a:solidFill>
              </a:defRPr>
            </a:lvl8pPr>
            <a:lvl9pPr rtl="0"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21" name="Shape 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" name="Shape 22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rgbClr val="A5BDC0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 sz="3600">
                <a:solidFill>
                  <a:srgbClr val="A64128"/>
                </a:solidFill>
              </a:defRPr>
            </a:lvl1pPr>
            <a:lvl2pPr rtl="0">
              <a:defRPr sz="3600">
                <a:solidFill>
                  <a:srgbClr val="A64128"/>
                </a:solidFill>
              </a:defRPr>
            </a:lvl2pPr>
            <a:lvl3pPr rtl="0">
              <a:defRPr sz="3600">
                <a:solidFill>
                  <a:srgbClr val="A64128"/>
                </a:solidFill>
              </a:defRPr>
            </a:lvl3pPr>
            <a:lvl4pPr rtl="0">
              <a:defRPr sz="3600">
                <a:solidFill>
                  <a:srgbClr val="A64128"/>
                </a:solidFill>
              </a:defRPr>
            </a:lvl4pPr>
            <a:lvl5pPr rtl="0">
              <a:defRPr sz="3600">
                <a:solidFill>
                  <a:srgbClr val="A64128"/>
                </a:solidFill>
              </a:defRPr>
            </a:lvl5pPr>
            <a:lvl6pPr rtl="0">
              <a:defRPr sz="3600">
                <a:solidFill>
                  <a:srgbClr val="A64128"/>
                </a:solidFill>
              </a:defRPr>
            </a:lvl6pPr>
            <a:lvl7pPr rtl="0">
              <a:defRPr sz="3600">
                <a:solidFill>
                  <a:srgbClr val="A64128"/>
                </a:solidFill>
              </a:defRPr>
            </a:lvl7pPr>
            <a:lvl8pPr rtl="0">
              <a:defRPr sz="3600">
                <a:solidFill>
                  <a:srgbClr val="A64128"/>
                </a:solidFill>
              </a:defRPr>
            </a:lvl8pPr>
            <a:lvl9pPr rtl="0">
              <a:defRPr sz="3600">
                <a:solidFill>
                  <a:srgbClr val="A64128"/>
                </a:solidFill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25" name="Shape 25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26" name="Shape 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" name="Shape 2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>
                <a:solidFill>
                  <a:schemeClr val="dk1"/>
                </a:solidFill>
              </a:defRPr>
            </a:lvl1pPr>
            <a:lvl2pPr rtl="0">
              <a:defRPr>
                <a:solidFill>
                  <a:schemeClr val="dk1"/>
                </a:solidFill>
              </a:defRPr>
            </a:lvl2pPr>
            <a:lvl3pPr rtl="0">
              <a:defRPr>
                <a:solidFill>
                  <a:schemeClr val="dk1"/>
                </a:solidFill>
              </a:defRPr>
            </a:lvl3pPr>
            <a:lvl4pPr rtl="0">
              <a:defRPr>
                <a:solidFill>
                  <a:schemeClr val="dk1"/>
                </a:solidFill>
              </a:defRPr>
            </a:lvl4pPr>
            <a:lvl5pPr rtl="0">
              <a:defRPr>
                <a:solidFill>
                  <a:schemeClr val="dk1"/>
                </a:solidFill>
              </a:defRPr>
            </a:lvl5pPr>
            <a:lvl6pPr rtl="0">
              <a:defRPr>
                <a:solidFill>
                  <a:schemeClr val="dk1"/>
                </a:solidFill>
              </a:defRPr>
            </a:lvl6pPr>
            <a:lvl7pPr rtl="0">
              <a:defRPr>
                <a:solidFill>
                  <a:schemeClr val="dk1"/>
                </a:solidFill>
              </a:defRPr>
            </a:lvl7pPr>
            <a:lvl8pPr rtl="0">
              <a:defRPr>
                <a:solidFill>
                  <a:schemeClr val="dk1"/>
                </a:solidFill>
              </a:defRPr>
            </a:lvl8pPr>
            <a:lvl9pPr rtl="0"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Shape 28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29" name="Shape 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" name="Shape 30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1pPr>
            <a:lvl2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2pPr>
            <a:lvl3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3pPr>
            <a:lvl4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4pPr>
            <a:lvl5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5pPr>
            <a:lvl6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6pPr>
            <a:lvl7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7pPr>
            <a:lvl8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8pPr>
            <a:lvl9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Shape 31"/>
          <p:cNvSpPr/>
          <p:nvPr/>
        </p:nvSpPr>
        <p:spPr>
          <a:xfrm rot="10800000">
            <a:off y="0" x="7938258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32" name="Shape 32"/>
          <p:cNvSpPr/>
          <p:nvPr/>
        </p:nvSpPr>
        <p:spPr>
          <a:xfrm rot="5400000">
            <a:off y="-1657077" x="1657077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2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/>
          <p:nvPr/>
        </p:nvSpPr>
        <p:spPr>
          <a:xfrm>
            <a:off y="2338102" x="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6" name="Shape 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-285750" marL="742950">
              <a:spcBef>
                <a:spcPts val="48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-228600" marL="1143000">
              <a:spcBef>
                <a:spcPts val="48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-228600" marL="1600200">
              <a:spcBef>
                <a:spcPts val="36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-228600" marL="205740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-228600" marL="251460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-228600" marL="2971800">
              <a:spcBef>
                <a:spcPts val="36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-228600" marL="342900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-228600" marL="388620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4"/><Relationship Target="../media/image11.pn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5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4"/><Relationship Target="../media/image00.png" Type="http://schemas.openxmlformats.org/officeDocument/2006/relationships/image" Id="rId3"/><Relationship Target="../media/image07.png" Type="http://schemas.openxmlformats.org/officeDocument/2006/relationships/image" Id="rId6"/><Relationship Target="../media/image04.png" Type="http://schemas.openxmlformats.org/officeDocument/2006/relationships/image" Id="rId5"/><Relationship Target="../media/image02.png" Type="http://schemas.openxmlformats.org/officeDocument/2006/relationships/image" Id="rId7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2.png" Type="http://schemas.openxmlformats.org/officeDocument/2006/relationships/image" Id="rId4"/><Relationship Target="../media/image10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6.png" Type="http://schemas.openxmlformats.org/officeDocument/2006/relationships/image" Id="rId3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8.png" Type="http://schemas.openxmlformats.org/officeDocument/2006/relationships/image" Id="rId3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4.png" Type="http://schemas.openxmlformats.org/officeDocument/2006/relationships/image" Id="rId4"/><Relationship Target="../media/image08.png" Type="http://schemas.openxmlformats.org/officeDocument/2006/relationships/image" Id="rId3"/><Relationship Target="../media/image13.png" Type="http://schemas.openxmlformats.org/officeDocument/2006/relationships/image" Id="rId5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8.png" Type="http://schemas.openxmlformats.org/officeDocument/2006/relationships/image" Id="rId4"/><Relationship Target="../media/image17.png" Type="http://schemas.openxmlformats.org/officeDocument/2006/relationships/image" Id="rId3"/><Relationship Target="../media/image16.png" Type="http://schemas.openxmlformats.org/officeDocument/2006/relationships/image" Id="rId5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5.png" Type="http://schemas.openxmlformats.org/officeDocument/2006/relationships/image" Id="rId3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9.png" Type="http://schemas.openxmlformats.org/officeDocument/2006/relationships/image" Id="rId3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3.xml.rels><?xml version="1.0" encoding="UTF-8" standalone="yes"?><Relationships xmlns="http://schemas.openxmlformats.org/package/2006/relationships"><Relationship Target="../notesSlides/notesSlide2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4.xml.rels><?xml version="1.0" encoding="UTF-8" standalone="yes"?><Relationships xmlns="http://schemas.openxmlformats.org/package/2006/relationships"><Relationship Target="../notesSlides/notesSlide2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3.png" Type="http://schemas.openxmlformats.org/officeDocument/2006/relationships/image" Id="rId3"/></Relationships>
</file>

<file path=ppt/slides/_rels/slide25.xml.rels><?xml version="1.0" encoding="UTF-8" standalone="yes"?><Relationships xmlns="http://schemas.openxmlformats.org/package/2006/relationships"><Relationship Target="../notesSlides/notesSlide2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2.png" Type="http://schemas.openxmlformats.org/officeDocument/2006/relationships/image" Id="rId3"/></Relationships>
</file>

<file path=ppt/slides/_rels/slide26.xml.rels><?xml version="1.0" encoding="UTF-8" standalone="yes"?><Relationships xmlns="http://schemas.openxmlformats.org/package/2006/relationships"><Relationship Target="../notesSlides/notesSlide2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9.png" Type="http://schemas.openxmlformats.org/officeDocument/2006/relationships/image" Id="rId3"/></Relationships>
</file>

<file path=ppt/slides/_rels/slide27.xml.rels><?xml version="1.0" encoding="UTF-8" standalone="yes"?><Relationships xmlns="http://schemas.openxmlformats.org/package/2006/relationships"><Relationship Target="../notesSlides/notesSlide2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8.png" Type="http://schemas.openxmlformats.org/officeDocument/2006/relationships/image" Id="rId3"/></Relationships>
</file>

<file path=ppt/slides/_rels/slide28.xml.rels><?xml version="1.0" encoding="UTF-8" standalone="yes"?><Relationships xmlns="http://schemas.openxmlformats.org/package/2006/relationships"><Relationship Target="../notesSlides/notesSlide2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1.png" Type="http://schemas.openxmlformats.org/officeDocument/2006/relationships/image" Id="rId3"/></Relationships>
</file>

<file path=ppt/slides/_rels/slide29.xml.rels><?xml version="1.0" encoding="UTF-8" standalone="yes"?><Relationships xmlns="http://schemas.openxmlformats.org/package/2006/relationships"><Relationship Target="../notesSlides/notesSlide2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7.png" Type="http://schemas.openxmlformats.org/officeDocument/2006/relationships/image" Id="rId3"/></Relationships>
</file>

<file path=ppt/slides/_rels/slide30.xml.rels><?xml version="1.0" encoding="UTF-8" standalone="yes"?><Relationships xmlns="http://schemas.openxmlformats.org/package/2006/relationships"><Relationship Target="../notesSlides/notesSlide3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0.png" Type="http://schemas.openxmlformats.org/officeDocument/2006/relationships/image" Id="rId3"/></Relationships>
</file>

<file path=ppt/slides/_rels/slide31.xml.rels><?xml version="1.0" encoding="UTF-8" standalone="yes"?><Relationships xmlns="http://schemas.openxmlformats.org/package/2006/relationships"><Relationship Target="../notesSlides/notesSlide3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0.jpg" Type="http://schemas.openxmlformats.org/officeDocument/2006/relationships/image" Id="rId3"/></Relationships>
</file>

<file path=ppt/slides/_rels/slide32.xml.rels><?xml version="1.0" encoding="UTF-8" standalone="yes"?><Relationships xmlns="http://schemas.openxmlformats.org/package/2006/relationships"><Relationship Target="../notesSlides/notesSlide3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4.png" Type="http://schemas.openxmlformats.org/officeDocument/2006/relationships/image" Id="rId3"/></Relationships>
</file>

<file path=ppt/slides/_rels/slide33.xml.rels><?xml version="1.0" encoding="UTF-8" standalone="yes"?><Relationships xmlns="http://schemas.openxmlformats.org/package/2006/relationships"><Relationship Target="../notesSlides/notesSlide3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6.png" Type="http://schemas.openxmlformats.org/officeDocument/2006/relationships/image" Id="rId3"/></Relationships>
</file>

<file path=ppt/slides/_rels/slide34.xml.rels><?xml version="1.0" encoding="UTF-8" standalone="yes"?><Relationships xmlns="http://schemas.openxmlformats.org/package/2006/relationships"><Relationship Target="../notesSlides/notesSlide3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5.png" Type="http://schemas.openxmlformats.org/officeDocument/2006/relationships/image" Id="rId3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5" name="Shape 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" name="Shape 36"/>
          <p:cNvSpPr txBox="1"/>
          <p:nvPr>
            <p:ph type="ctrTitle"/>
          </p:nvPr>
        </p:nvSpPr>
        <p:spPr>
          <a:xfrm>
            <a:off y="17669" x="385025"/>
            <a:ext cy="2462099" cx="62963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6000" lang="en"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  <a:p>
            <a:pPr>
              <a:buNone/>
            </a:pPr>
            <a:r>
              <a:rPr u="sng" sz="6000" lang="en">
                <a:latin typeface="Corsiva"/>
                <a:ea typeface="Corsiva"/>
                <a:cs typeface="Corsiva"/>
                <a:sym typeface="Corsiva"/>
              </a:rPr>
              <a:t>Update 3</a:t>
            </a:r>
          </a:p>
        </p:txBody>
      </p:sp>
      <p:sp>
        <p:nvSpPr>
          <p:cNvPr id="37" name="Shape 37"/>
          <p:cNvSpPr txBox="1"/>
          <p:nvPr>
            <p:ph idx="1" type="subTitle"/>
          </p:nvPr>
        </p:nvSpPr>
        <p:spPr>
          <a:xfrm>
            <a:off y="3626130" x="1742046"/>
            <a:ext cy="1030200" cx="52587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Karina Damico    </a:t>
            </a:r>
          </a:p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Pauline Martial</a:t>
            </a:r>
          </a:p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Piter  Garcia</a:t>
            </a:r>
          </a:p>
        </p:txBody>
      </p:sp>
      <p:sp>
        <p:nvSpPr>
          <p:cNvPr id="38" name="Shape 38"/>
          <p:cNvSpPr/>
          <p:nvPr/>
        </p:nvSpPr>
        <p:spPr>
          <a:xfrm>
            <a:off y="3858400" x="14183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9" name="Shape 39"/>
          <p:cNvSpPr/>
          <p:nvPr/>
        </p:nvSpPr>
        <p:spPr>
          <a:xfrm>
            <a:off y="4315600" x="1397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40" name="Shape 40"/>
          <p:cNvSpPr/>
          <p:nvPr/>
        </p:nvSpPr>
        <p:spPr>
          <a:xfrm>
            <a:off y="4772800" x="14367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44" name="Shape 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5" name="Shape 45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Karina: </a:t>
            </a:r>
          </a:p>
          <a:p>
            <a:pPr algn="ctr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Gabor descriptor</a:t>
            </a:r>
            <a:r>
              <a:rPr sz="4800" lang="en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49" name="Shape 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51" name="Shape 51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52" name="Shape 52"/>
          <p:cNvSpPr txBox="1"/>
          <p:nvPr/>
        </p:nvSpPr>
        <p:spPr>
          <a:xfrm>
            <a:off y="1565112" x="1088100"/>
            <a:ext cy="4600499" cx="8055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Test on 4 line histogram methods [2] - 1x128 feature vector: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Create training input matrix: 128 x 345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Create target matrix: 5 x 345 (5 categories, 345 samples)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Create NN with Matlab NN toolbox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Split those training images into: training (70%), validation (15%), testing (15%)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As vector has length 128 - thus, 128 input vectors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Number of hidden nodes: 70 (worked ok)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Number of output neurons: 5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cxnSp>
        <p:nvCxnSpPr>
          <p:cNvPr id="53" name="Shape 53"/>
          <p:cNvCxnSpPr/>
          <p:nvPr/>
        </p:nvCxnSpPr>
        <p:spPr>
          <a:xfrm>
            <a:off y="1417637" x="955975"/>
            <a:ext cy="4364400" cx="13800"/>
          </a:xfrm>
          <a:prstGeom prst="straightConnector1">
            <a:avLst/>
          </a:prstGeom>
          <a:noFill/>
          <a:ln w="28575" cap="flat">
            <a:solidFill>
              <a:srgbClr val="EA9999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54" name="Shape 54"/>
          <p:cNvSpPr/>
          <p:nvPr/>
        </p:nvSpPr>
        <p:spPr>
          <a:xfrm>
            <a:off y="1607125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5" name="Shape 55"/>
          <p:cNvSpPr/>
          <p:nvPr/>
        </p:nvSpPr>
        <p:spPr>
          <a:xfrm>
            <a:off y="21725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6" name="Shape 56"/>
          <p:cNvSpPr/>
          <p:nvPr/>
        </p:nvSpPr>
        <p:spPr>
          <a:xfrm>
            <a:off y="267885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7" name="Shape 57"/>
          <p:cNvSpPr/>
          <p:nvPr/>
        </p:nvSpPr>
        <p:spPr>
          <a:xfrm>
            <a:off y="32147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8" name="Shape 58"/>
          <p:cNvSpPr/>
          <p:nvPr/>
        </p:nvSpPr>
        <p:spPr>
          <a:xfrm>
            <a:off y="3780075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9" name="Shape 59"/>
          <p:cNvSpPr/>
          <p:nvPr/>
        </p:nvSpPr>
        <p:spPr>
          <a:xfrm>
            <a:off y="43012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60" name="Shape 60"/>
          <p:cNvSpPr/>
          <p:nvPr/>
        </p:nvSpPr>
        <p:spPr>
          <a:xfrm>
            <a:off y="485175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61" name="Shape 61"/>
          <p:cNvSpPr/>
          <p:nvPr/>
        </p:nvSpPr>
        <p:spPr>
          <a:xfrm>
            <a:off y="5358125" x="637375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62" name="Shape 62"/>
          <p:cNvCxnSpPr/>
          <p:nvPr/>
        </p:nvCxnSpPr>
        <p:spPr>
          <a:xfrm>
            <a:off y="2058575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3" name="Shape 63"/>
          <p:cNvCxnSpPr/>
          <p:nvPr/>
        </p:nvCxnSpPr>
        <p:spPr>
          <a:xfrm>
            <a:off y="2585050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4" name="Shape 64"/>
          <p:cNvCxnSpPr/>
          <p:nvPr/>
        </p:nvCxnSpPr>
        <p:spPr>
          <a:xfrm>
            <a:off y="3153075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5" name="Shape 65"/>
          <p:cNvCxnSpPr/>
          <p:nvPr/>
        </p:nvCxnSpPr>
        <p:spPr>
          <a:xfrm>
            <a:off y="3652412" x="11608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6" name="Shape 66"/>
          <p:cNvCxnSpPr/>
          <p:nvPr/>
        </p:nvCxnSpPr>
        <p:spPr>
          <a:xfrm>
            <a:off y="4178325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7" name="Shape 67"/>
          <p:cNvCxnSpPr/>
          <p:nvPr/>
        </p:nvCxnSpPr>
        <p:spPr>
          <a:xfrm>
            <a:off y="4718650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8" name="Shape 68"/>
          <p:cNvCxnSpPr/>
          <p:nvPr/>
        </p:nvCxnSpPr>
        <p:spPr>
          <a:xfrm>
            <a:off y="5231275" x="1088100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72" name="Shape 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74" name="Shape 74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75" name="Shape 75"/>
          <p:cNvSpPr txBox="1"/>
          <p:nvPr/>
        </p:nvSpPr>
        <p:spPr>
          <a:xfrm>
            <a:off y="1417637" x="665025"/>
            <a:ext cy="480299" cx="7329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Test on 4 line hist method: trained - 67% accuracy for testing portion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76" name="Shape 76"/>
          <p:cNvSpPr/>
          <p:nvPr/>
        </p:nvSpPr>
        <p:spPr>
          <a:xfrm>
            <a:off y="2022775" x="5273538"/>
            <a:ext cy="3726874" cx="3676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77" name="Shape 77"/>
          <p:cNvSpPr/>
          <p:nvPr/>
        </p:nvSpPr>
        <p:spPr>
          <a:xfrm>
            <a:off y="2022775" x="975000"/>
            <a:ext cy="3740740" cx="352659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81" name="Shape 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2" name="Shape 8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83" name="Shape 83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84" name="Shape 84"/>
          <p:cNvSpPr txBox="1"/>
          <p:nvPr/>
        </p:nvSpPr>
        <p:spPr>
          <a:xfrm>
            <a:off y="1669925" x="604675"/>
            <a:ext cy="2035199" cx="3937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600" lang="en"/>
              <a:t>Testing on 150 test images: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Number of misclassification: 72/150  - 52% accuracy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Where confusion happened - everywhere (more or less)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graphicFrame>
        <p:nvGraphicFramePr>
          <p:cNvPr id="85" name="Shape 85"/>
          <p:cNvGraphicFramePr/>
          <p:nvPr/>
        </p:nvGraphicFramePr>
        <p:xfrm>
          <a:off y="4280148" x="743100"/>
          <a:ext cy="3000000" cx="3000000"/>
        </p:xfrm>
        <a:graphic>
          <a:graphicData uri="http://schemas.openxmlformats.org/drawingml/2006/table">
            <a:tbl>
              <a:tblPr>
                <a:noFill/>
                <a:tableStyleId>{A2A1DF85-07D8-49B2-9346-D1FBEFDC84BB}</a:tableStyleId>
              </a:tblPr>
              <a:tblGrid>
                <a:gridCol w="1032000"/>
                <a:gridCol w="1032000"/>
                <a:gridCol w="1032000"/>
                <a:gridCol w="1032000"/>
                <a:gridCol w="1032000"/>
                <a:gridCol w="1032000"/>
              </a:tblGrid>
              <a:tr h="402225"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Coast</a:t>
                      </a:r>
                    </a:p>
                  </a:txBody>
                  <a:tcPr marR="91425" marB="91425" marT="91425" marL="91425">
                    <a:lnB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Forest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Highway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Mountain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Tall Building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Coast</a:t>
                      </a:r>
                    </a:p>
                  </a:txBody>
                  <a:tcPr marR="91425" marB="91425" marT="91425" marL="91425">
                    <a:lnR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L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L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Forest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8</a:t>
                      </a:r>
                    </a:p>
                  </a:txBody>
                  <a:tcPr marR="91425" marB="91425" marT="91425" marL="91425">
                    <a:lnT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Highway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7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Mountain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7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3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FFFFF"/>
                    </a:solidFill>
                  </a:tcPr>
                </a:tc>
              </a:tr>
              <a:tr h="4022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Tall Building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10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6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16</a:t>
                      </a:r>
                    </a:p>
                  </a:txBody>
                  <a:tcPr marR="91425" marB="91425" marT="91425" marL="91425"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86" name="Shape 86"/>
          <p:cNvSpPr/>
          <p:nvPr/>
        </p:nvSpPr>
        <p:spPr>
          <a:xfrm>
            <a:off y="399312" x="5427300"/>
            <a:ext cy="3712240" cx="364876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87" name="Shape 87"/>
          <p:cNvSpPr txBox="1"/>
          <p:nvPr/>
        </p:nvSpPr>
        <p:spPr>
          <a:xfrm>
            <a:off y="4645525" x="7372400"/>
            <a:ext cy="457200" cx="1386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1800" lang="en"/>
              <a:t>BAD!!!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91" name="Shape 9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93" name="Shape 93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94" name="Shape 94"/>
          <p:cNvSpPr txBox="1"/>
          <p:nvPr/>
        </p:nvSpPr>
        <p:spPr>
          <a:xfrm>
            <a:off y="1417637" x="665025"/>
            <a:ext cy="2205900" cx="65924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Test on 4 line manual collon method: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95" name="Shape 95"/>
          <p:cNvSpPr/>
          <p:nvPr/>
        </p:nvSpPr>
        <p:spPr>
          <a:xfrm>
            <a:off y="1678990" x="4956825"/>
            <a:ext cy="3998757" cx="40008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96" name="Shape 96"/>
          <p:cNvSpPr txBox="1"/>
          <p:nvPr/>
        </p:nvSpPr>
        <p:spPr>
          <a:xfrm>
            <a:off y="2392575" x="665025"/>
            <a:ext cy="3215099" cx="4291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600" lang="en"/>
              <a:t>Testing on 150 test images: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Number of misclassification: 76/150  - 50% accuracy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Where confusion happened - everywhere again (more or less)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b="1" sz="1800" lang="en"/>
              <a:t>                      BAD!!!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02" name="Shape 102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03" name="Shape 103"/>
          <p:cNvSpPr txBox="1"/>
          <p:nvPr/>
        </p:nvSpPr>
        <p:spPr>
          <a:xfrm>
            <a:off y="1481537" x="977450"/>
            <a:ext cy="3621600" cx="68726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600" lang="en"/>
              <a:t>GIST: as someone could remember from previous Update - 1 x 576 feature vector.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But I found a nice article describing how someone applied gabor on colored image, that needs to be preprocessed first, so: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1) Whitening the image (through difference of image and real part of double Fourier Transformed Image) - use fft2()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2) Local contrast normalization (normalization is done by dividing by the local  luminance variance)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3) When calculating Gabor for colored - need to reshape, so that one column is one images output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cxnSp>
        <p:nvCxnSpPr>
          <p:cNvPr id="104" name="Shape 104"/>
          <p:cNvCxnSpPr/>
          <p:nvPr/>
        </p:nvCxnSpPr>
        <p:spPr>
          <a:xfrm>
            <a:off y="5245100" x="907500"/>
            <a:ext cy="5700" cx="7329000"/>
          </a:xfrm>
          <a:prstGeom prst="straightConnector1">
            <a:avLst/>
          </a:prstGeom>
          <a:noFill/>
          <a:ln w="38100" cap="flat">
            <a:solidFill>
              <a:srgbClr val="F6B26B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05" name="Shape 105"/>
          <p:cNvSpPr txBox="1"/>
          <p:nvPr/>
        </p:nvSpPr>
        <p:spPr>
          <a:xfrm>
            <a:off y="5354200" x="1449350"/>
            <a:ext cy="516299" cx="5928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/>
              <a:t>Network is modified: 576 input nodes, 300 hidden layers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11" name="Shape 111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12" name="Shape 112"/>
          <p:cNvSpPr/>
          <p:nvPr/>
        </p:nvSpPr>
        <p:spPr>
          <a:xfrm>
            <a:off y="1690270" x="891025"/>
            <a:ext cy="1814936" cx="182665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3" name="Shape 113"/>
          <p:cNvSpPr/>
          <p:nvPr/>
        </p:nvSpPr>
        <p:spPr>
          <a:xfrm>
            <a:off y="1695063" x="6608625"/>
            <a:ext cy="1814705" cx="17595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y="1638461" x="3734650"/>
            <a:ext cy="1918554" cx="183210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y="4271916" x="5264754"/>
            <a:ext cy="1770539" cx="178722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16" name="Shape 116"/>
          <p:cNvSpPr/>
          <p:nvPr/>
        </p:nvSpPr>
        <p:spPr>
          <a:xfrm>
            <a:off y="4171891" x="1315350"/>
            <a:ext cy="1970589" cx="251875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17" name="Shape 117"/>
          <p:cNvSpPr/>
          <p:nvPr/>
        </p:nvSpPr>
        <p:spPr>
          <a:xfrm>
            <a:off y="2168288" x="2812025"/>
            <a:ext cy="858900" cx="80309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8" name="Shape 118"/>
          <p:cNvSpPr/>
          <p:nvPr/>
        </p:nvSpPr>
        <p:spPr>
          <a:xfrm>
            <a:off y="2172965" x="5692875"/>
            <a:ext cy="858900" cx="80309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9" name="Shape 119"/>
          <p:cNvSpPr/>
          <p:nvPr/>
        </p:nvSpPr>
        <p:spPr>
          <a:xfrm rot="8452935">
            <a:off y="3497599" x="6789516"/>
            <a:ext cy="859012" cx="80311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0" name="Shape 120"/>
          <p:cNvSpPr/>
          <p:nvPr/>
        </p:nvSpPr>
        <p:spPr>
          <a:xfrm rot="10766612">
            <a:off y="4727715" x="4105002"/>
            <a:ext cy="858941" cx="80313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24" name="Shape 1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26" name="Shape 126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27" name="Shape 127"/>
          <p:cNvSpPr txBox="1"/>
          <p:nvPr/>
        </p:nvSpPr>
        <p:spPr>
          <a:xfrm>
            <a:off y="6167725" x="1162425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OMG! Looks nice!!! :D</a:t>
            </a:r>
          </a:p>
        </p:txBody>
      </p:sp>
      <p:sp>
        <p:nvSpPr>
          <p:cNvPr id="128" name="Shape 128"/>
          <p:cNvSpPr/>
          <p:nvPr/>
        </p:nvSpPr>
        <p:spPr>
          <a:xfrm>
            <a:off y="1417637" x="304329"/>
            <a:ext cy="4682616" cx="440486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9" name="Shape 129"/>
          <p:cNvSpPr txBox="1"/>
          <p:nvPr/>
        </p:nvSpPr>
        <p:spPr>
          <a:xfrm>
            <a:off y="1417637" x="4982112"/>
            <a:ext cy="589800" cx="3746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u="sng" b="1" lang="en" i="1">
                <a:solidFill>
                  <a:srgbClr val="A64D79"/>
                </a:solidFill>
              </a:rPr>
              <a:t>94% accuracy for training and validation!!!</a:t>
            </a:r>
          </a:p>
        </p:txBody>
      </p:sp>
      <p:sp>
        <p:nvSpPr>
          <p:cNvPr id="130" name="Shape 130"/>
          <p:cNvSpPr/>
          <p:nvPr/>
        </p:nvSpPr>
        <p:spPr>
          <a:xfrm>
            <a:off y="2122225" x="4899575"/>
            <a:ext cy="3941619" cx="38226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34" name="Shape 1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Shape 13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36" name="Shape 136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37" name="Shape 137"/>
          <p:cNvSpPr/>
          <p:nvPr/>
        </p:nvSpPr>
        <p:spPr>
          <a:xfrm>
            <a:off y="1660750" x="869425"/>
            <a:ext cy="4327045" cx="428798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38" name="Shape 138"/>
          <p:cNvSpPr txBox="1"/>
          <p:nvPr/>
        </p:nvSpPr>
        <p:spPr>
          <a:xfrm>
            <a:off y="1873275" x="5157406"/>
            <a:ext cy="3215399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
</a:t>
            </a:r>
            <a:r>
              <a:rPr lang="en"/>
              <a:t>Results of Running the trained Network on the test set (150 images).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>
                <a:solidFill>
                  <a:srgbClr val="CC0000"/>
                </a:solidFill>
              </a:rPr>
              <a:t>86% - accuracy with "Gabor GIST gray scale no more"  features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Forest - 100% correctly classified.</a:t>
            </a:r>
          </a:p>
          <a:p>
            <a:pPr rtl="0" lvl="0">
              <a:buNone/>
            </a:pPr>
            <a:r>
              <a:rPr lang="en"/>
              <a:t>Tall Building - 96.6% correctly classified.</a:t>
            </a:r>
          </a:p>
          <a:p>
            <a:r>
              <a:t/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Which class was the most problematic one?  - highway</a:t>
            </a:r>
          </a:p>
        </p:txBody>
      </p:sp>
      <p:sp>
        <p:nvSpPr>
          <p:cNvPr id="139" name="Shape 139"/>
          <p:cNvSpPr/>
          <p:nvPr/>
        </p:nvSpPr>
        <p:spPr>
          <a:xfrm rot="5413361">
            <a:off y="1610497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0" name="Shape 140"/>
          <p:cNvSpPr/>
          <p:nvPr/>
        </p:nvSpPr>
        <p:spPr>
          <a:xfrm rot="5413361">
            <a:off y="2484673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1" name="Shape 141"/>
          <p:cNvSpPr/>
          <p:nvPr/>
        </p:nvSpPr>
        <p:spPr>
          <a:xfrm rot="5413361">
            <a:off y="3374523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2" name="Shape 142"/>
          <p:cNvSpPr/>
          <p:nvPr/>
        </p:nvSpPr>
        <p:spPr>
          <a:xfrm rot="5413361">
            <a:off y="4308573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46" name="Shape 1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48" name="Shape 148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49" name="Shape 149"/>
          <p:cNvSpPr txBox="1"/>
          <p:nvPr/>
        </p:nvSpPr>
        <p:spPr>
          <a:xfrm>
            <a:off y="1702575" x="1333700"/>
            <a:ext cy="4041000" cx="69020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
</a:t>
            </a:r>
            <a:r>
              <a:rPr sz="1800" lang="en"/>
              <a:t>I'm very happy with results. 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Next stage  - will need to get all the features of my teammates - normalize and scale them,and then run through network.</a:t>
            </a:r>
          </a:p>
          <a:p>
            <a:r>
              <a:t/>
            </a:r>
          </a:p>
          <a:p>
            <a:r>
              <a:t/>
            </a:r>
          </a:p>
          <a:p>
            <a:pPr>
              <a:buNone/>
            </a:pPr>
            <a:r>
              <a:rPr sz="1800" lang="en"/>
              <a:t>Decided to use MLP instead of RBF, as the training time wasn't an issue even with 300 hidden layers, and MLP has nicer implementation in MATLAB - easier to configure and get fancy plots!</a:t>
            </a:r>
          </a:p>
        </p:txBody>
      </p:sp>
      <p:sp>
        <p:nvSpPr>
          <p:cNvPr id="150" name="Shape 150"/>
          <p:cNvSpPr/>
          <p:nvPr/>
        </p:nvSpPr>
        <p:spPr>
          <a:xfrm>
            <a:off y="1924350" x="695900"/>
            <a:ext cy="525900" cx="509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151" name="Shape 151"/>
          <p:cNvCxnSpPr/>
          <p:nvPr/>
        </p:nvCxnSpPr>
        <p:spPr>
          <a:xfrm>
            <a:off y="1417637" x="1191500"/>
            <a:ext cy="4364400" cx="13800"/>
          </a:xfrm>
          <a:prstGeom prst="straightConnector1">
            <a:avLst/>
          </a:prstGeom>
          <a:noFill/>
          <a:ln w="28575" cap="flat">
            <a:solidFill>
              <a:srgbClr val="EA9999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52" name="Shape 152"/>
          <p:cNvSpPr/>
          <p:nvPr/>
        </p:nvSpPr>
        <p:spPr>
          <a:xfrm>
            <a:off y="3049600" x="695900"/>
            <a:ext cy="525900" cx="509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53" name="Shape 153"/>
          <p:cNvSpPr/>
          <p:nvPr/>
        </p:nvSpPr>
        <p:spPr>
          <a:xfrm>
            <a:off y="4338175" x="695900"/>
            <a:ext cy="525900" cx="509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57" name="Shape 1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8" name="Shape 158"/>
          <p:cNvSpPr txBox="1"/>
          <p:nvPr>
            <p:ph idx="1" type="body"/>
          </p:nvPr>
        </p:nvSpPr>
        <p:spPr>
          <a:xfrm>
            <a:off y="2419712" x="913573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Pauline: </a:t>
            </a:r>
          </a:p>
          <a:p>
            <a:pPr algn="ctr" rtl="0" lvl="0">
              <a:spcBef>
                <a:spcPts val="0"/>
              </a:spcBef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CENTRIST</a:t>
            </a:r>
          </a:p>
          <a:p>
            <a:pPr algn="ctr" rtl="0"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descriptor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62" name="Shape 1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3" name="Shape 163"/>
          <p:cNvSpPr txBox="1"/>
          <p:nvPr/>
        </p:nvSpPr>
        <p:spPr>
          <a:xfrm>
            <a:off y="1501282" x="665025"/>
            <a:ext cy="4544699" cx="7739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Voting algorithm: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			CT 			Gabor		GIST 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					      		</a:t>
            </a:r>
          </a:p>
          <a:p>
            <a:pPr rtl="0" lvl="3" indent="-317500" marL="1828800"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          				: high confidence (3)</a:t>
            </a:r>
          </a:p>
          <a:p>
            <a:r>
              <a:t/>
            </a:r>
          </a:p>
          <a:p>
            <a:pPr rtl="0" lvl="3" indent="-317500" marL="1828800"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                                  : medium confidence (2)</a:t>
            </a:r>
          </a:p>
          <a:p>
            <a:r>
              <a:t/>
            </a:r>
          </a:p>
          <a:p>
            <a:r>
              <a:t/>
            </a:r>
          </a:p>
          <a:p>
            <a:pPr rtl="0" lvl="3" indent="-317500" marL="1828800"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                                  : low confidence (1)</a:t>
            </a:r>
          </a:p>
        </p:txBody>
      </p:sp>
      <p:sp>
        <p:nvSpPr>
          <p:cNvPr id="164" name="Shape 16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65" name="Shape 165"/>
          <p:cNvCxnSpPr/>
          <p:nvPr/>
        </p:nvCxnSpPr>
        <p:spPr>
          <a:xfrm>
            <a:off y="2676300" x="2220950"/>
            <a:ext cy="724800" cx="14588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66" name="Shape 166"/>
          <p:cNvCxnSpPr/>
          <p:nvPr/>
        </p:nvCxnSpPr>
        <p:spPr>
          <a:xfrm>
            <a:off y="2676300" x="3819300"/>
            <a:ext cy="743399" cx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67" name="Shape 167"/>
          <p:cNvCxnSpPr/>
          <p:nvPr/>
        </p:nvCxnSpPr>
        <p:spPr>
          <a:xfrm flipH="1">
            <a:off y="2639125" x="3977274"/>
            <a:ext cy="771299" cx="1143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168" name="Shape 168"/>
          <p:cNvSpPr txBox="1"/>
          <p:nvPr/>
        </p:nvSpPr>
        <p:spPr>
          <a:xfrm>
            <a:off y="2740425" x="4742542"/>
            <a:ext cy="373499" cx="544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y="2676300" x="3757542"/>
            <a:ext cy="373499" cx="544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70" name="Shape 170"/>
          <p:cNvSpPr txBox="1"/>
          <p:nvPr/>
        </p:nvSpPr>
        <p:spPr>
          <a:xfrm>
            <a:off y="2639125" x="2678150"/>
            <a:ext cy="373499" cx="544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71" name="Shape 171"/>
          <p:cNvSpPr/>
          <p:nvPr/>
        </p:nvSpPr>
        <p:spPr>
          <a:xfrm>
            <a:off y="3754275" x="2662400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2" name="Shape 172"/>
          <p:cNvSpPr/>
          <p:nvPr/>
        </p:nvSpPr>
        <p:spPr>
          <a:xfrm>
            <a:off y="3754275" x="3401275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3" name="Shape 173"/>
          <p:cNvSpPr/>
          <p:nvPr/>
        </p:nvSpPr>
        <p:spPr>
          <a:xfrm>
            <a:off y="3754275" x="4098225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4" name="Shape 174"/>
          <p:cNvSpPr/>
          <p:nvPr/>
        </p:nvSpPr>
        <p:spPr>
          <a:xfrm>
            <a:off y="4434500" x="2678150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5" name="Shape 175"/>
          <p:cNvSpPr/>
          <p:nvPr/>
        </p:nvSpPr>
        <p:spPr>
          <a:xfrm>
            <a:off y="4434500" x="3417025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6" name="Shape 176"/>
          <p:cNvSpPr/>
          <p:nvPr/>
        </p:nvSpPr>
        <p:spPr>
          <a:xfrm>
            <a:off y="4510700" x="4185525"/>
            <a:ext cy="468300" cx="401399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7" name="Shape 177"/>
          <p:cNvSpPr/>
          <p:nvPr/>
        </p:nvSpPr>
        <p:spPr>
          <a:xfrm>
            <a:off y="5125875" x="2658687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8" name="Shape 178"/>
          <p:cNvSpPr/>
          <p:nvPr/>
        </p:nvSpPr>
        <p:spPr>
          <a:xfrm>
            <a:off y="5202075" x="4242262"/>
            <a:ext cy="468300" cx="401399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9" name="Shape 179"/>
          <p:cNvSpPr/>
          <p:nvPr/>
        </p:nvSpPr>
        <p:spPr>
          <a:xfrm>
            <a:off y="5125875" x="3354694"/>
            <a:ext cy="548262" cx="548262"/>
          </a:xfrm>
          <a:prstGeom prst="lightningBolt">
            <a:avLst/>
          </a:prstGeom>
          <a:solidFill>
            <a:schemeClr val="accent4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80" name="Shape 180"/>
          <p:cNvSpPr/>
          <p:nvPr/>
        </p:nvSpPr>
        <p:spPr>
          <a:xfrm>
            <a:off y="3605550" x="1839950"/>
            <a:ext cy="2248799" cx="6254100"/>
          </a:xfrm>
          <a:prstGeom prst="roundRect">
            <a:avLst>
              <a:gd fmla="val 16667" name="adj"/>
            </a:avLst>
          </a:prstGeom>
          <a:noFill/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84" name="Shape 1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5" name="Shape 18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86" name="Shape 186"/>
          <p:cNvSpPr txBox="1"/>
          <p:nvPr/>
        </p:nvSpPr>
        <p:spPr>
          <a:xfrm>
            <a:off y="1481250" x="996200"/>
            <a:ext cy="4071900" cx="746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Random training/testing images:</a:t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	</a:t>
            </a:r>
          </a:p>
        </p:txBody>
      </p:sp>
      <p:graphicFrame>
        <p:nvGraphicFramePr>
          <p:cNvPr id="187" name="Shape 187"/>
          <p:cNvGraphicFramePr/>
          <p:nvPr/>
        </p:nvGraphicFramePr>
        <p:xfrm>
          <a:off y="2141975" x="1593675"/>
          <a:ext cy="3000000" cx="3000000"/>
        </p:xfrm>
        <a:graphic>
          <a:graphicData uri="http://schemas.openxmlformats.org/drawingml/2006/table">
            <a:tbl>
              <a:tblPr>
                <a:noFill/>
                <a:tableStyleId>{6BCCE643-9AC4-4FF9-AB23-2F404A72E9FA}</a:tableStyleId>
              </a:tblPr>
              <a:tblGrid>
                <a:gridCol w="582800"/>
                <a:gridCol w="582800"/>
                <a:gridCol w="582800"/>
                <a:gridCol w="582800"/>
                <a:gridCol w="582800"/>
                <a:gridCol w="582800"/>
                <a:gridCol w="5828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3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2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6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7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4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5</a:t>
                      </a:r>
                    </a:p>
                  </a:txBody>
                  <a:tcPr marR="91425" marB="91425" marT="91425" marL="91425"/>
                </a:tc>
              </a:tr>
            </a:tbl>
          </a:graphicData>
        </a:graphic>
      </p:graphicFrame>
      <p:graphicFrame>
        <p:nvGraphicFramePr>
          <p:cNvPr id="188" name="Shape 188"/>
          <p:cNvGraphicFramePr/>
          <p:nvPr/>
        </p:nvGraphicFramePr>
        <p:xfrm>
          <a:off y="2941150" x="1593675"/>
          <a:ext cy="3000000" cx="3000000"/>
        </p:xfrm>
        <a:graphic>
          <a:graphicData uri="http://schemas.openxmlformats.org/drawingml/2006/table">
            <a:tbl>
              <a:tblPr>
                <a:noFill/>
                <a:tableStyleId>{25CBE8F9-1573-41CB-BE9F-CC55339D5EEF}</a:tableStyleId>
              </a:tblPr>
              <a:tblGrid>
                <a:gridCol w="582800"/>
                <a:gridCol w="582800"/>
                <a:gridCol w="582800"/>
                <a:gridCol w="582800"/>
                <a:gridCol w="582800"/>
                <a:gridCol w="582800"/>
                <a:gridCol w="5828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0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0</a:t>
                      </a:r>
                    </a:p>
                  </a:txBody>
                  <a:tcPr marR="91425" marB="91425" marT="91425" marL="91425"/>
                </a:tc>
              </a:tr>
            </a:tbl>
          </a:graphicData>
        </a:graphic>
      </p:graphicFrame>
      <p:sp>
        <p:nvSpPr>
          <p:cNvPr id="189" name="Shape 189"/>
          <p:cNvSpPr txBox="1"/>
          <p:nvPr/>
        </p:nvSpPr>
        <p:spPr>
          <a:xfrm>
            <a:off y="2483950" x="6516009"/>
            <a:ext cy="457200" cx="12227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/>
              <a:t>&lt; 5?</a:t>
            </a:r>
          </a:p>
        </p:txBody>
      </p:sp>
      <p:sp>
        <p:nvSpPr>
          <p:cNvPr id="190" name="Shape 190"/>
          <p:cNvSpPr/>
          <p:nvPr/>
        </p:nvSpPr>
        <p:spPr>
          <a:xfrm>
            <a:off y="2304575" x="5761450"/>
            <a:ext cy="1068600" cx="2518199"/>
          </a:xfrm>
          <a:prstGeom prst="curvedLeftArrow">
            <a:avLst>
              <a:gd fmla="val 10530" name="adj1"/>
              <a:gd fmla="val 50000" name="adj2"/>
              <a:gd fmla="val 53045" name="adj3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191" name="Shape 191"/>
          <p:cNvCxnSpPr/>
          <p:nvPr/>
        </p:nvCxnSpPr>
        <p:spPr>
          <a:xfrm>
            <a:off y="3447575" x="1914300"/>
            <a:ext cy="1765500" cx="59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2" name="Shape 192"/>
          <p:cNvCxnSpPr/>
          <p:nvPr/>
        </p:nvCxnSpPr>
        <p:spPr>
          <a:xfrm>
            <a:off y="3410425" x="2462550"/>
            <a:ext cy="1806599" cx="171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3" name="Shape 193"/>
          <p:cNvCxnSpPr/>
          <p:nvPr/>
        </p:nvCxnSpPr>
        <p:spPr>
          <a:xfrm flipH="1">
            <a:off y="3429000" x="2797050"/>
            <a:ext cy="1793400" cx="8084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4" name="Shape 194"/>
          <p:cNvCxnSpPr/>
          <p:nvPr/>
        </p:nvCxnSpPr>
        <p:spPr>
          <a:xfrm flipH="1">
            <a:off y="3419700" x="2954999"/>
            <a:ext cy="1821300" cx="123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195" name="Shape 195"/>
          <p:cNvSpPr txBox="1"/>
          <p:nvPr/>
        </p:nvSpPr>
        <p:spPr>
          <a:xfrm>
            <a:off y="5198325" x="866093"/>
            <a:ext cy="457200" cx="23378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/>
              <a:t>Training images</a:t>
            </a:r>
          </a:p>
        </p:txBody>
      </p:sp>
      <p:sp>
        <p:nvSpPr>
          <p:cNvPr id="196" name="Shape 196"/>
          <p:cNvSpPr txBox="1"/>
          <p:nvPr/>
        </p:nvSpPr>
        <p:spPr>
          <a:xfrm>
            <a:off y="4495775" x="5237368"/>
            <a:ext cy="457200" cx="23378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400" lang="en"/>
              <a:t>Testing images</a:t>
            </a:r>
          </a:p>
        </p:txBody>
      </p:sp>
      <p:cxnSp>
        <p:nvCxnSpPr>
          <p:cNvPr id="197" name="Shape 197"/>
          <p:cNvCxnSpPr/>
          <p:nvPr/>
        </p:nvCxnSpPr>
        <p:spPr>
          <a:xfrm flipH="1">
            <a:off y="3429000" x="3178000"/>
            <a:ext cy="1784099" cx="16355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8" name="Shape 198"/>
          <p:cNvCxnSpPr/>
          <p:nvPr/>
        </p:nvCxnSpPr>
        <p:spPr>
          <a:xfrm>
            <a:off y="3447575" x="3038700"/>
            <a:ext cy="1040699" cx="2760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9" name="Shape 199"/>
          <p:cNvCxnSpPr/>
          <p:nvPr/>
        </p:nvCxnSpPr>
        <p:spPr>
          <a:xfrm>
            <a:off y="3438300" x="5399050"/>
            <a:ext cy="1012799" cx="501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03" name="Shape 2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4" name="Shape 20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y="1640662" x="1804625"/>
            <a:ext cy="2331000" cx="42357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/>
              <a:t>Total number of misclassifications: 80/100 = 80%</a:t>
            </a:r>
          </a:p>
          <a:p>
            <a:pPr rtl="0" lvl="0">
              <a:lnSpc>
                <a:spcPct val="150000"/>
              </a:lnSpc>
              <a:buNone/>
            </a:pPr>
            <a:r>
              <a:rPr lang="en"/>
              <a:t>Detail:     Number of errors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coast             15 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forest:            23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mountain:      10 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highway:        16 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tall building:   16                           </a:t>
            </a:r>
          </a:p>
          <a:p>
            <a:r>
              <a:t/>
            </a:r>
          </a:p>
        </p:txBody>
      </p:sp>
      <p:sp>
        <p:nvSpPr>
          <p:cNvPr id="206" name="Shape 206"/>
          <p:cNvSpPr txBox="1"/>
          <p:nvPr/>
        </p:nvSpPr>
        <p:spPr>
          <a:xfrm>
            <a:off y="3815187" x="1804625"/>
            <a:ext cy="2600400" cx="41615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/>
              <a:t>Total number of misclassifications: 37/50 = 74%</a:t>
            </a:r>
          </a:p>
          <a:p>
            <a:pPr rtl="0" lvl="0">
              <a:lnSpc>
                <a:spcPct val="150000"/>
              </a:lnSpc>
              <a:buNone/>
            </a:pPr>
            <a:r>
              <a:rPr lang="en"/>
              <a:t>Detail:     Number of errors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coast              06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forest:            11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mountain:       04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highway:         07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tall building:    09               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10" name="Shape 2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1" name="Shape 21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y="1501287" x="1399175"/>
            <a:ext cy="3380999" cx="53322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sz="1800" lang="en"/>
              <a:t>Total number of misclassifications: 58/75 = 77%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Detail:     Number of errors </a:t>
            </a:r>
          </a:p>
          <a:p>
            <a:pPr rtl="0" lvl="0">
              <a:buNone/>
            </a:pPr>
            <a:r>
              <a:rPr sz="600" lang="en"/>
              <a:t>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coast              00/02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forest:             34/43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mountain:       02/03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highway:         08/09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tall building:   14/18           </a:t>
            </a:r>
          </a:p>
          <a:p>
            <a:r>
              <a:t/>
            </a:r>
          </a:p>
        </p:txBody>
      </p:sp>
      <p:sp>
        <p:nvSpPr>
          <p:cNvPr id="213" name="Shape 213"/>
          <p:cNvSpPr/>
          <p:nvPr/>
        </p:nvSpPr>
        <p:spPr>
          <a:xfrm>
            <a:off y="3034229" x="4105513"/>
            <a:ext cy="3742920" cx="49901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17" name="Shape 2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8" name="Shape 21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19" name="Shape 219"/>
          <p:cNvSpPr/>
          <p:nvPr/>
        </p:nvSpPr>
        <p:spPr>
          <a:xfrm>
            <a:off y="3560214" x="4622202"/>
            <a:ext cy="3203910" cx="427462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20" name="Shape 220"/>
          <p:cNvSpPr txBox="1"/>
          <p:nvPr/>
        </p:nvSpPr>
        <p:spPr>
          <a:xfrm>
            <a:off y="2577800" x="3802450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Gabor</a:t>
            </a:r>
          </a:p>
        </p:txBody>
      </p:sp>
      <p:sp>
        <p:nvSpPr>
          <p:cNvPr id="221" name="Shape 221"/>
          <p:cNvSpPr/>
          <p:nvPr/>
        </p:nvSpPr>
        <p:spPr>
          <a:xfrm>
            <a:off y="3365064" x="98883"/>
            <a:ext cy="3415072" cx="455707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2" name="Shape 222"/>
          <p:cNvSpPr txBox="1"/>
          <p:nvPr/>
        </p:nvSpPr>
        <p:spPr>
          <a:xfrm>
            <a:off y="2357745" x="230632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GIST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y="1829920" x="335637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CENTRIST</a:t>
            </a:r>
          </a:p>
        </p:txBody>
      </p:sp>
      <p:cxnSp>
        <p:nvCxnSpPr>
          <p:cNvPr id="224" name="Shape 224"/>
          <p:cNvCxnSpPr/>
          <p:nvPr/>
        </p:nvCxnSpPr>
        <p:spPr>
          <a:xfrm flipH="1">
            <a:off y="2769225" x="1895725"/>
            <a:ext cy="5019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25" name="Shape 225"/>
          <p:cNvCxnSpPr/>
          <p:nvPr/>
        </p:nvCxnSpPr>
        <p:spPr>
          <a:xfrm>
            <a:off y="2973650" x="4283925"/>
            <a:ext cy="5763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26" name="Shape 226"/>
          <p:cNvCxnSpPr/>
          <p:nvPr/>
        </p:nvCxnSpPr>
        <p:spPr>
          <a:xfrm rot="10800000" flipH="1">
            <a:off y="1802900" x="4488375"/>
            <a:ext cy="222899" cx="799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227" name="Shape 227"/>
          <p:cNvSpPr/>
          <p:nvPr/>
        </p:nvSpPr>
        <p:spPr>
          <a:xfrm>
            <a:off y="274637" x="5340002"/>
            <a:ext cy="2801738" cx="373522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28" name="Shape 228"/>
          <p:cNvSpPr txBox="1"/>
          <p:nvPr/>
        </p:nvSpPr>
        <p:spPr>
          <a:xfrm>
            <a:off y="1417637" x="494314"/>
            <a:ext cy="457200" cx="27651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/>
              <a:t>If 3 disagree, priority to...</a:t>
            </a:r>
          </a:p>
        </p:txBody>
      </p:sp>
      <p:sp>
        <p:nvSpPr>
          <p:cNvPr id="229" name="Shape 229"/>
          <p:cNvSpPr/>
          <p:nvPr/>
        </p:nvSpPr>
        <p:spPr>
          <a:xfrm>
            <a:off y="2128025" x="650500"/>
            <a:ext cy="501900" cx="1458899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buNone/>
            </a:pPr>
            <a:r>
              <a:rPr lang="en"/>
              <a:t>70% errors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33" name="Shape 2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4" name="Shape 23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35" name="Shape 235"/>
          <p:cNvSpPr/>
          <p:nvPr/>
        </p:nvSpPr>
        <p:spPr>
          <a:xfrm>
            <a:off y="164950" x="5271404"/>
            <a:ext cy="2811048" cx="374622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36" name="Shape 236"/>
          <p:cNvSpPr txBox="1"/>
          <p:nvPr/>
        </p:nvSpPr>
        <p:spPr>
          <a:xfrm>
            <a:off y="1399475" x="652370"/>
            <a:ext cy="940200" cx="34443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/>
              <a:t>Oh! Let's try to order feature vectors and image names in the same order...!</a:t>
            </a:r>
          </a:p>
        </p:txBody>
      </p:sp>
      <p:sp>
        <p:nvSpPr>
          <p:cNvPr id="237" name="Shape 237"/>
          <p:cNvSpPr/>
          <p:nvPr/>
        </p:nvSpPr>
        <p:spPr>
          <a:xfrm>
            <a:off y="3776920" x="91050"/>
            <a:ext cy="3130329" cx="4172422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38" name="Shape 238"/>
          <p:cNvSpPr txBox="1"/>
          <p:nvPr/>
        </p:nvSpPr>
        <p:spPr>
          <a:xfrm>
            <a:off y="2730200" x="3421450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Gabor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y="2814945" x="230632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GIST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y="2287120" x="335637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CENTRIST</a:t>
            </a:r>
          </a:p>
        </p:txBody>
      </p:sp>
      <p:cxnSp>
        <p:nvCxnSpPr>
          <p:cNvPr id="241" name="Shape 241"/>
          <p:cNvCxnSpPr/>
          <p:nvPr/>
        </p:nvCxnSpPr>
        <p:spPr>
          <a:xfrm flipH="1">
            <a:off y="3226425" x="1895725"/>
            <a:ext cy="5019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42" name="Shape 242"/>
          <p:cNvCxnSpPr/>
          <p:nvPr/>
        </p:nvCxnSpPr>
        <p:spPr>
          <a:xfrm>
            <a:off y="2975998" x="4204950"/>
            <a:ext cy="5763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43" name="Shape 243"/>
          <p:cNvCxnSpPr/>
          <p:nvPr/>
        </p:nvCxnSpPr>
        <p:spPr>
          <a:xfrm rot="10800000" flipH="1">
            <a:off y="2260100" x="4488375"/>
            <a:ext cy="222899" cx="799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244" name="Shape 244"/>
          <p:cNvSpPr/>
          <p:nvPr/>
        </p:nvSpPr>
        <p:spPr>
          <a:xfrm>
            <a:off y="3659575" x="4306718"/>
            <a:ext cy="3188466" cx="425360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45" name="Shape 245"/>
          <p:cNvSpPr/>
          <p:nvPr/>
        </p:nvSpPr>
        <p:spPr>
          <a:xfrm>
            <a:off y="2411595" x="847425"/>
            <a:ext cy="501900" cx="1458899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lang="en"/>
              <a:t>50% errors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49" name="Shape 2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0" name="Shape 250"/>
          <p:cNvSpPr txBox="1"/>
          <p:nvPr/>
        </p:nvSpPr>
        <p:spPr>
          <a:xfrm>
            <a:off y="1639221" x="1116975"/>
            <a:ext cy="4769099" cx="6705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Performance so far: around 55%</a:t>
            </a:r>
          </a:p>
          <a:p>
            <a:r>
              <a:t/>
            </a:r>
          </a:p>
          <a:p>
            <a:r>
              <a:t/>
            </a:r>
          </a:p>
          <a:p>
            <a:pPr rtl="0" lvl="0" indent="-317500" marL="457200">
              <a:lnSpc>
                <a:spcPct val="150000"/>
              </a:lnSpc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GIST and CENTRIST: </a:t>
            </a:r>
          </a:p>
          <a:p>
            <a:pPr rtl="0" lvl="0" indent="457200">
              <a:lnSpc>
                <a:spcPct val="150000"/>
              </a:lnSpc>
              <a:buNone/>
            </a:pPr>
            <a:r>
              <a:rPr sz="1800" lang="en"/>
              <a:t>histogram intersection</a:t>
            </a:r>
          </a:p>
          <a:p>
            <a:pPr rtl="0" lvl="0" indent="-317500" marL="457200">
              <a:lnSpc>
                <a:spcPct val="150000"/>
              </a:lnSpc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GABOR: Euclidian distance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lvl="0">
              <a:lnSpc>
                <a:spcPct val="150000"/>
              </a:lnSpc>
              <a:buNone/>
            </a:pPr>
            <a:r>
              <a:rPr sz="1800" lang="en"/>
              <a:t>Default category decided by CT features if 3 methods disagree </a:t>
            </a:r>
          </a:p>
        </p:txBody>
      </p:sp>
      <p:sp>
        <p:nvSpPr>
          <p:cNvPr id="251" name="Shape 25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52" name="Shape 252"/>
          <p:cNvSpPr/>
          <p:nvPr/>
        </p:nvSpPr>
        <p:spPr>
          <a:xfrm>
            <a:off y="1512850" x="4784682"/>
            <a:ext cy="3220020" cx="429241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56" name="Shape 25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7" name="Shape 25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58" name="Shape 258"/>
          <p:cNvSpPr/>
          <p:nvPr/>
        </p:nvSpPr>
        <p:spPr>
          <a:xfrm>
            <a:off y="1454812" x="940407"/>
            <a:ext cy="4432375" cx="591014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59" name="Shape 259"/>
          <p:cNvSpPr txBox="1"/>
          <p:nvPr/>
        </p:nvSpPr>
        <p:spPr>
          <a:xfrm>
            <a:off y="3880607" x="7082750"/>
            <a:ext cy="1655999" cx="1919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Good performance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High confidence </a:t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	</a:t>
            </a:r>
          </a:p>
        </p:txBody>
      </p:sp>
      <p:sp>
        <p:nvSpPr>
          <p:cNvPr id="260" name="Shape 260"/>
          <p:cNvSpPr/>
          <p:nvPr/>
        </p:nvSpPr>
        <p:spPr>
          <a:xfrm>
            <a:off y="4497675" x="7511348"/>
            <a:ext cy="319800" cx="840000"/>
          </a:xfrm>
          <a:prstGeom prst="mathNotEqual">
            <a:avLst>
              <a:gd fmla="val 14926" name="adj1"/>
              <a:gd fmla="val 6600000" name="adj2"/>
              <a:gd fmla="val 22989" name="adj3"/>
            </a:avLst>
          </a:prstGeom>
          <a:noFill/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61" name="Shape 261"/>
          <p:cNvSpPr txBox="1"/>
          <p:nvPr/>
        </p:nvSpPr>
        <p:spPr>
          <a:xfrm>
            <a:off y="1035225" x="6776198"/>
            <a:ext cy="1386599" cx="19847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Confidence = arbitrary number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65" name="Shape 2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6" name="Shape 266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Piter: 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 descriptor</a:t>
            </a:r>
            <a:r>
              <a:rPr sz="4800" lang="en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70" name="Shape 2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1" name="Shape 271"/>
          <p:cNvSpPr txBox="1"/>
          <p:nvPr/>
        </p:nvSpPr>
        <p:spPr>
          <a:xfrm>
            <a:off y="129675" x="406075"/>
            <a:ext cy="810900" cx="75102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36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On The List :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y="788075" x="1015675"/>
            <a:ext cy="5617200" cx="80232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15000"/>
              </a:lnSpc>
              <a:buNone/>
            </a:pPr>
            <a:r>
              <a:rPr b="1" sz="2000" lang="en"/>
              <a:t>Feature Extraction 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Individually, combine  and average color histograms for each class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Create a Set for Comparison Purpose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Create a list of category of the average histograms of each class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Class feature comparison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Individually Test and Compare classes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Classification Comparison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Test and Compare all classes data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Average Intersection	&amp; Features Implementation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Check for intersecting features</a:t>
            </a:r>
            <a:r>
              <a:rPr b="1" sz="2000" lang="en"/>
              <a:t> </a:t>
            </a:r>
            <a:r>
              <a:rPr sz="2000" lang="en"/>
              <a:t>among classes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Implement SVM</a:t>
            </a:r>
          </a:p>
        </p:txBody>
      </p:sp>
      <p:sp>
        <p:nvSpPr>
          <p:cNvPr id="273" name="Shape 273"/>
          <p:cNvSpPr/>
          <p:nvPr/>
        </p:nvSpPr>
        <p:spPr>
          <a:xfrm>
            <a:off y="1073725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4" name="Shape 274"/>
          <p:cNvSpPr/>
          <p:nvPr/>
        </p:nvSpPr>
        <p:spPr>
          <a:xfrm>
            <a:off y="20201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5" name="Shape 275"/>
          <p:cNvSpPr/>
          <p:nvPr/>
        </p:nvSpPr>
        <p:spPr>
          <a:xfrm>
            <a:off y="298365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6" name="Shape 276"/>
          <p:cNvSpPr/>
          <p:nvPr/>
        </p:nvSpPr>
        <p:spPr>
          <a:xfrm>
            <a:off y="3856275" x="6719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7" name="Shape 277"/>
          <p:cNvSpPr/>
          <p:nvPr/>
        </p:nvSpPr>
        <p:spPr>
          <a:xfrm>
            <a:off y="4851750" x="6719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8" name="Shape 278"/>
          <p:cNvSpPr/>
          <p:nvPr/>
        </p:nvSpPr>
        <p:spPr>
          <a:xfrm>
            <a:off y="5815325" x="713575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82" name="Shape 2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3" name="Shape 283"/>
          <p:cNvSpPr txBox="1"/>
          <p:nvPr/>
        </p:nvSpPr>
        <p:spPr>
          <a:xfrm>
            <a:off y="282075" x="243642"/>
            <a:ext cy="810900" cx="833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b="1" sz="36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y="1011661" x="594564"/>
            <a:ext cy="5226300" cx="83991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algn="just" rtl="0" lvl="0">
              <a:lnSpc>
                <a:spcPct val="100000"/>
              </a:lnSpc>
              <a:buNone/>
            </a:pP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The Models, used for representing colors numerically, are as follow:</a:t>
            </a:r>
          </a:p>
          <a:p>
            <a:r>
              <a:t/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1 - RGB</a:t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2 - LAB</a:t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3 - HSV</a:t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4 - YCrCb</a:t>
            </a:r>
          </a:p>
          <a:p>
            <a:r>
              <a:t/>
            </a:r>
          </a:p>
          <a:p>
            <a:pPr algn="just" rtl="0" lvl="0">
              <a:lnSpc>
                <a:spcPct val="115000"/>
              </a:lnSpc>
              <a:buNone/>
            </a:pP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These methods or color spaces provide this descriptor with relevant information for classification purpose. The following test results will show the number of mis-classifications of each method with a 4 x 30 matrix of test images.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88" name="Shape 2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9" name="Shape 289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93" name="Shape 29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4" name="Shape 294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98" name="Shape 2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9" name="Shape 299"/>
          <p:cNvSpPr/>
          <p:nvPr/>
        </p:nvSpPr>
        <p:spPr>
          <a:xfrm>
            <a:off y="0" x="-8025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03" name="Shape 3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4" name="Shape 304"/>
          <p:cNvSpPr/>
          <p:nvPr/>
        </p:nvSpPr>
        <p:spPr>
          <a:xfrm>
            <a:off y="0" x="0"/>
            <a:ext cy="6853976" cx="91359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08" name="Shape 3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9" name="Shape 309"/>
          <p:cNvSpPr txBox="1"/>
          <p:nvPr/>
        </p:nvSpPr>
        <p:spPr>
          <a:xfrm>
            <a:off y="282075" x="318842"/>
            <a:ext cy="810900" cx="833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42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Set &amp; Comparing Classes</a:t>
            </a:r>
          </a:p>
        </p:txBody>
      </p:sp>
      <p:sp>
        <p:nvSpPr>
          <p:cNvPr id="310" name="Shape 310"/>
          <p:cNvSpPr/>
          <p:nvPr/>
        </p:nvSpPr>
        <p:spPr>
          <a:xfrm>
            <a:off y="1296400" x="965525"/>
            <a:ext cy="4319812" cx="757987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14" name="Shape 3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5" name="Shape 315"/>
          <p:cNvSpPr/>
          <p:nvPr/>
        </p:nvSpPr>
        <p:spPr>
          <a:xfrm>
            <a:off y="2005" x="-13044"/>
            <a:ext cy="7008395" cx="914399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19" name="Shape 3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0" name="Shape 320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24" name="Shape 3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5" name="Shape 325"/>
          <p:cNvSpPr txBox="1"/>
          <p:nvPr/>
        </p:nvSpPr>
        <p:spPr>
          <a:xfrm>
            <a:off y="282075" x="348923"/>
            <a:ext cy="810900" cx="85631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30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Intersection	&amp; Features Implementation</a:t>
            </a:r>
          </a:p>
        </p:txBody>
      </p:sp>
      <p:sp>
        <p:nvSpPr>
          <p:cNvPr id="326" name="Shape 326"/>
          <p:cNvSpPr/>
          <p:nvPr/>
        </p:nvSpPr>
        <p:spPr>
          <a:xfrm>
            <a:off y="1038382" x="1000129"/>
            <a:ext cy="4476434" cx="74485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30" name="Shape 33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1" name="Shape 331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35" name="Shape 3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6" name="Shape 336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40" name="Shape 3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1" name="Shape 341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44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FINISHING UP</a:t>
            </a:r>
          </a:p>
        </p:txBody>
      </p:sp>
      <p:sp>
        <p:nvSpPr>
          <p:cNvPr id="342" name="Shape 342"/>
          <p:cNvSpPr/>
          <p:nvPr/>
        </p:nvSpPr>
        <p:spPr>
          <a:xfrm>
            <a:off y="1169175" x="1057275"/>
            <a:ext cy="4371469" cx="770103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 424">
      <a:dk1>
        <a:srgbClr val="B0271C"/>
      </a:dk1>
      <a:lt1>
        <a:srgbClr val="FFE8BB"/>
      </a:lt1>
      <a:dk2>
        <a:srgbClr val="374252"/>
      </a:dk2>
      <a:lt2>
        <a:srgbClr val="A5BDC0"/>
      </a:lt2>
      <a:accent1>
        <a:srgbClr val="C0974D"/>
      </a:accent1>
      <a:accent2>
        <a:srgbClr val="E49C5F"/>
      </a:accent2>
      <a:accent3>
        <a:srgbClr val="5D7372"/>
      </a:accent3>
      <a:accent4>
        <a:srgbClr val="B92C00"/>
      </a:accent4>
      <a:accent5>
        <a:srgbClr val="804000"/>
      </a:accent5>
      <a:accent6>
        <a:srgbClr val="A49D80"/>
      </a:accent6>
      <a:hlink>
        <a:srgbClr val="B0271C"/>
      </a:hlink>
      <a:folHlink>
        <a:srgbClr val="5B5F6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