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80" r:id="rId3"/>
    <p:sldId id="264" r:id="rId4"/>
    <p:sldId id="265" r:id="rId5"/>
    <p:sldId id="257" r:id="rId6"/>
    <p:sldId id="258" r:id="rId7"/>
    <p:sldId id="268" r:id="rId8"/>
    <p:sldId id="266" r:id="rId9"/>
    <p:sldId id="259" r:id="rId10"/>
    <p:sldId id="260" r:id="rId11"/>
    <p:sldId id="261" r:id="rId12"/>
    <p:sldId id="274" r:id="rId13"/>
    <p:sldId id="270" r:id="rId14"/>
    <p:sldId id="271" r:id="rId15"/>
    <p:sldId id="269" r:id="rId16"/>
    <p:sldId id="273" r:id="rId17"/>
    <p:sldId id="272" r:id="rId18"/>
    <p:sldId id="275" r:id="rId19"/>
    <p:sldId id="276" r:id="rId20"/>
    <p:sldId id="277" r:id="rId21"/>
    <p:sldId id="278" r:id="rId22"/>
    <p:sldId id="262" r:id="rId23"/>
    <p:sldId id="263"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64BBFABE-193F-4BF2-8AE1-0F0D014654E6}" type="datetimeFigureOut">
              <a:rPr lang="en-US" smtClean="0"/>
              <a:t>12/16/2012</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3CF2FEEE-B512-4F40-B5C1-8C1CBC7B7D0D}" type="slidenum">
              <a:rPr lang="en-US" smtClean="0"/>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4BBFABE-193F-4BF2-8AE1-0F0D014654E6}" type="datetimeFigureOut">
              <a:rPr lang="en-US" smtClean="0"/>
              <a:t>12/16/2012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2FEEE-B512-4F40-B5C1-8C1CBC7B7D0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4BBFABE-193F-4BF2-8AE1-0F0D014654E6}" type="datetimeFigureOut">
              <a:rPr lang="en-US" smtClean="0"/>
              <a:t>12/16/2012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2FEEE-B512-4F40-B5C1-8C1CBC7B7D0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64BBFABE-193F-4BF2-8AE1-0F0D014654E6}" type="datetimeFigureOut">
              <a:rPr lang="en-US" smtClean="0"/>
              <a:t>12/16/2012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2FEEE-B512-4F40-B5C1-8C1CBC7B7D0D}" type="slidenum">
              <a:rPr lang="en-US" smtClean="0"/>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4BBFABE-193F-4BF2-8AE1-0F0D014654E6}" type="datetimeFigureOut">
              <a:rPr lang="en-US" smtClean="0"/>
              <a:t>12/16/2012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F2FEEE-B512-4F40-B5C1-8C1CBC7B7D0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4BBFABE-193F-4BF2-8AE1-0F0D014654E6}" type="datetimeFigureOut">
              <a:rPr lang="en-US" smtClean="0"/>
              <a:t>12/16/2012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F2FEEE-B512-4F40-B5C1-8C1CBC7B7D0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BBFABE-193F-4BF2-8AE1-0F0D014654E6}" type="datetimeFigureOut">
              <a:rPr lang="en-US" smtClean="0"/>
              <a:t>12/16/2012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F2FEEE-B512-4F40-B5C1-8C1CBC7B7D0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64BBFABE-193F-4BF2-8AE1-0F0D014654E6}" type="datetimeFigureOut">
              <a:rPr lang="en-US" smtClean="0"/>
              <a:t>12/16/2012</a:t>
            </a:fld>
            <a:endParaRPr lang="en-US"/>
          </a:p>
        </p:txBody>
      </p:sp>
      <p:sp>
        <p:nvSpPr>
          <p:cNvPr id="7" name="Slide Number Placeholder 6"/>
          <p:cNvSpPr>
            <a:spLocks noGrp="1"/>
          </p:cNvSpPr>
          <p:nvPr>
            <p:ph type="sldNum" sz="quarter" idx="12"/>
          </p:nvPr>
        </p:nvSpPr>
        <p:spPr/>
        <p:txBody>
          <a:bodyPr/>
          <a:lstStyle/>
          <a:p>
            <a:fld id="{3CF2FEEE-B512-4F40-B5C1-8C1CBC7B7D0D}" type="slidenum">
              <a:rPr lang="en-US" smtClean="0"/>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BBFABE-193F-4BF2-8AE1-0F0D014654E6}" type="datetimeFigureOut">
              <a:rPr lang="en-US" smtClean="0"/>
              <a:t>12/16/2012</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3CF2FEEE-B512-4F40-B5C1-8C1CBC7B7D0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4BBFABE-193F-4BF2-8AE1-0F0D014654E6}" type="datetimeFigureOut">
              <a:rPr lang="en-US" smtClean="0"/>
              <a:t>12/16/2012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2FEEE-B512-4F40-B5C1-8C1CBC7B7D0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4BBFABE-193F-4BF2-8AE1-0F0D014654E6}" type="datetimeFigureOut">
              <a:rPr lang="en-US" smtClean="0"/>
              <a:t>12/16/2012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2FEEE-B512-4F40-B5C1-8C1CBC7B7D0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64BBFABE-193F-4BF2-8AE1-0F0D014654E6}" type="datetimeFigureOut">
              <a:rPr lang="en-US" smtClean="0"/>
              <a:t>12/16/2012</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3CF2FEEE-B512-4F40-B5C1-8C1CBC7B7D0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57200"/>
            <a:ext cx="8229600" cy="2155825"/>
          </a:xfrm>
        </p:spPr>
        <p:txBody>
          <a:bodyPr>
            <a:prstTxWarp prst="textWave1">
              <a:avLst/>
            </a:prstTxWarp>
            <a:normAutofit/>
            <a:scene3d>
              <a:camera prst="perspectiveFront"/>
              <a:lightRig rig="threePt" dir="t"/>
            </a:scene3d>
          </a:bodyPr>
          <a:lstStyle/>
          <a:p>
            <a:r>
              <a:rPr lang="en-US" b="1" dirty="0">
                <a:ln w="1905"/>
                <a:solidFill>
                  <a:schemeClr val="tx1"/>
                </a:solidFill>
                <a:effectLst>
                  <a:innerShdw blurRad="69850" dist="43180" dir="5400000">
                    <a:srgbClr val="000000">
                      <a:alpha val="65000"/>
                    </a:srgbClr>
                  </a:innerShdw>
                </a:effectLst>
                <a:latin typeface="Times New Roman" pitchFamily="18" charset="0"/>
                <a:cs typeface="Times New Roman" pitchFamily="18" charset="0"/>
              </a:rPr>
              <a:t>Use Bin-Ratio Information for Category and Scene </a:t>
            </a:r>
            <a:r>
              <a:rPr lang="en-US" b="1" dirty="0" smtClean="0">
                <a:ln w="1905"/>
                <a:solidFill>
                  <a:schemeClr val="tx1"/>
                </a:solidFill>
                <a:effectLst>
                  <a:innerShdw blurRad="69850" dist="43180" dir="5400000">
                    <a:srgbClr val="000000">
                      <a:alpha val="65000"/>
                    </a:srgbClr>
                  </a:innerShdw>
                </a:effectLst>
                <a:latin typeface="Times New Roman" pitchFamily="18" charset="0"/>
                <a:cs typeface="Times New Roman" pitchFamily="18" charset="0"/>
              </a:rPr>
              <a:t>Classification</a:t>
            </a:r>
            <a:endParaRPr lang="en-US" b="1" dirty="0">
              <a:ln w="1905"/>
              <a:solidFill>
                <a:schemeClr val="tx1"/>
              </a:solidFill>
              <a:effectLst>
                <a:innerShdw blurRad="69850" dist="43180" dir="5400000">
                  <a:srgbClr val="000000">
                    <a:alpha val="65000"/>
                  </a:srgbClr>
                </a:innerShdw>
              </a:effectLst>
              <a:latin typeface="Times New Roman" pitchFamily="18" charset="0"/>
              <a:cs typeface="Times New Roman" pitchFamily="18" charset="0"/>
            </a:endParaRPr>
          </a:p>
        </p:txBody>
      </p:sp>
      <p:sp>
        <p:nvSpPr>
          <p:cNvPr id="3" name="Subtitle 2"/>
          <p:cNvSpPr>
            <a:spLocks noGrp="1"/>
          </p:cNvSpPr>
          <p:nvPr>
            <p:ph type="subTitle" idx="1"/>
          </p:nvPr>
        </p:nvSpPr>
        <p:spPr>
          <a:xfrm>
            <a:off x="228600" y="2971800"/>
            <a:ext cx="8839200" cy="3581400"/>
          </a:xfrm>
        </p:spPr>
        <p:txBody>
          <a:bodyPr>
            <a:normAutofit/>
          </a:bodyPr>
          <a:lstStyle/>
          <a:p>
            <a:r>
              <a:rPr lang="en-US" b="1" dirty="0" smtClean="0">
                <a:latin typeface="Times New Roman" pitchFamily="18" charset="0"/>
                <a:cs typeface="Times New Roman" pitchFamily="18" charset="0"/>
              </a:rPr>
              <a:t>Presented by Piter Garcia </a:t>
            </a:r>
          </a:p>
          <a:p>
            <a:r>
              <a:rPr lang="en-US" dirty="0" smtClean="0"/>
              <a:t>Work done by</a:t>
            </a:r>
          </a:p>
          <a:p>
            <a:r>
              <a:rPr lang="en-US" sz="2600" dirty="0" err="1" smtClean="0">
                <a:latin typeface="Times New Roman" pitchFamily="18" charset="0"/>
                <a:cs typeface="Times New Roman" pitchFamily="18" charset="0"/>
              </a:rPr>
              <a:t>Nianhua</a:t>
            </a:r>
            <a:r>
              <a:rPr lang="en-US" sz="2600" dirty="0" smtClean="0">
                <a:latin typeface="Times New Roman" pitchFamily="18" charset="0"/>
                <a:cs typeface="Times New Roman" pitchFamily="18" charset="0"/>
              </a:rPr>
              <a:t> </a:t>
            </a:r>
            <a:r>
              <a:rPr lang="en-US" sz="2600" dirty="0">
                <a:latin typeface="Times New Roman" pitchFamily="18" charset="0"/>
                <a:cs typeface="Times New Roman" pitchFamily="18" charset="0"/>
              </a:rPr>
              <a:t>Xie1</a:t>
            </a:r>
            <a:r>
              <a:rPr lang="en-US" sz="2600" i="1" dirty="0">
                <a:latin typeface="Times New Roman" pitchFamily="18" charset="0"/>
                <a:cs typeface="Times New Roman" pitchFamily="18" charset="0"/>
              </a:rPr>
              <a:t>;</a:t>
            </a:r>
            <a:r>
              <a:rPr lang="en-US" sz="2600" dirty="0">
                <a:latin typeface="Times New Roman" pitchFamily="18" charset="0"/>
                <a:cs typeface="Times New Roman" pitchFamily="18" charset="0"/>
              </a:rPr>
              <a:t>2, </a:t>
            </a:r>
            <a:r>
              <a:rPr lang="en-US" sz="2600" dirty="0" err="1">
                <a:latin typeface="Times New Roman" pitchFamily="18" charset="0"/>
                <a:cs typeface="Times New Roman" pitchFamily="18" charset="0"/>
              </a:rPr>
              <a:t>Haibin</a:t>
            </a:r>
            <a:r>
              <a:rPr lang="en-US" sz="2600" dirty="0">
                <a:latin typeface="Times New Roman" pitchFamily="18" charset="0"/>
                <a:cs typeface="Times New Roman" pitchFamily="18" charset="0"/>
              </a:rPr>
              <a:t> Ling2, </a:t>
            </a:r>
            <a:r>
              <a:rPr lang="en-US" sz="2600" dirty="0" err="1">
                <a:latin typeface="Times New Roman" pitchFamily="18" charset="0"/>
                <a:cs typeface="Times New Roman" pitchFamily="18" charset="0"/>
              </a:rPr>
              <a:t>Weiming</a:t>
            </a:r>
            <a:r>
              <a:rPr lang="en-US" sz="2600" dirty="0">
                <a:latin typeface="Times New Roman" pitchFamily="18" charset="0"/>
                <a:cs typeface="Times New Roman" pitchFamily="18" charset="0"/>
              </a:rPr>
              <a:t> Hu1, </a:t>
            </a:r>
            <a:r>
              <a:rPr lang="en-US" sz="2600" dirty="0" err="1" smtClean="0">
                <a:latin typeface="Times New Roman" pitchFamily="18" charset="0"/>
                <a:cs typeface="Times New Roman" pitchFamily="18" charset="0"/>
              </a:rPr>
              <a:t>Xiaoqin</a:t>
            </a:r>
            <a:r>
              <a:rPr lang="en-US" sz="2600" dirty="0" smtClean="0">
                <a:latin typeface="Times New Roman" pitchFamily="18" charset="0"/>
                <a:cs typeface="Times New Roman" pitchFamily="18" charset="0"/>
              </a:rPr>
              <a:t> </a:t>
            </a:r>
            <a:r>
              <a:rPr lang="en-US" sz="2600" dirty="0">
                <a:latin typeface="Times New Roman" pitchFamily="18" charset="0"/>
                <a:cs typeface="Times New Roman" pitchFamily="18" charset="0"/>
              </a:rPr>
              <a:t>Zhang1</a:t>
            </a:r>
          </a:p>
          <a:p>
            <a:r>
              <a:rPr lang="en-US" dirty="0" smtClean="0"/>
              <a:t>Institute </a:t>
            </a:r>
            <a:r>
              <a:rPr lang="en-US" dirty="0"/>
              <a:t>of Automation, CAS, Beijing, China</a:t>
            </a:r>
          </a:p>
          <a:p>
            <a:r>
              <a:rPr lang="en-US" dirty="0"/>
              <a:t>2Dept. of Computer and Information Science, Temple University, Philadelphia, USA</a:t>
            </a:r>
            <a:r>
              <a:rPr lang="en-US" dirty="0" smtClean="0"/>
              <a:t> </a:t>
            </a:r>
            <a:endParaRPr lang="en-US" dirty="0"/>
          </a:p>
        </p:txBody>
      </p:sp>
    </p:spTree>
    <p:extLst>
      <p:ext uri="{BB962C8B-B14F-4D97-AF65-F5344CB8AC3E}">
        <p14:creationId xmlns:p14="http://schemas.microsoft.com/office/powerpoint/2010/main" val="21906838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838200"/>
            <a:ext cx="7024744" cy="1332464"/>
          </a:xfrm>
        </p:spPr>
        <p:style>
          <a:lnRef idx="2">
            <a:schemeClr val="dk1"/>
          </a:lnRef>
          <a:fillRef idx="1">
            <a:schemeClr val="lt1"/>
          </a:fillRef>
          <a:effectRef idx="0">
            <a:schemeClr val="dk1"/>
          </a:effectRef>
          <a:fontRef idx="minor">
            <a:schemeClr val="dk1"/>
          </a:fontRef>
        </p:style>
        <p:txBody>
          <a:bodyPr>
            <a:noAutofit/>
          </a:bodyPr>
          <a:lstStyle/>
          <a:p>
            <a:r>
              <a:rPr lang="en-US" sz="4400" b="1" dirty="0">
                <a:effectLst>
                  <a:outerShdw blurRad="38100" dist="38100" dir="2700000" algn="tl">
                    <a:srgbClr val="000000">
                      <a:alpha val="43137"/>
                    </a:srgbClr>
                  </a:outerShdw>
                </a:effectLst>
                <a:latin typeface="Times New Roman" pitchFamily="18" charset="0"/>
                <a:cs typeface="Times New Roman" pitchFamily="18" charset="0"/>
              </a:rPr>
              <a:t>The </a:t>
            </a:r>
            <a:r>
              <a:rPr lang="en-US" sz="4400" b="1" dirty="0" smtClean="0">
                <a:effectLst>
                  <a:outerShdw blurRad="38100" dist="38100" dir="2700000" algn="tl">
                    <a:srgbClr val="000000">
                      <a:alpha val="43137"/>
                    </a:srgbClr>
                  </a:outerShdw>
                </a:effectLst>
                <a:latin typeface="Times New Roman" pitchFamily="18" charset="0"/>
                <a:cs typeface="Times New Roman" pitchFamily="18" charset="0"/>
              </a:rPr>
              <a:t>Project Presentation is Organized </a:t>
            </a:r>
            <a:r>
              <a:rPr lang="en-US" sz="4400" b="1" dirty="0">
                <a:effectLst>
                  <a:outerShdw blurRad="38100" dist="38100" dir="2700000" algn="tl">
                    <a:srgbClr val="000000">
                      <a:alpha val="43137"/>
                    </a:srgbClr>
                  </a:outerShdw>
                </a:effectLst>
                <a:latin typeface="Times New Roman" pitchFamily="18" charset="0"/>
                <a:cs typeface="Times New Roman" pitchFamily="18" charset="0"/>
              </a:rPr>
              <a:t>as F</a:t>
            </a:r>
            <a:r>
              <a:rPr lang="en-US" sz="4400" b="1" dirty="0" smtClean="0">
                <a:effectLst>
                  <a:outerShdw blurRad="38100" dist="38100" dir="2700000" algn="tl">
                    <a:srgbClr val="000000">
                      <a:alpha val="43137"/>
                    </a:srgbClr>
                  </a:outerShdw>
                </a:effectLst>
                <a:latin typeface="Times New Roman" pitchFamily="18" charset="0"/>
                <a:cs typeface="Times New Roman" pitchFamily="18" charset="0"/>
              </a:rPr>
              <a:t>ollows</a:t>
            </a:r>
            <a:r>
              <a:rPr lang="en-US" sz="4400" b="1" dirty="0">
                <a:effectLst>
                  <a:outerShdw blurRad="38100" dist="38100" dir="2700000" algn="tl">
                    <a:srgbClr val="000000">
                      <a:alpha val="43137"/>
                    </a:srgbClr>
                  </a:outerShdw>
                </a:effectLst>
                <a:latin typeface="Times New Roman" pitchFamily="18" charset="0"/>
                <a:cs typeface="Times New Roman" pitchFamily="18" charset="0"/>
              </a:rPr>
              <a:t>:</a:t>
            </a:r>
          </a:p>
        </p:txBody>
      </p:sp>
      <p:sp>
        <p:nvSpPr>
          <p:cNvPr id="3" name="Content Placeholder 2"/>
          <p:cNvSpPr>
            <a:spLocks noGrp="1"/>
          </p:cNvSpPr>
          <p:nvPr>
            <p:ph idx="1"/>
          </p:nvPr>
        </p:nvSpPr>
        <p:spPr>
          <a:xfrm>
            <a:off x="533400" y="2743200"/>
            <a:ext cx="8001000" cy="3733799"/>
          </a:xfrm>
        </p:spPr>
        <p:txBody>
          <a:bodyPr>
            <a:noAutofit/>
          </a:bodyPr>
          <a:lstStyle/>
          <a:p>
            <a:r>
              <a:rPr lang="en-US" sz="3800" dirty="0" smtClean="0">
                <a:latin typeface="Times New Roman" pitchFamily="18" charset="0"/>
                <a:cs typeface="Times New Roman" pitchFamily="18" charset="0"/>
              </a:rPr>
              <a:t>BRD Introduction</a:t>
            </a:r>
            <a:endParaRPr lang="en-US" sz="3800" dirty="0">
              <a:latin typeface="Times New Roman" pitchFamily="18" charset="0"/>
              <a:cs typeface="Times New Roman" pitchFamily="18" charset="0"/>
            </a:endParaRPr>
          </a:p>
          <a:p>
            <a:r>
              <a:rPr lang="en-US" sz="3800" dirty="0" smtClean="0">
                <a:latin typeface="Times New Roman" pitchFamily="18" charset="0"/>
                <a:cs typeface="Times New Roman" pitchFamily="18" charset="0"/>
              </a:rPr>
              <a:t>BRD Computation</a:t>
            </a:r>
            <a:endParaRPr lang="en-US" sz="3800" dirty="0">
              <a:latin typeface="Times New Roman" pitchFamily="18" charset="0"/>
              <a:cs typeface="Times New Roman" pitchFamily="18" charset="0"/>
            </a:endParaRPr>
          </a:p>
          <a:p>
            <a:r>
              <a:rPr lang="en-US" sz="3800" dirty="0">
                <a:latin typeface="Times New Roman" pitchFamily="18" charset="0"/>
                <a:cs typeface="Times New Roman" pitchFamily="18" charset="0"/>
              </a:rPr>
              <a:t>BRD </a:t>
            </a:r>
            <a:r>
              <a:rPr lang="en-US" sz="3800" dirty="0" smtClean="0">
                <a:latin typeface="Times New Roman" pitchFamily="18" charset="0"/>
                <a:cs typeface="Times New Roman" pitchFamily="18" charset="0"/>
              </a:rPr>
              <a:t>Implementation &amp; Comparison</a:t>
            </a:r>
            <a:endParaRPr lang="en-US" sz="3800" dirty="0">
              <a:latin typeface="Times New Roman" pitchFamily="18" charset="0"/>
              <a:cs typeface="Times New Roman" pitchFamily="18" charset="0"/>
            </a:endParaRPr>
          </a:p>
          <a:p>
            <a:r>
              <a:rPr lang="en-US" sz="3800" dirty="0" smtClean="0">
                <a:latin typeface="Times New Roman" pitchFamily="18" charset="0"/>
                <a:cs typeface="Times New Roman" pitchFamily="18" charset="0"/>
              </a:rPr>
              <a:t>Conclusion</a:t>
            </a:r>
            <a:endParaRPr lang="en-US" sz="3800" dirty="0">
              <a:latin typeface="Times New Roman" pitchFamily="18" charset="0"/>
              <a:cs typeface="Times New Roman" pitchFamily="18" charset="0"/>
            </a:endParaRPr>
          </a:p>
        </p:txBody>
      </p:sp>
    </p:spTree>
    <p:extLst>
      <p:ext uri="{BB962C8B-B14F-4D97-AF65-F5344CB8AC3E}">
        <p14:creationId xmlns:p14="http://schemas.microsoft.com/office/powerpoint/2010/main" val="6864251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350838"/>
            <a:ext cx="8229600" cy="944562"/>
          </a:xfrm>
        </p:spPr>
        <p:txBody>
          <a:bodyPr>
            <a:normAutofit/>
          </a:bodyPr>
          <a:lstStyle/>
          <a:p>
            <a:pPr algn="ctr"/>
            <a:r>
              <a:rPr lang="en-US" b="1"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INTRODUCTION TO BRD</a:t>
            </a:r>
            <a:endParaRPr lang="en-US"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334000"/>
          </a:xfrm>
        </p:spPr>
        <p:txBody>
          <a:bodyPr>
            <a:normAutofit fontScale="25000" lnSpcReduction="20000"/>
          </a:bodyPr>
          <a:lstStyle/>
          <a:p>
            <a:pPr marL="0" indent="0" algn="just">
              <a:buNone/>
            </a:pPr>
            <a:r>
              <a:rPr lang="en-US" dirty="0" smtClean="0">
                <a:latin typeface="Times New Roman" pitchFamily="18" charset="0"/>
                <a:cs typeface="Times New Roman" pitchFamily="18" charset="0"/>
              </a:rPr>
              <a:t>	</a:t>
            </a:r>
            <a:endParaRPr lang="en-US" sz="8000" dirty="0" smtClean="0">
              <a:latin typeface="Times New Roman" pitchFamily="18" charset="0"/>
              <a:cs typeface="Times New Roman" pitchFamily="18" charset="0"/>
            </a:endParaRPr>
          </a:p>
          <a:p>
            <a:pPr marL="0" indent="0" algn="just">
              <a:buNone/>
            </a:pPr>
            <a:r>
              <a:rPr lang="en-US" sz="8000" dirty="0">
                <a:latin typeface="Times New Roman" pitchFamily="18" charset="0"/>
                <a:cs typeface="Times New Roman" pitchFamily="18" charset="0"/>
              </a:rPr>
              <a:t>	</a:t>
            </a:r>
            <a:r>
              <a:rPr lang="en-US" sz="8800" dirty="0" smtClean="0">
                <a:latin typeface="Times New Roman" pitchFamily="18" charset="0"/>
                <a:cs typeface="Times New Roman" pitchFamily="18" charset="0"/>
              </a:rPr>
              <a:t>This </a:t>
            </a:r>
            <a:r>
              <a:rPr lang="en-US" sz="8800" dirty="0">
                <a:latin typeface="Times New Roman" pitchFamily="18" charset="0"/>
                <a:cs typeface="Times New Roman" pitchFamily="18" charset="0"/>
              </a:rPr>
              <a:t>project bases on using bin-ratio information to categorize images. This information is collected from ratios between bin values of histograms that are used for scene and category classifications.  In this project was used a new histogram dissimilarity in order to use such information, also better known as bin-ratio dissimilarity or BRD.  The implementation of this project shows that BRD provides several advantages for category and scene classification tasks. </a:t>
            </a:r>
            <a:endParaRPr lang="en-US" sz="8800" dirty="0" smtClean="0">
              <a:latin typeface="Times New Roman" pitchFamily="18" charset="0"/>
              <a:cs typeface="Times New Roman" pitchFamily="18" charset="0"/>
            </a:endParaRPr>
          </a:p>
          <a:p>
            <a:pPr marL="0" indent="0" algn="just">
              <a:buNone/>
            </a:pPr>
            <a:endParaRPr lang="en-US" sz="3200" dirty="0">
              <a:latin typeface="Times New Roman" pitchFamily="18" charset="0"/>
              <a:cs typeface="Times New Roman" pitchFamily="18" charset="0"/>
            </a:endParaRPr>
          </a:p>
          <a:p>
            <a:pPr marL="0" indent="0" algn="just">
              <a:buNone/>
            </a:pPr>
            <a:r>
              <a:rPr lang="en-US" sz="8800" dirty="0">
                <a:latin typeface="Times New Roman" pitchFamily="18" charset="0"/>
                <a:cs typeface="Times New Roman" pitchFamily="18" charset="0"/>
              </a:rPr>
              <a:t>Three of these advantages are being specified in this project</a:t>
            </a:r>
            <a:r>
              <a:rPr lang="en-US" sz="8800" dirty="0" smtClean="0">
                <a:latin typeface="Times New Roman" pitchFamily="18" charset="0"/>
                <a:cs typeface="Times New Roman" pitchFamily="18" charset="0"/>
              </a:rPr>
              <a:t>:</a:t>
            </a:r>
          </a:p>
          <a:p>
            <a:pPr marL="0" indent="0" algn="just">
              <a:buNone/>
            </a:pPr>
            <a:endParaRPr lang="en-US" sz="3200" dirty="0">
              <a:latin typeface="Times New Roman" pitchFamily="18" charset="0"/>
              <a:cs typeface="Times New Roman" pitchFamily="18" charset="0"/>
            </a:endParaRPr>
          </a:p>
          <a:p>
            <a:pPr algn="just"/>
            <a:r>
              <a:rPr lang="en-US" sz="8800" dirty="0">
                <a:latin typeface="Times New Roman" pitchFamily="18" charset="0"/>
                <a:cs typeface="Times New Roman" pitchFamily="18" charset="0"/>
              </a:rPr>
              <a:t>First, BRD is robust to cluttering, partial occlusion and histogram normalization</a:t>
            </a:r>
            <a:r>
              <a:rPr lang="en-US" sz="8800" dirty="0" smtClean="0">
                <a:latin typeface="Times New Roman" pitchFamily="18" charset="0"/>
                <a:cs typeface="Times New Roman" pitchFamily="18" charset="0"/>
              </a:rPr>
              <a:t>.</a:t>
            </a:r>
            <a:endParaRPr lang="en-US" sz="8800" dirty="0">
              <a:latin typeface="Times New Roman" pitchFamily="18" charset="0"/>
              <a:cs typeface="Times New Roman" pitchFamily="18" charset="0"/>
            </a:endParaRPr>
          </a:p>
          <a:p>
            <a:pPr algn="just"/>
            <a:r>
              <a:rPr lang="en-US" sz="8800" dirty="0">
                <a:latin typeface="Times New Roman" pitchFamily="18" charset="0"/>
                <a:cs typeface="Times New Roman" pitchFamily="18" charset="0"/>
              </a:rPr>
              <a:t>Second, BRD captures rich co-occurrence information while enjoying a linear computational complexity</a:t>
            </a:r>
            <a:r>
              <a:rPr lang="en-US" sz="8800" dirty="0" smtClean="0">
                <a:latin typeface="Times New Roman" pitchFamily="18" charset="0"/>
                <a:cs typeface="Times New Roman" pitchFamily="18" charset="0"/>
              </a:rPr>
              <a:t>.</a:t>
            </a:r>
            <a:endParaRPr lang="en-US" sz="8800" dirty="0">
              <a:latin typeface="Times New Roman" pitchFamily="18" charset="0"/>
              <a:cs typeface="Times New Roman" pitchFamily="18" charset="0"/>
            </a:endParaRPr>
          </a:p>
          <a:p>
            <a:pPr algn="just"/>
            <a:r>
              <a:rPr lang="en-US" sz="8800" dirty="0">
                <a:latin typeface="Times New Roman" pitchFamily="18" charset="0"/>
                <a:cs typeface="Times New Roman" pitchFamily="18" charset="0"/>
              </a:rPr>
              <a:t>Third, BRD can be easily combined with other dissimilarity measures. An example of this can be seen later on in this project, where L1 and x2 methods are combined to gather complimentary information for category and scene classification tasks in the bag-of-words framework.</a:t>
            </a:r>
          </a:p>
          <a:p>
            <a:pPr marL="0" indent="0">
              <a:buNone/>
            </a:pPr>
            <a:endParaRPr lang="en-US" dirty="0"/>
          </a:p>
        </p:txBody>
      </p:sp>
    </p:spTree>
    <p:extLst>
      <p:ext uri="{BB962C8B-B14F-4D97-AF65-F5344CB8AC3E}">
        <p14:creationId xmlns:p14="http://schemas.microsoft.com/office/powerpoint/2010/main" val="19594996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305800" cy="6096000"/>
          </a:xfrm>
        </p:spPr>
        <p:txBody>
          <a:bodyPr>
            <a:normAutofit fontScale="70000" lnSpcReduction="20000"/>
          </a:bodyPr>
          <a:lstStyle/>
          <a:p>
            <a:pPr marL="0" indent="0" algn="just">
              <a:buNone/>
            </a:pPr>
            <a:r>
              <a:rPr lang="en-US" sz="3400" dirty="0" smtClean="0">
                <a:latin typeface="Times New Roman" pitchFamily="18" charset="0"/>
                <a:cs typeface="Times New Roman" pitchFamily="18" charset="0"/>
              </a:rPr>
              <a:t>	Histogram-based </a:t>
            </a:r>
            <a:r>
              <a:rPr lang="en-US" sz="3400" dirty="0">
                <a:latin typeface="Times New Roman" pitchFamily="18" charset="0"/>
                <a:cs typeface="Times New Roman" pitchFamily="18" charset="0"/>
              </a:rPr>
              <a:t>representation captures rich information that leads to powerful discriminability. This is widely used in category and scene classification such as in the bag-of-words models [8, 9, 21, 32, 37, 34]. In these models an image is represented by the histogram or frequency of vectors of quantized visual words. Then, these histograms are combined with classifiers or support vector machines for classification</a:t>
            </a:r>
            <a:r>
              <a:rPr lang="en-US" sz="3400" dirty="0" smtClean="0">
                <a:latin typeface="Times New Roman" pitchFamily="18" charset="0"/>
                <a:cs typeface="Times New Roman" pitchFamily="18" charset="0"/>
              </a:rPr>
              <a:t>.</a:t>
            </a:r>
          </a:p>
          <a:p>
            <a:pPr marL="0" indent="0" algn="just">
              <a:buNone/>
            </a:pPr>
            <a:endParaRPr lang="en-US" sz="3400" dirty="0">
              <a:latin typeface="Times New Roman" pitchFamily="18" charset="0"/>
              <a:cs typeface="Times New Roman" pitchFamily="18" charset="0"/>
            </a:endParaRPr>
          </a:p>
          <a:p>
            <a:pPr marL="0" indent="0" algn="just">
              <a:buNone/>
            </a:pPr>
            <a:r>
              <a:rPr lang="en-US" sz="3400" dirty="0" smtClean="0">
                <a:latin typeface="Times New Roman" pitchFamily="18" charset="0"/>
                <a:cs typeface="Times New Roman" pitchFamily="18" charset="0"/>
              </a:rPr>
              <a:t>This </a:t>
            </a:r>
            <a:r>
              <a:rPr lang="en-US" sz="3400" dirty="0">
                <a:latin typeface="Times New Roman" pitchFamily="18" charset="0"/>
                <a:cs typeface="Times New Roman" pitchFamily="18" charset="0"/>
              </a:rPr>
              <a:t>project’s development has two major steps</a:t>
            </a:r>
            <a:r>
              <a:rPr lang="en-US" sz="3400" dirty="0" smtClean="0">
                <a:latin typeface="Times New Roman" pitchFamily="18" charset="0"/>
                <a:cs typeface="Times New Roman" pitchFamily="18" charset="0"/>
              </a:rPr>
              <a:t>:</a:t>
            </a:r>
          </a:p>
          <a:p>
            <a:pPr algn="just"/>
            <a:r>
              <a:rPr lang="en-US" sz="3400" dirty="0" smtClean="0">
                <a:latin typeface="Times New Roman" pitchFamily="18" charset="0"/>
                <a:cs typeface="Times New Roman" pitchFamily="18" charset="0"/>
              </a:rPr>
              <a:t>First</a:t>
            </a:r>
            <a:r>
              <a:rPr lang="en-US" sz="3400" dirty="0">
                <a:latin typeface="Times New Roman" pitchFamily="18" charset="0"/>
                <a:cs typeface="Times New Roman" pitchFamily="18" charset="0"/>
              </a:rPr>
              <a:t>, partial matching information: This is an important issue in category and scene classification because images often contain a large amount of clutter that is irrelevant, and brings noises to the object-of-interest</a:t>
            </a:r>
            <a:r>
              <a:rPr lang="en-US" sz="3400" dirty="0" smtClean="0">
                <a:latin typeface="Times New Roman" pitchFamily="18" charset="0"/>
                <a:cs typeface="Times New Roman" pitchFamily="18" charset="0"/>
              </a:rPr>
              <a:t>.</a:t>
            </a:r>
          </a:p>
          <a:p>
            <a:pPr marL="0" indent="0" algn="just">
              <a:buNone/>
            </a:pPr>
            <a:endParaRPr lang="en-US" sz="3400" dirty="0">
              <a:latin typeface="Times New Roman" pitchFamily="18" charset="0"/>
              <a:cs typeface="Times New Roman" pitchFamily="18" charset="0"/>
            </a:endParaRPr>
          </a:p>
          <a:p>
            <a:pPr algn="just"/>
            <a:r>
              <a:rPr lang="en-US" sz="3400" dirty="0">
                <a:latin typeface="Times New Roman" pitchFamily="18" charset="0"/>
                <a:cs typeface="Times New Roman" pitchFamily="18" charset="0"/>
              </a:rPr>
              <a:t>Second, co-occurrence information: </a:t>
            </a:r>
            <a:r>
              <a:rPr lang="en-US" sz="3400" dirty="0" smtClean="0">
                <a:latin typeface="Times New Roman" pitchFamily="18" charset="0"/>
                <a:cs typeface="Times New Roman" pitchFamily="18" charset="0"/>
              </a:rPr>
              <a:t>In a histogram-based </a:t>
            </a:r>
            <a:r>
              <a:rPr lang="en-US" sz="3400" dirty="0">
                <a:latin typeface="Times New Roman" pitchFamily="18" charset="0"/>
                <a:cs typeface="Times New Roman" pitchFamily="18" charset="0"/>
              </a:rPr>
              <a:t>representation co-occurrence captures the correlation information between pairs of histogram bins or joint frequency of visual words in the bag-of-words model.</a:t>
            </a:r>
          </a:p>
          <a:p>
            <a:endParaRPr lang="en-US" dirty="0"/>
          </a:p>
        </p:txBody>
      </p:sp>
    </p:spTree>
    <p:extLst>
      <p:ext uri="{BB962C8B-B14F-4D97-AF65-F5344CB8AC3E}">
        <p14:creationId xmlns:p14="http://schemas.microsoft.com/office/powerpoint/2010/main" val="18204096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914353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1080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85000" lnSpcReduction="10000"/>
          </a:bodyPr>
          <a:lstStyle/>
          <a:p>
            <a:pPr marL="0" indent="0" algn="just">
              <a:buNone/>
            </a:pPr>
            <a:r>
              <a:rPr lang="en-US" sz="2900" b="1"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AN EXAMPLE:</a:t>
            </a:r>
          </a:p>
          <a:p>
            <a:pPr marL="0" lvl="0" indent="0" algn="just">
              <a:buNone/>
            </a:pPr>
            <a:r>
              <a:rPr lang="en-US" sz="2900" dirty="0" smtClean="0">
                <a:latin typeface="Times New Roman" pitchFamily="18" charset="0"/>
                <a:cs typeface="Times New Roman" pitchFamily="18" charset="0"/>
              </a:rPr>
              <a:t>	(a) And </a:t>
            </a:r>
            <a:r>
              <a:rPr lang="en-US" sz="2900" dirty="0">
                <a:latin typeface="Times New Roman" pitchFamily="18" charset="0"/>
                <a:cs typeface="Times New Roman" pitchFamily="18" charset="0"/>
              </a:rPr>
              <a:t>(b) represent histograms of images from the </a:t>
            </a:r>
            <a:r>
              <a:rPr lang="en-US" sz="2900" dirty="0" smtClean="0">
                <a:latin typeface="Times New Roman" pitchFamily="18" charset="0"/>
                <a:cs typeface="Times New Roman" pitchFamily="18" charset="0"/>
              </a:rPr>
              <a:t>same category</a:t>
            </a:r>
            <a:r>
              <a:rPr lang="en-US" sz="2900" dirty="0">
                <a:latin typeface="Times New Roman" pitchFamily="18" charset="0"/>
                <a:cs typeface="Times New Roman" pitchFamily="18" charset="0"/>
              </a:rPr>
              <a:t>. While bins 1 to 4 in (a) and (b) are exactly the same, bin(5) is very different because it simulates a large background clutters in the image where (b) is computed</a:t>
            </a:r>
            <a:r>
              <a:rPr lang="en-US" sz="2900" dirty="0" smtClean="0">
                <a:latin typeface="Times New Roman" pitchFamily="18" charset="0"/>
                <a:cs typeface="Times New Roman" pitchFamily="18" charset="0"/>
              </a:rPr>
              <a:t>.</a:t>
            </a:r>
          </a:p>
          <a:p>
            <a:pPr marL="0" lvl="0" indent="0" algn="just">
              <a:buNone/>
            </a:pPr>
            <a:endParaRPr lang="en-US" sz="2900" dirty="0">
              <a:latin typeface="Times New Roman" pitchFamily="18" charset="0"/>
              <a:cs typeface="Times New Roman" pitchFamily="18" charset="0"/>
            </a:endParaRPr>
          </a:p>
          <a:p>
            <a:pPr marL="0" indent="0" algn="just">
              <a:buNone/>
            </a:pPr>
            <a:r>
              <a:rPr lang="en-US" sz="2900" dirty="0" smtClean="0">
                <a:latin typeface="Times New Roman" pitchFamily="18" charset="0"/>
                <a:cs typeface="Times New Roman" pitchFamily="18" charset="0"/>
              </a:rPr>
              <a:t>	To </a:t>
            </a:r>
            <a:r>
              <a:rPr lang="en-US" sz="2900" dirty="0">
                <a:latin typeface="Times New Roman" pitchFamily="18" charset="0"/>
                <a:cs typeface="Times New Roman" pitchFamily="18" charset="0"/>
              </a:rPr>
              <a:t>address these two major steps bin-ratio information is used. Bin-ratios are defined as the ratios between bin values of histograms. These are robust to normalization, cluttering, and also capture co-occurrence information between all pairs of bins. The results of this are two histograms whose BRD is defined as the sum of squares of normalized differences over all matrix elements</a:t>
            </a:r>
            <a:r>
              <a:rPr lang="en-US" sz="2900" dirty="0" smtClean="0">
                <a:latin typeface="Times New Roman" pitchFamily="18" charset="0"/>
                <a:cs typeface="Times New Roman" pitchFamily="18" charset="0"/>
              </a:rPr>
              <a:t>.</a:t>
            </a:r>
          </a:p>
          <a:p>
            <a:pPr marL="0" indent="0" algn="just">
              <a:buNone/>
            </a:pPr>
            <a:endParaRPr lang="en-US" sz="2900" dirty="0" smtClean="0">
              <a:latin typeface="Times New Roman" pitchFamily="18" charset="0"/>
              <a:cs typeface="Times New Roman" pitchFamily="18" charset="0"/>
            </a:endParaRPr>
          </a:p>
          <a:p>
            <a:pPr marL="0" indent="0" algn="just">
              <a:buNone/>
            </a:pPr>
            <a:r>
              <a:rPr lang="en-US" sz="2900" dirty="0" smtClean="0">
                <a:latin typeface="Times New Roman" pitchFamily="18" charset="0"/>
                <a:cs typeface="Times New Roman" pitchFamily="18" charset="0"/>
              </a:rPr>
              <a:t> 	As </a:t>
            </a:r>
            <a:r>
              <a:rPr lang="en-US" sz="2900" dirty="0">
                <a:latin typeface="Times New Roman" pitchFamily="18" charset="0"/>
                <a:cs typeface="Times New Roman" pitchFamily="18" charset="0"/>
              </a:rPr>
              <a:t>shown in figure 1(h), the new dissimilarity handles simultaneously partial matching and normalization problems.</a:t>
            </a:r>
          </a:p>
          <a:p>
            <a:endParaRPr lang="en-US" dirty="0"/>
          </a:p>
        </p:txBody>
      </p:sp>
    </p:spTree>
    <p:extLst>
      <p:ext uri="{BB962C8B-B14F-4D97-AF65-F5344CB8AC3E}">
        <p14:creationId xmlns:p14="http://schemas.microsoft.com/office/powerpoint/2010/main" val="41651335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66800" y="152400"/>
            <a:ext cx="7024744" cy="1143000"/>
          </a:xfrm>
        </p:spPr>
        <p:txBody>
          <a:bodyPr>
            <a:normAutofit/>
          </a:bodyPr>
          <a:lstStyle/>
          <a:p>
            <a:r>
              <a:rPr lang="en-US" b="1"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BRD COMPUTATION</a:t>
            </a:r>
            <a:endParaRPr lang="en-US"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257800"/>
          </a:xfrm>
        </p:spPr>
        <p:txBody>
          <a:bodyPr>
            <a:normAutofit fontScale="70000" lnSpcReduction="20000"/>
          </a:bodyPr>
          <a:lstStyle/>
          <a:p>
            <a:pPr marL="0" indent="0" algn="just">
              <a:buNone/>
            </a:pPr>
            <a:r>
              <a:rPr lang="en-US" sz="3400" dirty="0">
                <a:latin typeface="Times New Roman" pitchFamily="18" charset="0"/>
                <a:cs typeface="Times New Roman" pitchFamily="18" charset="0"/>
              </a:rPr>
              <a:t>This </a:t>
            </a:r>
            <a:r>
              <a:rPr lang="en-US" sz="3400" dirty="0" smtClean="0">
                <a:latin typeface="Times New Roman" pitchFamily="18" charset="0"/>
                <a:cs typeface="Times New Roman" pitchFamily="18" charset="0"/>
              </a:rPr>
              <a:t>project’s </a:t>
            </a:r>
            <a:r>
              <a:rPr lang="en-US" sz="3400" dirty="0">
                <a:latin typeface="Times New Roman" pitchFamily="18" charset="0"/>
                <a:cs typeface="Times New Roman" pitchFamily="18" charset="0"/>
              </a:rPr>
              <a:t>work is related to the histogram-based representations under the bag-of-words framework [8, 9, 21, 32, 34, etc.]. The distances allow cross bin comparison between two histograms to gain robustness to histogram distortions. This project emphasizes three recent matching algorithms with high-order statistics</a:t>
            </a:r>
            <a:r>
              <a:rPr lang="en-US" sz="3400" dirty="0" smtClean="0">
                <a:latin typeface="Times New Roman" pitchFamily="18" charset="0"/>
                <a:cs typeface="Times New Roman" pitchFamily="18" charset="0"/>
              </a:rPr>
              <a:t>:</a:t>
            </a:r>
          </a:p>
          <a:p>
            <a:pPr marL="0" indent="0" algn="just">
              <a:buNone/>
            </a:pPr>
            <a:endParaRPr lang="en-US" sz="3400" dirty="0">
              <a:latin typeface="Times New Roman" pitchFamily="18" charset="0"/>
              <a:cs typeface="Times New Roman" pitchFamily="18" charset="0"/>
            </a:endParaRPr>
          </a:p>
          <a:p>
            <a:pPr algn="just"/>
            <a:r>
              <a:rPr lang="en-US" sz="3400" dirty="0">
                <a:latin typeface="Times New Roman" pitchFamily="18" charset="0"/>
                <a:cs typeface="Times New Roman" pitchFamily="18" charset="0"/>
              </a:rPr>
              <a:t>Second-order </a:t>
            </a:r>
            <a:r>
              <a:rPr lang="en-US" sz="3400" dirty="0" smtClean="0">
                <a:latin typeface="Times New Roman" pitchFamily="18" charset="0"/>
                <a:cs typeface="Times New Roman" pitchFamily="18" charset="0"/>
              </a:rPr>
              <a:t>programming</a:t>
            </a:r>
            <a:endParaRPr lang="en-US" sz="3400" dirty="0">
              <a:latin typeface="Times New Roman" pitchFamily="18" charset="0"/>
              <a:cs typeface="Times New Roman" pitchFamily="18" charset="0"/>
            </a:endParaRPr>
          </a:p>
          <a:p>
            <a:pPr algn="just"/>
            <a:r>
              <a:rPr lang="en-US" sz="3400" dirty="0">
                <a:latin typeface="Times New Roman" pitchFamily="18" charset="0"/>
                <a:cs typeface="Times New Roman" pitchFamily="18" charset="0"/>
              </a:rPr>
              <a:t>Matching</a:t>
            </a:r>
          </a:p>
          <a:p>
            <a:pPr algn="just"/>
            <a:r>
              <a:rPr lang="en-US" sz="3400" dirty="0">
                <a:latin typeface="Times New Roman" pitchFamily="18" charset="0"/>
                <a:cs typeface="Times New Roman" pitchFamily="18" charset="0"/>
              </a:rPr>
              <a:t>High order </a:t>
            </a:r>
            <a:r>
              <a:rPr lang="en-US" sz="3400" dirty="0" smtClean="0">
                <a:latin typeface="Times New Roman" pitchFamily="18" charset="0"/>
                <a:cs typeface="Times New Roman" pitchFamily="18" charset="0"/>
              </a:rPr>
              <a:t>matching</a:t>
            </a:r>
          </a:p>
          <a:p>
            <a:pPr marL="0" indent="0" algn="just">
              <a:buNone/>
            </a:pPr>
            <a:endParaRPr lang="en-US" sz="3400" dirty="0">
              <a:latin typeface="Times New Roman" pitchFamily="18" charset="0"/>
              <a:cs typeface="Times New Roman" pitchFamily="18" charset="0"/>
            </a:endParaRPr>
          </a:p>
          <a:p>
            <a:pPr marL="0" indent="0" algn="just">
              <a:buNone/>
            </a:pPr>
            <a:r>
              <a:rPr lang="en-US" sz="3400" dirty="0">
                <a:latin typeface="Times New Roman" pitchFamily="18" charset="0"/>
                <a:cs typeface="Times New Roman" pitchFamily="18" charset="0"/>
              </a:rPr>
              <a:t>They formulate the hyper-graph matching problem as the maximization of a tensor function over all permutation of the features tuples. This work is inspired by the idea that dissimilarity measures use high-order information over different bins within a histogram.</a:t>
            </a:r>
          </a:p>
          <a:p>
            <a:pPr marL="0" indent="0">
              <a:buNone/>
            </a:pPr>
            <a:endParaRPr lang="en-US" dirty="0"/>
          </a:p>
        </p:txBody>
      </p:sp>
    </p:spTree>
    <p:extLst>
      <p:ext uri="{BB962C8B-B14F-4D97-AF65-F5344CB8AC3E}">
        <p14:creationId xmlns:p14="http://schemas.microsoft.com/office/powerpoint/2010/main" val="22557526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Content Placeholder 12"/>
              <p:cNvSpPr>
                <a:spLocks noGrp="1"/>
              </p:cNvSpPr>
              <p:nvPr>
                <p:ph idx="1"/>
              </p:nvPr>
            </p:nvSpPr>
            <p:spPr>
              <a:xfrm>
                <a:off x="457200" y="609600"/>
                <a:ext cx="8229600" cy="5867400"/>
              </a:xfrm>
            </p:spPr>
            <p:txBody>
              <a:bodyPr>
                <a:normAutofit lnSpcReduction="10000"/>
              </a:bodyPr>
              <a:lstStyle/>
              <a:p>
                <a:pPr marL="0" indent="0" algn="just">
                  <a:buNone/>
                </a:pPr>
                <a:r>
                  <a:rPr lang="en-US" sz="2400" dirty="0" smtClean="0">
                    <a:latin typeface="Times New Roman" pitchFamily="18" charset="0"/>
                    <a:cs typeface="Times New Roman" pitchFamily="18" charset="0"/>
                  </a:rPr>
                  <a:t>This is the formula </a:t>
                </a:r>
                <a:r>
                  <a:rPr lang="en-US" sz="2400" dirty="0" smtClean="0">
                    <a:latin typeface="Times New Roman" pitchFamily="18" charset="0"/>
                    <a:cs typeface="Times New Roman" pitchFamily="18" charset="0"/>
                  </a:rPr>
                  <a:t>used </a:t>
                </a:r>
                <a:r>
                  <a:rPr lang="en-US" sz="2400" dirty="0" smtClean="0">
                    <a:latin typeface="Times New Roman" pitchFamily="18" charset="0"/>
                    <a:cs typeface="Times New Roman" pitchFamily="18" charset="0"/>
                  </a:rPr>
                  <a:t>to denote a normalized histogram </a:t>
                </a:r>
                <a:r>
                  <a:rPr lang="en-US" sz="2400" dirty="0" err="1">
                    <a:latin typeface="Times New Roman" pitchFamily="18" charset="0"/>
                    <a:cs typeface="Times New Roman" pitchFamily="18" charset="0"/>
                  </a:rPr>
                  <a:t>hє</a:t>
                </a:r>
                <a14:m>
                  <m:oMath xmlns:m="http://schemas.openxmlformats.org/officeDocument/2006/math">
                    <m:sSup>
                      <m:sSupPr>
                        <m:ctrlPr>
                          <a:rPr lang="en-US" sz="2400" i="1">
                            <a:latin typeface="Cambria Math"/>
                          </a:rPr>
                        </m:ctrlPr>
                      </m:sSupPr>
                      <m:e>
                        <m:r>
                          <m:rPr>
                            <m:sty m:val="p"/>
                          </m:rPr>
                          <a:rPr lang="en-US" sz="2400">
                            <a:latin typeface="Cambria Math"/>
                          </a:rPr>
                          <m:t>R</m:t>
                        </m:r>
                      </m:e>
                      <m:sup>
                        <m:r>
                          <a:rPr lang="en-US" sz="2400" i="1">
                            <a:latin typeface="Cambria Math"/>
                          </a:rPr>
                          <m:t>𝑛</m:t>
                        </m:r>
                      </m:sup>
                    </m:sSup>
                  </m:oMath>
                </a14:m>
                <a:r>
                  <a:rPr lang="en-US" sz="2400" dirty="0">
                    <a:latin typeface="Times New Roman" pitchFamily="18" charset="0"/>
                    <a:cs typeface="Times New Roman" pitchFamily="18" charset="0"/>
                  </a:rPr>
                  <a:t> with n bins in total</a:t>
                </a:r>
                <a:r>
                  <a:rPr lang="en-US" sz="2400" dirty="0" smtClean="0">
                    <a:latin typeface="Times New Roman" pitchFamily="18" charset="0"/>
                    <a:cs typeface="Times New Roman" pitchFamily="18" charset="0"/>
                  </a:rPr>
                  <a:t>.</a:t>
                </a:r>
              </a:p>
              <a:p>
                <a:pPr marL="0" indent="0" algn="just">
                  <a:buNone/>
                </a:pPr>
                <a:endParaRPr lang="en-US" sz="2400" dirty="0" smtClean="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lgn="just">
                  <a:buNone/>
                </a:pPr>
                <a:endParaRPr lang="en-US" sz="800" dirty="0" smtClean="0">
                  <a:latin typeface="Times New Roman" pitchFamily="18" charset="0"/>
                  <a:cs typeface="Times New Roman" pitchFamily="18" charset="0"/>
                </a:endParaRPr>
              </a:p>
              <a:p>
                <a:pPr marL="0" indent="0" algn="just">
                  <a:buNone/>
                </a:pPr>
                <a:r>
                  <a:rPr lang="en-US" sz="2400" dirty="0" smtClean="0">
                    <a:latin typeface="Times New Roman" pitchFamily="18" charset="0"/>
                    <a:cs typeface="Times New Roman" pitchFamily="18" charset="0"/>
                  </a:rPr>
                  <a:t>Also the ration </a:t>
                </a:r>
                <a:r>
                  <a:rPr lang="en-US" sz="2400" dirty="0">
                    <a:latin typeface="Times New Roman" pitchFamily="18" charset="0"/>
                    <a:cs typeface="Times New Roman" pitchFamily="18" charset="0"/>
                  </a:rPr>
                  <a:t>matrix </a:t>
                </a:r>
                <a:r>
                  <a:rPr lang="en-US" sz="2400" dirty="0" err="1">
                    <a:latin typeface="Times New Roman" pitchFamily="18" charset="0"/>
                    <a:cs typeface="Times New Roman" pitchFamily="18" charset="0"/>
                  </a:rPr>
                  <a:t>Hє</a:t>
                </a:r>
                <a14:m>
                  <m:oMath xmlns:m="http://schemas.openxmlformats.org/officeDocument/2006/math">
                    <m:sSup>
                      <m:sSupPr>
                        <m:ctrlPr>
                          <a:rPr lang="en-US" sz="2400" i="1">
                            <a:latin typeface="Cambria Math"/>
                          </a:rPr>
                        </m:ctrlPr>
                      </m:sSupPr>
                      <m:e>
                        <m:r>
                          <m:rPr>
                            <m:sty m:val="p"/>
                          </m:rPr>
                          <a:rPr lang="en-US" sz="2400">
                            <a:latin typeface="Cambria Math"/>
                          </a:rPr>
                          <m:t>R</m:t>
                        </m:r>
                      </m:e>
                      <m:sup>
                        <m:r>
                          <a:rPr lang="en-US" sz="2400" i="1">
                            <a:latin typeface="Cambria Math"/>
                          </a:rPr>
                          <m:t>𝑛𝑥𝑛</m:t>
                        </m:r>
                      </m:sup>
                    </m:sSup>
                  </m:oMath>
                </a14:m>
                <a:r>
                  <a:rPr lang="en-US" sz="2400" dirty="0">
                    <a:latin typeface="Times New Roman" pitchFamily="18" charset="0"/>
                    <a:cs typeface="Times New Roman" pitchFamily="18" charset="0"/>
                  </a:rPr>
                  <a:t> </a:t>
                </a:r>
                <a:r>
                  <a:rPr lang="en-US" dirty="0" smtClean="0">
                    <a:latin typeface="Times New Roman" pitchFamily="18" charset="0"/>
                    <a:cs typeface="Times New Roman" pitchFamily="18" charset="0"/>
                  </a:rPr>
                  <a:t>that </a:t>
                </a:r>
                <a:r>
                  <a:rPr lang="en-US" sz="2400" dirty="0" smtClean="0">
                    <a:latin typeface="Times New Roman" pitchFamily="18" charset="0"/>
                    <a:cs typeface="Times New Roman" pitchFamily="18" charset="0"/>
                  </a:rPr>
                  <a:t>captures the </a:t>
                </a:r>
                <a:r>
                  <a:rPr lang="en-US" sz="2400" dirty="0">
                    <a:latin typeface="Times New Roman" pitchFamily="18" charset="0"/>
                    <a:cs typeface="Times New Roman" pitchFamily="18" charset="0"/>
                  </a:rPr>
                  <a:t>relationship between histogram </a:t>
                </a:r>
                <a:r>
                  <a:rPr lang="en-US" sz="2400" dirty="0" smtClean="0">
                    <a:latin typeface="Times New Roman" pitchFamily="18" charset="0"/>
                    <a:cs typeface="Times New Roman" pitchFamily="18" charset="0"/>
                  </a:rPr>
                  <a:t>bins is defined as follows.</a:t>
                </a:r>
                <a:endParaRPr lang="en-US" sz="2400" dirty="0" smtClean="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smtClean="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smtClean="0">
                  <a:latin typeface="Times New Roman" pitchFamily="18" charset="0"/>
                  <a:cs typeface="Times New Roman" pitchFamily="18" charset="0"/>
                </a:endParaRPr>
              </a:p>
              <a:p>
                <a:pPr marL="0" indent="0">
                  <a:buNone/>
                </a:pPr>
                <a:endParaRPr lang="en-US" sz="2000" dirty="0" smtClean="0">
                  <a:latin typeface="Times New Roman" pitchFamily="18" charset="0"/>
                  <a:cs typeface="Times New Roman" pitchFamily="18" charset="0"/>
                </a:endParaRPr>
              </a:p>
              <a:p>
                <a:pPr marL="0" indent="0" algn="just">
                  <a:buNone/>
                </a:pPr>
                <a:endParaRPr lang="en-US" sz="2400" dirty="0" smtClean="0">
                  <a:latin typeface="Times New Roman" pitchFamily="18" charset="0"/>
                  <a:cs typeface="Times New Roman" pitchFamily="18" charset="0"/>
                </a:endParaRPr>
              </a:p>
              <a:p>
                <a:pPr marL="0" indent="0" algn="just">
                  <a:buNone/>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ratio matrix is invariant to normalization since each element is invariant to normalization. Each matrix element </a:t>
                </a:r>
                <a:r>
                  <a:rPr lang="en-US" sz="2400" dirty="0" err="1">
                    <a:latin typeface="Times New Roman" pitchFamily="18" charset="0"/>
                    <a:cs typeface="Times New Roman" pitchFamily="18" charset="0"/>
                  </a:rPr>
                  <a:t>hj</a:t>
                </a:r>
                <a:r>
                  <a:rPr lang="en-US" sz="2400" dirty="0">
                    <a:latin typeface="Times New Roman" pitchFamily="18" charset="0"/>
                    <a:cs typeface="Times New Roman" pitchFamily="18" charset="0"/>
                  </a:rPr>
                  <a:t>/hi measures the relation between elements hi, </a:t>
                </a:r>
                <a:r>
                  <a:rPr lang="en-US" sz="2400" dirty="0" err="1">
                    <a:latin typeface="Times New Roman" pitchFamily="18" charset="0"/>
                    <a:cs typeface="Times New Roman" pitchFamily="18" charset="0"/>
                  </a:rPr>
                  <a:t>hj</a:t>
                </a:r>
                <a:r>
                  <a:rPr lang="en-US" sz="2400" dirty="0">
                    <a:latin typeface="Times New Roman" pitchFamily="18" charset="0"/>
                    <a:cs typeface="Times New Roman" pitchFamily="18" charset="0"/>
                  </a:rPr>
                  <a:t> in the original histogram.</a:t>
                </a:r>
              </a:p>
              <a:p>
                <a:pPr marL="0" indent="0">
                  <a:buNone/>
                </a:pPr>
                <a:endParaRPr lang="en-US" dirty="0"/>
              </a:p>
            </p:txBody>
          </p:sp>
        </mc:Choice>
        <mc:Fallback>
          <p:sp>
            <p:nvSpPr>
              <p:cNvPr id="13" name="Content Placeholder 12"/>
              <p:cNvSpPr>
                <a:spLocks noGrp="1" noRot="1" noChangeAspect="1" noMove="1" noResize="1" noEditPoints="1" noAdjustHandles="1" noChangeArrowheads="1" noChangeShapeType="1" noTextEdit="1"/>
              </p:cNvSpPr>
              <p:nvPr>
                <p:ph idx="1"/>
              </p:nvPr>
            </p:nvSpPr>
            <p:spPr>
              <a:xfrm>
                <a:off x="457200" y="609600"/>
                <a:ext cx="8229600" cy="5867400"/>
              </a:xfrm>
              <a:blipFill rotWithShape="1">
                <a:blip r:embed="rId2"/>
                <a:stretch>
                  <a:fillRect l="-1111" t="-1454" r="-1111" b="-1661"/>
                </a:stretch>
              </a:blipFill>
            </p:spPr>
            <p:txBody>
              <a:bodyPr/>
              <a:lstStyle/>
              <a:p>
                <a:r>
                  <a:rPr lang="en-US">
                    <a:noFill/>
                  </a:rPr>
                  <a:t> </a:t>
                </a:r>
              </a:p>
            </p:txBody>
          </p:sp>
        </mc:Fallback>
      </mc:AlternateContent>
      <p:pic>
        <p:nvPicPr>
          <p:cNvPr id="21" name="Picture 20"/>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95400"/>
            <a:ext cx="8158038" cy="1003300"/>
          </a:xfrm>
          <a:prstGeom prst="rect">
            <a:avLst/>
          </a:prstGeom>
          <a:noFill/>
          <a:ln>
            <a:noFill/>
          </a:ln>
        </p:spPr>
      </p:pic>
      <p:pic>
        <p:nvPicPr>
          <p:cNvPr id="22" name="Picture 21"/>
          <p:cNvPicPr/>
          <p:nvPr/>
        </p:nvPicPr>
        <p:blipFill>
          <a:blip r:embed="rId4">
            <a:extLst>
              <a:ext uri="{28A0092B-C50C-407E-A947-70E740481C1C}">
                <a14:useLocalDpi xmlns:a14="http://schemas.microsoft.com/office/drawing/2010/main" val="0"/>
              </a:ext>
            </a:extLst>
          </a:blip>
          <a:srcRect/>
          <a:stretch>
            <a:fillRect/>
          </a:stretch>
        </p:blipFill>
        <p:spPr bwMode="auto">
          <a:xfrm>
            <a:off x="529424" y="2973614"/>
            <a:ext cx="8086477" cy="2436586"/>
          </a:xfrm>
          <a:prstGeom prst="rect">
            <a:avLst/>
          </a:prstGeom>
          <a:noFill/>
          <a:ln>
            <a:noFill/>
          </a:ln>
        </p:spPr>
      </p:pic>
    </p:spTree>
    <p:extLst>
      <p:ext uri="{BB962C8B-B14F-4D97-AF65-F5344CB8AC3E}">
        <p14:creationId xmlns:p14="http://schemas.microsoft.com/office/powerpoint/2010/main" val="22547669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609600"/>
            <a:ext cx="8229600" cy="6019800"/>
          </a:xfrm>
        </p:spPr>
        <p:txBody>
          <a:bodyPr>
            <a:normAutofit/>
          </a:bodyPr>
          <a:lstStyle/>
          <a:p>
            <a:pPr marL="0" indent="0" algn="just">
              <a:buNone/>
            </a:pPr>
            <a:r>
              <a:rPr lang="en-US" sz="2400" dirty="0" smtClean="0">
                <a:latin typeface="Times New Roman" pitchFamily="18" charset="0"/>
                <a:cs typeface="Times New Roman" pitchFamily="18" charset="0"/>
              </a:rPr>
              <a:t>The definition below is unstable </a:t>
            </a:r>
            <a:r>
              <a:rPr lang="en-US" sz="2400" dirty="0">
                <a:latin typeface="Times New Roman" pitchFamily="18" charset="0"/>
                <a:cs typeface="Times New Roman" pitchFamily="18" charset="0"/>
              </a:rPr>
              <a:t>when pi and qi are close to zero, and to avoid this problem they included the normalization part to define the </a:t>
            </a:r>
            <a:r>
              <a:rPr lang="en-US" sz="2400" dirty="0" smtClean="0">
                <a:latin typeface="Times New Roman" pitchFamily="18" charset="0"/>
                <a:cs typeface="Times New Roman" pitchFamily="18" charset="0"/>
              </a:rPr>
              <a:t>following </a:t>
            </a:r>
            <a:r>
              <a:rPr lang="en-US" sz="2400" dirty="0">
                <a:latin typeface="Times New Roman" pitchFamily="18" charset="0"/>
                <a:cs typeface="Times New Roman" pitchFamily="18" charset="0"/>
              </a:rPr>
              <a:t>dissimilarity</a:t>
            </a:r>
            <a:r>
              <a:rPr lang="en-US" sz="2400" dirty="0" smtClean="0">
                <a:latin typeface="Times New Roman" pitchFamily="18" charset="0"/>
                <a:cs typeface="Times New Roman" pitchFamily="18" charset="0"/>
              </a:rPr>
              <a:t>.</a:t>
            </a: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smtClean="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lgn="just">
              <a:buNone/>
            </a:pPr>
            <a:r>
              <a:rPr lang="en-US" sz="2400" dirty="0" smtClean="0">
                <a:latin typeface="Times New Roman" pitchFamily="18" charset="0"/>
                <a:cs typeface="Times New Roman" pitchFamily="18" charset="0"/>
              </a:rPr>
              <a:t>The normalization above makes </a:t>
            </a:r>
            <a:r>
              <a:rPr lang="en-US" sz="2400" dirty="0">
                <a:latin typeface="Times New Roman" pitchFamily="18" charset="0"/>
                <a:cs typeface="Times New Roman" pitchFamily="18" charset="0"/>
              </a:rPr>
              <a:t>the whole dissimilarity variant to normalization. </a:t>
            </a:r>
            <a:r>
              <a:rPr lang="en-US" sz="2400" dirty="0" smtClean="0">
                <a:latin typeface="Times New Roman" pitchFamily="18" charset="0"/>
                <a:cs typeface="Times New Roman" pitchFamily="18" charset="0"/>
              </a:rPr>
              <a:t>Since the </a:t>
            </a:r>
            <a:r>
              <a:rPr lang="en-US" sz="2400" dirty="0">
                <a:latin typeface="Times New Roman" pitchFamily="18" charset="0"/>
                <a:cs typeface="Times New Roman" pitchFamily="18" charset="0"/>
              </a:rPr>
              <a:t>gaining in robustness is </a:t>
            </a:r>
            <a:r>
              <a:rPr lang="en-US" sz="2400" dirty="0" smtClean="0">
                <a:latin typeface="Times New Roman" pitchFamily="18" charset="0"/>
                <a:cs typeface="Times New Roman" pitchFamily="18" charset="0"/>
              </a:rPr>
              <a:t>more </a:t>
            </a:r>
            <a:r>
              <a:rPr lang="en-US" sz="2400" dirty="0">
                <a:latin typeface="Times New Roman" pitchFamily="18" charset="0"/>
                <a:cs typeface="Times New Roman" pitchFamily="18" charset="0"/>
              </a:rPr>
              <a:t>important </a:t>
            </a:r>
            <a:r>
              <a:rPr lang="en-US" sz="2400" dirty="0" smtClean="0">
                <a:latin typeface="Times New Roman" pitchFamily="18" charset="0"/>
                <a:cs typeface="Times New Roman" pitchFamily="18" charset="0"/>
              </a:rPr>
              <a:t>than strict normalization, </a:t>
            </a:r>
            <a:r>
              <a:rPr lang="en-US" sz="2400" dirty="0">
                <a:latin typeface="Times New Roman" pitchFamily="18" charset="0"/>
                <a:cs typeface="Times New Roman" pitchFamily="18" charset="0"/>
              </a:rPr>
              <a:t>the bin-ratio </a:t>
            </a:r>
            <a:r>
              <a:rPr lang="en-US" sz="2400" dirty="0" smtClean="0">
                <a:latin typeface="Times New Roman" pitchFamily="18" charset="0"/>
                <a:cs typeface="Times New Roman" pitchFamily="18" charset="0"/>
              </a:rPr>
              <a:t>dissimilarity </a:t>
            </a:r>
            <a:r>
              <a:rPr lang="en-US" sz="2400" dirty="0">
                <a:latin typeface="Times New Roman" pitchFamily="18" charset="0"/>
                <a:cs typeface="Times New Roman" pitchFamily="18" charset="0"/>
              </a:rPr>
              <a:t>BRD </a:t>
            </a:r>
            <a:r>
              <a:rPr lang="en-US" sz="2400" dirty="0" err="1">
                <a:latin typeface="Times New Roman" pitchFamily="18" charset="0"/>
                <a:cs typeface="Times New Roman" pitchFamily="18" charset="0"/>
              </a:rPr>
              <a:t>dbr</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p,q</a:t>
            </a:r>
            <a:r>
              <a:rPr lang="en-US" sz="2400" dirty="0">
                <a:latin typeface="Times New Roman" pitchFamily="18" charset="0"/>
                <a:cs typeface="Times New Roman" pitchFamily="18" charset="0"/>
              </a:rPr>
              <a:t>) between two histograms p and q </a:t>
            </a:r>
            <a:r>
              <a:rPr lang="en-US" sz="2400" dirty="0" smtClean="0">
                <a:latin typeface="Times New Roman" pitchFamily="18" charset="0"/>
                <a:cs typeface="Times New Roman" pitchFamily="18" charset="0"/>
              </a:rPr>
              <a:t> was defined as follows:</a:t>
            </a:r>
            <a:endParaRPr lang="en-US" sz="2400" dirty="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buNone/>
            </a:pPr>
            <a:endParaRPr lang="en-US" dirty="0"/>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529389" y="1413734"/>
            <a:ext cx="8085222" cy="1558066"/>
          </a:xfrm>
          <a:prstGeom prst="rect">
            <a:avLst/>
          </a:prstGeom>
          <a:noFill/>
          <a:ln>
            <a:noFill/>
          </a:ln>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529389" y="4922194"/>
            <a:ext cx="8085222" cy="1783405"/>
          </a:xfrm>
          <a:prstGeom prst="rect">
            <a:avLst/>
          </a:prstGeom>
          <a:noFill/>
          <a:ln>
            <a:noFill/>
          </a:ln>
        </p:spPr>
      </p:pic>
    </p:spTree>
    <p:extLst>
      <p:ext uri="{BB962C8B-B14F-4D97-AF65-F5344CB8AC3E}">
        <p14:creationId xmlns:p14="http://schemas.microsoft.com/office/powerpoint/2010/main" val="10721394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579437"/>
            <a:ext cx="8229600" cy="5668963"/>
          </a:xfrm>
        </p:spPr>
        <p:txBody>
          <a:bodyPr/>
          <a:lstStyle/>
          <a:p>
            <a:pPr marL="0" indent="0" algn="just">
              <a:buNone/>
            </a:pPr>
            <a:r>
              <a:rPr lang="en-US" sz="2400" dirty="0">
                <a:latin typeface="Times New Roman" pitchFamily="18" charset="0"/>
                <a:cs typeface="Times New Roman" pitchFamily="18" charset="0"/>
              </a:rPr>
              <a:t>Even though BRD seems to have </a:t>
            </a:r>
            <a:r>
              <a:rPr lang="en-US" sz="2400" dirty="0" smtClean="0">
                <a:latin typeface="Times New Roman" pitchFamily="18" charset="0"/>
                <a:cs typeface="Times New Roman" pitchFamily="18" charset="0"/>
              </a:rPr>
              <a:t>a quadratic </a:t>
            </a:r>
            <a:r>
              <a:rPr lang="en-US" sz="2400" dirty="0">
                <a:latin typeface="Times New Roman" pitchFamily="18" charset="0"/>
                <a:cs typeface="Times New Roman" pitchFamily="18" charset="0"/>
              </a:rPr>
              <a:t>complexity, it can </a:t>
            </a:r>
            <a:r>
              <a:rPr lang="en-US" sz="2400" dirty="0" smtClean="0">
                <a:latin typeface="Times New Roman" pitchFamily="18" charset="0"/>
                <a:cs typeface="Times New Roman" pitchFamily="18" charset="0"/>
              </a:rPr>
              <a:t>be </a:t>
            </a:r>
            <a:r>
              <a:rPr lang="en-US" sz="2400" dirty="0">
                <a:latin typeface="Times New Roman" pitchFamily="18" charset="0"/>
                <a:cs typeface="Times New Roman" pitchFamily="18" charset="0"/>
              </a:rPr>
              <a:t>computed in a simpler way as it is shown in the following image.</a:t>
            </a:r>
          </a:p>
          <a:p>
            <a:pPr marL="0" indent="0">
              <a:buNone/>
            </a:pPr>
            <a:endParaRPr lang="en-US" dirty="0"/>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8077200" cy="4876800"/>
          </a:xfrm>
          <a:prstGeom prst="rect">
            <a:avLst/>
          </a:prstGeom>
          <a:noFill/>
          <a:ln>
            <a:noFill/>
          </a:ln>
        </p:spPr>
      </p:pic>
    </p:spTree>
    <p:extLst>
      <p:ext uri="{BB962C8B-B14F-4D97-AF65-F5344CB8AC3E}">
        <p14:creationId xmlns:p14="http://schemas.microsoft.com/office/powerpoint/2010/main" val="41845366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81000" y="762000"/>
            <a:ext cx="8229600" cy="5791200"/>
          </a:xfrm>
        </p:spPr>
        <p:txBody>
          <a:bodyPr>
            <a:normAutofit lnSpcReduction="10000"/>
          </a:bodyPr>
          <a:lstStyle/>
          <a:p>
            <a:pPr marL="0" indent="0" algn="just">
              <a:buNone/>
            </a:pPr>
            <a:r>
              <a:rPr lang="en-US" sz="2800" dirty="0" smtClean="0">
                <a:latin typeface="Times New Roman" pitchFamily="18" charset="0"/>
                <a:cs typeface="Times New Roman" pitchFamily="18" charset="0"/>
              </a:rPr>
              <a:t>	Using </a:t>
            </a:r>
            <a:r>
              <a:rPr lang="en-US" sz="2800" dirty="0" smtClean="0">
                <a:latin typeface="Times New Roman" pitchFamily="18" charset="0"/>
                <a:cs typeface="Times New Roman" pitchFamily="18" charset="0"/>
              </a:rPr>
              <a:t>the equation </a:t>
            </a:r>
            <a:r>
              <a:rPr lang="en-US" sz="2800" dirty="0">
                <a:latin typeface="Times New Roman" pitchFamily="18" charset="0"/>
                <a:cs typeface="Times New Roman" pitchFamily="18" charset="0"/>
              </a:rPr>
              <a:t>8, they came up with a simpler formulation as shown below. </a:t>
            </a:r>
            <a:endParaRPr lang="en-US" sz="2800" dirty="0" smtClean="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r>
              <a:rPr lang="en-US" sz="2800" dirty="0" smtClean="0">
                <a:latin typeface="Times New Roman" pitchFamily="18" charset="0"/>
                <a:cs typeface="Times New Roman" pitchFamily="18" charset="0"/>
              </a:rPr>
              <a:t>	Using </a:t>
            </a:r>
            <a:r>
              <a:rPr lang="en-US" sz="2800" dirty="0">
                <a:latin typeface="Times New Roman" pitchFamily="18" charset="0"/>
                <a:cs typeface="Times New Roman" pitchFamily="18" charset="0"/>
              </a:rPr>
              <a:t>this equation, BRD can be calculated in </a:t>
            </a:r>
            <a:r>
              <a:rPr lang="en-US" sz="2800" dirty="0" smtClean="0">
                <a:latin typeface="Times New Roman" pitchFamily="18" charset="0"/>
                <a:cs typeface="Times New Roman" pitchFamily="18" charset="0"/>
              </a:rPr>
              <a:t>linear time</a:t>
            </a:r>
            <a:r>
              <a:rPr lang="en-US" sz="2800" dirty="0">
                <a:latin typeface="Times New Roman" pitchFamily="18" charset="0"/>
                <a:cs typeface="Times New Roman" pitchFamily="18" charset="0"/>
              </a:rPr>
              <a:t>. This is because items have linear complexities and the combination of them take only </a:t>
            </a:r>
            <a:r>
              <a:rPr lang="en-US" sz="2800" dirty="0" smtClean="0">
                <a:latin typeface="Times New Roman" pitchFamily="18" charset="0"/>
                <a:cs typeface="Times New Roman" pitchFamily="18" charset="0"/>
              </a:rPr>
              <a:t>constant </a:t>
            </a:r>
            <a:r>
              <a:rPr lang="en-US" sz="2800" dirty="0">
                <a:latin typeface="Times New Roman" pitchFamily="18" charset="0"/>
                <a:cs typeface="Times New Roman" pitchFamily="18" charset="0"/>
              </a:rPr>
              <a:t>time.</a:t>
            </a:r>
          </a:p>
          <a:p>
            <a:pPr marL="0" indent="0">
              <a:buNone/>
            </a:pPr>
            <a:endParaRPr lang="en-US" dirty="0"/>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00200"/>
            <a:ext cx="7924800" cy="3276600"/>
          </a:xfrm>
          <a:prstGeom prst="rect">
            <a:avLst/>
          </a:prstGeom>
          <a:noFill/>
          <a:ln>
            <a:noFill/>
          </a:ln>
        </p:spPr>
      </p:pic>
    </p:spTree>
    <p:extLst>
      <p:ext uri="{BB962C8B-B14F-4D97-AF65-F5344CB8AC3E}">
        <p14:creationId xmlns:p14="http://schemas.microsoft.com/office/powerpoint/2010/main" val="32903964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564" y="2667000"/>
            <a:ext cx="8229600" cy="3768436"/>
          </a:xfrm>
        </p:spPr>
        <p:txBody>
          <a:bodyPr>
            <a:normAutofit/>
          </a:bodyPr>
          <a:lstStyle/>
          <a:p>
            <a:pPr marL="0" indent="0" algn="just">
              <a:buNone/>
            </a:pPr>
            <a:r>
              <a:rPr lang="en-US" sz="2800" dirty="0" smtClean="0">
                <a:latin typeface="Times New Roman" pitchFamily="18" charset="0"/>
                <a:cs typeface="Times New Roman" pitchFamily="18" charset="0"/>
              </a:rPr>
              <a:t>From </a:t>
            </a:r>
            <a:r>
              <a:rPr lang="en-US" sz="2800" dirty="0">
                <a:latin typeface="Times New Roman" pitchFamily="18" charset="0"/>
                <a:cs typeface="Times New Roman" pitchFamily="18" charset="0"/>
              </a:rPr>
              <a:t>equation (8) we saw that when either pi or qi is zero and the other is small noise, we have </a:t>
            </a:r>
            <a:r>
              <a:rPr lang="en-US" sz="2800" dirty="0" err="1">
                <a:latin typeface="Times New Roman" pitchFamily="18" charset="0"/>
                <a:cs typeface="Times New Roman" pitchFamily="18" charset="0"/>
              </a:rPr>
              <a:t>dbr</a:t>
            </a:r>
            <a:r>
              <a:rPr lang="en-US" sz="2800" dirty="0">
                <a:latin typeface="Times New Roman" pitchFamily="18" charset="0"/>
                <a:cs typeface="Times New Roman" pitchFamily="18" charset="0"/>
              </a:rPr>
              <a:t>(</a:t>
            </a:r>
            <a:r>
              <a:rPr lang="en-US" sz="2800" dirty="0" err="1">
                <a:latin typeface="Times New Roman" pitchFamily="18" charset="0"/>
                <a:cs typeface="Times New Roman" pitchFamily="18" charset="0"/>
              </a:rPr>
              <a:t>p,q</a:t>
            </a:r>
            <a:r>
              <a:rPr lang="en-US" sz="2800" dirty="0">
                <a:latin typeface="Times New Roman" pitchFamily="18" charset="0"/>
                <a:cs typeface="Times New Roman" pitchFamily="18" charset="0"/>
              </a:rPr>
              <a:t>) =1. </a:t>
            </a:r>
            <a:endParaRPr lang="en-US" sz="2800" dirty="0" smtClean="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r>
              <a:rPr lang="en-US" sz="2800" dirty="0" smtClean="0">
                <a:latin typeface="Times New Roman" pitchFamily="18" charset="0"/>
                <a:cs typeface="Times New Roman" pitchFamily="18" charset="0"/>
              </a:rPr>
              <a:t>This </a:t>
            </a:r>
            <a:r>
              <a:rPr lang="en-US" sz="2800" dirty="0">
                <a:latin typeface="Times New Roman" pitchFamily="18" charset="0"/>
                <a:cs typeface="Times New Roman" pitchFamily="18" charset="0"/>
              </a:rPr>
              <a:t>observation implies that BRD can be sensitive to small </a:t>
            </a:r>
            <a:r>
              <a:rPr lang="en-US" sz="2800" dirty="0" smtClean="0">
                <a:latin typeface="Times New Roman" pitchFamily="18" charset="0"/>
                <a:cs typeface="Times New Roman" pitchFamily="18" charset="0"/>
              </a:rPr>
              <a:t>noises. But, since </a:t>
            </a:r>
            <a:r>
              <a:rPr lang="en-US" sz="2800" dirty="0">
                <a:latin typeface="Times New Roman" pitchFamily="18" charset="0"/>
                <a:cs typeface="Times New Roman" pitchFamily="18" charset="0"/>
              </a:rPr>
              <a:t>histograms measures can handle small noises </a:t>
            </a:r>
            <a:r>
              <a:rPr lang="en-US" sz="2800" dirty="0" smtClean="0">
                <a:latin typeface="Times New Roman" pitchFamily="18" charset="0"/>
                <a:cs typeface="Times New Roman" pitchFamily="18" charset="0"/>
              </a:rPr>
              <a:t>their combination with </a:t>
            </a:r>
            <a:r>
              <a:rPr lang="en-US" sz="2800" dirty="0">
                <a:latin typeface="Times New Roman" pitchFamily="18" charset="0"/>
                <a:cs typeface="Times New Roman" pitchFamily="18" charset="0"/>
              </a:rPr>
              <a:t>other method </a:t>
            </a:r>
            <a:r>
              <a:rPr lang="en-US" sz="2800" dirty="0" smtClean="0">
                <a:latin typeface="Times New Roman" pitchFamily="18" charset="0"/>
                <a:cs typeface="Times New Roman" pitchFamily="18" charset="0"/>
              </a:rPr>
              <a:t>gives  </a:t>
            </a:r>
            <a:r>
              <a:rPr lang="en-US" sz="2800" dirty="0">
                <a:latin typeface="Times New Roman" pitchFamily="18" charset="0"/>
                <a:cs typeface="Times New Roman" pitchFamily="18" charset="0"/>
              </a:rPr>
              <a:t>complementary gaining.</a:t>
            </a:r>
          </a:p>
          <a:p>
            <a:pPr marL="0" indent="0">
              <a:buNone/>
            </a:pPr>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533400" y="685801"/>
            <a:ext cx="8153400" cy="1981200"/>
          </a:xfrm>
          <a:prstGeom prst="rect">
            <a:avLst/>
          </a:prstGeom>
          <a:noFill/>
          <a:ln>
            <a:noFill/>
          </a:ln>
        </p:spPr>
      </p:pic>
    </p:spTree>
    <p:extLst>
      <p:ext uri="{BB962C8B-B14F-4D97-AF65-F5344CB8AC3E}">
        <p14:creationId xmlns:p14="http://schemas.microsoft.com/office/powerpoint/2010/main" val="36961812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33400" y="762000"/>
            <a:ext cx="8153400" cy="5791200"/>
          </a:xfrm>
        </p:spPr>
        <p:txBody>
          <a:bodyPr>
            <a:normAutofit/>
          </a:bodyPr>
          <a:lstStyle/>
          <a:p>
            <a:pPr marL="0" indent="0" algn="just">
              <a:buNone/>
            </a:pPr>
            <a:r>
              <a:rPr lang="en-US"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Below </a:t>
            </a:r>
            <a:r>
              <a:rPr lang="en-US" sz="2800" dirty="0">
                <a:latin typeface="Times New Roman" pitchFamily="18" charset="0"/>
                <a:cs typeface="Times New Roman" pitchFamily="18" charset="0"/>
              </a:rPr>
              <a:t>is an example of how they first combined BRD with L1 distance, known to be robust to outliers small noises.</a:t>
            </a:r>
          </a:p>
          <a:p>
            <a:pPr marL="0" indent="0">
              <a:buNone/>
            </a:pPr>
            <a:endParaRPr lang="en-US" dirty="0"/>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533400" y="2133600"/>
            <a:ext cx="8077200" cy="4419600"/>
          </a:xfrm>
          <a:prstGeom prst="rect">
            <a:avLst/>
          </a:prstGeom>
          <a:noFill/>
          <a:ln>
            <a:noFill/>
          </a:ln>
        </p:spPr>
      </p:pic>
    </p:spTree>
    <p:extLst>
      <p:ext uri="{BB962C8B-B14F-4D97-AF65-F5344CB8AC3E}">
        <p14:creationId xmlns:p14="http://schemas.microsoft.com/office/powerpoint/2010/main" val="31663034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685800"/>
            <a:ext cx="8229600" cy="5943600"/>
          </a:xfrm>
        </p:spPr>
        <p:txBody>
          <a:bodyPr>
            <a:normAutofit fontScale="85000" lnSpcReduction="20000"/>
          </a:bodyPr>
          <a:lstStyle/>
          <a:p>
            <a:pPr marL="0" indent="0" algn="just">
              <a:buNone/>
            </a:pPr>
            <a:r>
              <a:rPr lang="en-US" sz="2800" dirty="0" smtClean="0">
                <a:latin typeface="Times New Roman" pitchFamily="18" charset="0"/>
                <a:cs typeface="Times New Roman" pitchFamily="18" charset="0"/>
              </a:rPr>
              <a:t>Another </a:t>
            </a:r>
            <a:r>
              <a:rPr lang="en-US" sz="2800" dirty="0">
                <a:latin typeface="Times New Roman" pitchFamily="18" charset="0"/>
                <a:cs typeface="Times New Roman" pitchFamily="18" charset="0"/>
              </a:rPr>
              <a:t>combination example represented below is with X^2</a:t>
            </a:r>
            <a:r>
              <a:rPr lang="en-US" sz="2800" dirty="0" smtClean="0">
                <a:latin typeface="Times New Roman" pitchFamily="18" charset="0"/>
                <a:cs typeface="Times New Roman" pitchFamily="18" charset="0"/>
              </a:rPr>
              <a:t>.</a:t>
            </a: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r>
              <a:rPr lang="en-US" sz="2800" dirty="0" smtClean="0">
                <a:latin typeface="Times New Roman" pitchFamily="18" charset="0"/>
                <a:cs typeface="Times New Roman" pitchFamily="18" charset="0"/>
              </a:rPr>
              <a:t>	</a:t>
            </a:r>
            <a:endParaRPr lang="en-US" sz="800" dirty="0" smtClean="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r>
              <a:rPr lang="en-US" sz="2800" dirty="0" smtClean="0">
                <a:latin typeface="Times New Roman" pitchFamily="18" charset="0"/>
                <a:cs typeface="Times New Roman" pitchFamily="18" charset="0"/>
              </a:rPr>
              <a:t>Both </a:t>
            </a:r>
            <a:r>
              <a:rPr lang="en-US" sz="2800" dirty="0">
                <a:latin typeface="Times New Roman" pitchFamily="18" charset="0"/>
                <a:cs typeface="Times New Roman" pitchFamily="18" charset="0"/>
              </a:rPr>
              <a:t>L1-BRD and X^2-BRD are more efficient solutions to larger scale tasks due to their linear computational complexities</a:t>
            </a:r>
            <a:r>
              <a:rPr lang="en-US" dirty="0">
                <a:latin typeface="Times New Roman" pitchFamily="18" charset="0"/>
                <a:cs typeface="Times New Roman" pitchFamily="18" charset="0"/>
              </a:rPr>
              <a:t>.</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0600"/>
            <a:ext cx="8077200" cy="4800600"/>
          </a:xfrm>
          <a:prstGeom prst="rect">
            <a:avLst/>
          </a:prstGeom>
          <a:noFill/>
          <a:ln>
            <a:noFill/>
          </a:ln>
        </p:spPr>
      </p:pic>
    </p:spTree>
    <p:extLst>
      <p:ext uri="{BB962C8B-B14F-4D97-AF65-F5344CB8AC3E}">
        <p14:creationId xmlns:p14="http://schemas.microsoft.com/office/powerpoint/2010/main" val="18466708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304800"/>
            <a:ext cx="8229600" cy="1143000"/>
          </a:xfrm>
        </p:spPr>
        <p:txBody>
          <a:bodyPr>
            <a:normAutofit fontScale="90000"/>
          </a:bodyPr>
          <a:lstStyle/>
          <a:p>
            <a:r>
              <a:rPr lang="en-US" b="1"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KERNEL BASED CLASSIFICATION</a:t>
            </a:r>
            <a:endParaRPr lang="en-US"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Content Placeholder 4"/>
          <p:cNvSpPr>
            <a:spLocks noGrp="1"/>
          </p:cNvSpPr>
          <p:nvPr>
            <p:ph idx="1"/>
          </p:nvPr>
        </p:nvSpPr>
        <p:spPr>
          <a:xfrm>
            <a:off x="457200" y="1600200"/>
            <a:ext cx="8229600" cy="4953000"/>
          </a:xfrm>
        </p:spPr>
        <p:txBody>
          <a:bodyPr>
            <a:normAutofit/>
          </a:bodyPr>
          <a:lstStyle/>
          <a:p>
            <a:pPr marL="0" indent="0" algn="just">
              <a:buNone/>
            </a:pPr>
            <a:r>
              <a:rPr lang="en-US" sz="2800" dirty="0">
                <a:latin typeface="Times New Roman" pitchFamily="18" charset="0"/>
                <a:cs typeface="Times New Roman" pitchFamily="18" charset="0"/>
              </a:rPr>
              <a:t>For classification tasks, they combined the BRD technique with the standard bag-of-words model. To achieve this, they first built BRD kernels using extended Gaussian Kernels as shown below</a:t>
            </a:r>
            <a:r>
              <a:rPr lang="en-US" sz="2800" dirty="0" smtClean="0">
                <a:latin typeface="Times New Roman" pitchFamily="18" charset="0"/>
                <a:cs typeface="Times New Roman" pitchFamily="18" charset="0"/>
              </a:rPr>
              <a:t>.</a:t>
            </a: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r>
              <a:rPr lang="en-US" sz="2800" dirty="0">
                <a:latin typeface="Times New Roman" pitchFamily="18" charset="0"/>
                <a:cs typeface="Times New Roman" pitchFamily="18" charset="0"/>
              </a:rPr>
              <a:t>Here, D(</a:t>
            </a:r>
            <a:r>
              <a:rPr lang="en-US" sz="2800" dirty="0" err="1">
                <a:latin typeface="Times New Roman" pitchFamily="18" charset="0"/>
                <a:cs typeface="Times New Roman" pitchFamily="18" charset="0"/>
              </a:rPr>
              <a:t>p,q</a:t>
            </a:r>
            <a:r>
              <a:rPr lang="en-US" sz="2800" dirty="0">
                <a:latin typeface="Times New Roman" pitchFamily="18" charset="0"/>
                <a:cs typeface="Times New Roman" pitchFamily="18" charset="0"/>
              </a:rPr>
              <a:t>) is a dissimilarity when p and q are histograms of images, and A is a scaling parameter that can be determine by using validation.</a:t>
            </a:r>
          </a:p>
          <a:p>
            <a:pPr marL="0" indent="0">
              <a:buNone/>
            </a:pPr>
            <a:endParaRPr lang="en-US"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429000"/>
            <a:ext cx="80772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90966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762999"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117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BRD IMPLEMENTATION &amp; COMPARISON</a:t>
            </a:r>
            <a:endParaRPr lang="en-US"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lgn="just">
              <a:buNone/>
            </a:pPr>
            <a:r>
              <a:rPr lang="en-US"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The </a:t>
            </a:r>
            <a:r>
              <a:rPr lang="en-US" sz="2800" dirty="0">
                <a:latin typeface="Times New Roman" pitchFamily="18" charset="0"/>
                <a:cs typeface="Times New Roman" pitchFamily="18" charset="0"/>
              </a:rPr>
              <a:t>scene-15 dataset is compiled from several datasets and, it contains 15 categories and 4485 scene images with 200 to 400 images per class. This dataset was used for comparison with different methods and the result is shown below.</a:t>
            </a:r>
          </a:p>
          <a:p>
            <a:pPr marL="0" indent="0">
              <a:buNone/>
            </a:pPr>
            <a:endParaRPr lang="en-US" dirty="0"/>
          </a:p>
        </p:txBody>
      </p:sp>
    </p:spTree>
    <p:extLst>
      <p:ext uri="{BB962C8B-B14F-4D97-AF65-F5344CB8AC3E}">
        <p14:creationId xmlns:p14="http://schemas.microsoft.com/office/powerpoint/2010/main" val="11515699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5151437"/>
            <a:ext cx="8229600" cy="1401763"/>
          </a:xfrm>
        </p:spPr>
        <p:txBody>
          <a:bodyPr>
            <a:normAutofit fontScale="92500" lnSpcReduction="10000"/>
          </a:bodyPr>
          <a:lstStyle/>
          <a:p>
            <a:pPr marL="0" indent="0" algn="just">
              <a:buNone/>
            </a:pPr>
            <a:r>
              <a:rPr lang="en-US" sz="2400" dirty="0">
                <a:latin typeface="Times New Roman" pitchFamily="18" charset="0"/>
                <a:cs typeface="Times New Roman" pitchFamily="18" charset="0"/>
              </a:rPr>
              <a:t>For image features, they used SIFT descriptors sampled on a regular grid with spacing of eight pixels. SIFT descriptors are calculated on 16x16 patches, and according to their scale BRD performs comparable to previous tested method.</a:t>
            </a:r>
          </a:p>
          <a:p>
            <a:pPr marL="0" indent="0">
              <a:buNone/>
            </a:pPr>
            <a:endParaRPr lang="en-US" dirty="0"/>
          </a:p>
        </p:txBody>
      </p:sp>
      <p:pic>
        <p:nvPicPr>
          <p:cNvPr id="7" name="Picture 6"/>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9600" y="457199"/>
            <a:ext cx="7848600" cy="4572001"/>
          </a:xfrm>
          <a:prstGeom prst="rect">
            <a:avLst/>
          </a:prstGeom>
          <a:noFill/>
        </p:spPr>
      </p:pic>
    </p:spTree>
    <p:extLst>
      <p:ext uri="{BB962C8B-B14F-4D97-AF65-F5344CB8AC3E}">
        <p14:creationId xmlns:p14="http://schemas.microsoft.com/office/powerpoint/2010/main" val="19086645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90678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53058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81200"/>
            <a:ext cx="8229600" cy="4495800"/>
          </a:xfrm>
        </p:spPr>
        <p:txBody>
          <a:bodyPr>
            <a:normAutofit/>
          </a:bodyPr>
          <a:lstStyle/>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lgn="just">
              <a:buNone/>
            </a:pPr>
            <a:endParaRPr lang="en-US" sz="2400" dirty="0" smtClean="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r>
              <a:rPr lang="en-US" b="1" dirty="0" smtClean="0">
                <a:latin typeface="Times New Roman" pitchFamily="18" charset="0"/>
                <a:cs typeface="Times New Roman" pitchFamily="18" charset="0"/>
              </a:rPr>
              <a:t>This </a:t>
            </a:r>
            <a:r>
              <a:rPr lang="en-US" b="1" dirty="0">
                <a:latin typeface="Times New Roman" pitchFamily="18" charset="0"/>
                <a:cs typeface="Times New Roman" pitchFamily="18" charset="0"/>
              </a:rPr>
              <a:t>table shows L1-BRD outperforms the winner’s method in 14 out of 20 categories as well as the average performance. </a:t>
            </a:r>
          </a:p>
          <a:p>
            <a:pPr marL="0" indent="0">
              <a:buNone/>
            </a:pPr>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762126" y="-1381126"/>
            <a:ext cx="5543550" cy="8915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2405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08037"/>
            <a:ext cx="8229600" cy="5745163"/>
          </a:xfrm>
        </p:spPr>
        <p:txBody>
          <a:bodyPr/>
          <a:lstStyle/>
          <a:p>
            <a:pPr marL="0" indent="0" algn="ctr">
              <a:buNone/>
            </a:pPr>
            <a:r>
              <a:rPr lang="en-US" sz="2800" dirty="0">
                <a:latin typeface="Times New Roman" pitchFamily="18" charset="0"/>
                <a:cs typeface="Times New Roman" pitchFamily="18" charset="0"/>
              </a:rPr>
              <a:t>This table shows that L1-BRD </a:t>
            </a:r>
            <a:r>
              <a:rPr lang="en-US" sz="2800" dirty="0" smtClean="0">
                <a:latin typeface="Times New Roman" pitchFamily="18" charset="0"/>
                <a:cs typeface="Times New Roman" pitchFamily="18" charset="0"/>
              </a:rPr>
              <a:t>gets the </a:t>
            </a:r>
            <a:r>
              <a:rPr lang="en-US" sz="2800" dirty="0">
                <a:latin typeface="Times New Roman" pitchFamily="18" charset="0"/>
                <a:cs typeface="Times New Roman" pitchFamily="18" charset="0"/>
              </a:rPr>
              <a:t>best average equal error </a:t>
            </a:r>
            <a:r>
              <a:rPr lang="en-US" sz="2800" dirty="0" smtClean="0">
                <a:latin typeface="Times New Roman" pitchFamily="18" charset="0"/>
                <a:cs typeface="Times New Roman" pitchFamily="18" charset="0"/>
              </a:rPr>
              <a:t>rate by </a:t>
            </a:r>
            <a:r>
              <a:rPr lang="en-US" sz="2800" dirty="0">
                <a:latin typeface="Times New Roman" pitchFamily="18" charset="0"/>
                <a:cs typeface="Times New Roman" pitchFamily="18" charset="0"/>
              </a:rPr>
              <a:t>improving results </a:t>
            </a:r>
            <a:r>
              <a:rPr lang="en-US" sz="2800" dirty="0" smtClean="0">
                <a:latin typeface="Times New Roman" pitchFamily="18" charset="0"/>
                <a:cs typeface="Times New Roman" pitchFamily="18" charset="0"/>
              </a:rPr>
              <a:t>in a 2.2</a:t>
            </a:r>
            <a:r>
              <a:rPr lang="en-US" sz="2800" dirty="0">
                <a:latin typeface="Times New Roman" pitchFamily="18" charset="0"/>
                <a:cs typeface="Times New Roman" pitchFamily="18" charset="0"/>
              </a:rPr>
              <a:t>%.</a:t>
            </a:r>
          </a:p>
          <a:p>
            <a:pPr marL="0" indent="0">
              <a:buNone/>
            </a:pPr>
            <a:endParaRPr lang="en-US" dirty="0" smtClean="0"/>
          </a:p>
          <a:p>
            <a:pPr marL="0" indent="0">
              <a:buNone/>
            </a:pP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057400"/>
            <a:ext cx="8058150" cy="4038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37006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99106" y="152400"/>
            <a:ext cx="8892494"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22139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31837"/>
            <a:ext cx="8229600" cy="6126163"/>
          </a:xfrm>
        </p:spPr>
        <p:txBody>
          <a:bodyPr>
            <a:normAutofit/>
          </a:bodyPr>
          <a:lstStyle/>
          <a:p>
            <a:pPr marL="0" indent="0" algn="just">
              <a:buNone/>
            </a:pPr>
            <a:r>
              <a:rPr lang="en-US" dirty="0" smtClean="0">
                <a:latin typeface="Times New Roman" pitchFamily="18" charset="0"/>
                <a:cs typeface="Times New Roman" pitchFamily="18" charset="0"/>
              </a:rPr>
              <a:t>	This </a:t>
            </a:r>
            <a:r>
              <a:rPr lang="en-US" dirty="0">
                <a:latin typeface="Times New Roman" pitchFamily="18" charset="0"/>
                <a:cs typeface="Times New Roman" pitchFamily="18" charset="0"/>
              </a:rPr>
              <a:t>dataset contains images from 17 flower categories with 80 images per category</a:t>
            </a:r>
            <a:r>
              <a:rPr lang="en-US" dirty="0" smtClean="0">
                <a:latin typeface="Times New Roman" pitchFamily="18" charset="0"/>
                <a:cs typeface="Times New Roman" pitchFamily="18" charset="0"/>
              </a:rPr>
              <a:t>.</a:t>
            </a:r>
          </a:p>
          <a:p>
            <a:pPr marL="0" indent="0" algn="just">
              <a:buNone/>
            </a:pPr>
            <a:endParaRPr lang="en-US" dirty="0">
              <a:latin typeface="Times New Roman" pitchFamily="18" charset="0"/>
              <a:cs typeface="Times New Roman" pitchFamily="18" charset="0"/>
            </a:endParaRPr>
          </a:p>
          <a:p>
            <a:pPr marL="0" indent="0" algn="just">
              <a:buNone/>
            </a:pPr>
            <a:endParaRPr lang="en-US" dirty="0" smtClean="0">
              <a:latin typeface="Times New Roman" pitchFamily="18" charset="0"/>
              <a:cs typeface="Times New Roman" pitchFamily="18" charset="0"/>
            </a:endParaRPr>
          </a:p>
          <a:p>
            <a:pPr marL="0" indent="0" algn="just">
              <a:buNone/>
            </a:pPr>
            <a:endParaRPr lang="en-US" dirty="0">
              <a:latin typeface="Times New Roman" pitchFamily="18" charset="0"/>
              <a:cs typeface="Times New Roman" pitchFamily="18" charset="0"/>
            </a:endParaRPr>
          </a:p>
          <a:p>
            <a:pPr marL="0" indent="0" algn="just">
              <a:buNone/>
            </a:pPr>
            <a:endParaRPr lang="en-US" dirty="0" smtClean="0">
              <a:latin typeface="Times New Roman" pitchFamily="18" charset="0"/>
              <a:cs typeface="Times New Roman" pitchFamily="18" charset="0"/>
            </a:endParaRPr>
          </a:p>
          <a:p>
            <a:pPr marL="0" indent="0" algn="just">
              <a:buNone/>
            </a:pPr>
            <a:endParaRPr lang="en-US" dirty="0">
              <a:latin typeface="Times New Roman" pitchFamily="18" charset="0"/>
              <a:cs typeface="Times New Roman" pitchFamily="18" charset="0"/>
            </a:endParaRPr>
          </a:p>
          <a:p>
            <a:pPr marL="0" indent="0" algn="just">
              <a:buNone/>
            </a:pPr>
            <a:endParaRPr lang="en-US" dirty="0" smtClean="0">
              <a:latin typeface="Times New Roman" pitchFamily="18" charset="0"/>
              <a:cs typeface="Times New Roman" pitchFamily="18" charset="0"/>
            </a:endParaRPr>
          </a:p>
          <a:p>
            <a:pPr marL="0" indent="0" algn="just">
              <a:buNone/>
            </a:pPr>
            <a:r>
              <a:rPr lang="en-US" dirty="0" smtClean="0">
                <a:latin typeface="Times New Roman" pitchFamily="18" charset="0"/>
                <a:cs typeface="Times New Roman" pitchFamily="18" charset="0"/>
              </a:rPr>
              <a:t>	</a:t>
            </a:r>
          </a:p>
          <a:p>
            <a:pPr marL="0" indent="0" algn="just">
              <a:buNone/>
            </a:pP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table above summarizes the recognition accuracies of different methods along with L1-BRD method, as we can see L1-BRD achieves the best performance</a:t>
            </a:r>
            <a:r>
              <a:rPr lang="en-US" dirty="0" smtClean="0">
                <a:latin typeface="Times New Roman" pitchFamily="18" charset="0"/>
                <a:cs typeface="Times New Roman" pitchFamily="18" charset="0"/>
              </a:rPr>
              <a:t>.</a:t>
            </a:r>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672" y="1600200"/>
            <a:ext cx="8007927"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4851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CONCLUSION</a:t>
            </a:r>
            <a:endParaRPr lang="en-US"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lgn="just">
              <a:buNone/>
            </a:pPr>
            <a:r>
              <a:rPr lang="en-US" dirty="0">
                <a:latin typeface="Times New Roman" pitchFamily="18" charset="0"/>
                <a:cs typeface="Times New Roman" pitchFamily="18" charset="0"/>
              </a:rPr>
              <a:t>Their main contribution lies in using bin-ratio information for category and scene classification because it is robust to background clutter and histogram normalization, captures rich co-occurrence information while having a linear computation </a:t>
            </a:r>
            <a:r>
              <a:rPr lang="en-US" dirty="0" smtClean="0">
                <a:latin typeface="Times New Roman" pitchFamily="18" charset="0"/>
                <a:cs typeface="Times New Roman" pitchFamily="18" charset="0"/>
              </a:rPr>
              <a:t>complexity, </a:t>
            </a:r>
            <a:r>
              <a:rPr lang="en-US" dirty="0">
                <a:latin typeface="Times New Roman" pitchFamily="18" charset="0"/>
                <a:cs typeface="Times New Roman" pitchFamily="18" charset="0"/>
              </a:rPr>
              <a:t>and the advantage of being easily combined with different distances that provide complimentary information.</a:t>
            </a:r>
          </a:p>
          <a:p>
            <a:pPr marL="0" indent="0">
              <a:buNone/>
            </a:pPr>
            <a:endParaRPr lang="en-US" dirty="0"/>
          </a:p>
        </p:txBody>
      </p:sp>
    </p:spTree>
    <p:extLst>
      <p:ext uri="{BB962C8B-B14F-4D97-AF65-F5344CB8AC3E}">
        <p14:creationId xmlns:p14="http://schemas.microsoft.com/office/powerpoint/2010/main" val="413030507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2115</TotalTime>
  <Words>615</Words>
  <Application>Microsoft Office PowerPoint</Application>
  <PresentationFormat>On-screen Show (4:3)</PresentationFormat>
  <Paragraphs>117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Austin</vt:lpstr>
      <vt:lpstr>Use Bin-Ratio Information for Category and Scene Classification</vt:lpstr>
      <vt:lpstr>The Project Presentation is Organized as Follows:</vt:lpstr>
      <vt:lpstr>INTRODUCTION TO BRD</vt:lpstr>
      <vt:lpstr>PowerPoint Presentation</vt:lpstr>
      <vt:lpstr>PowerPoint Presentation</vt:lpstr>
      <vt:lpstr>PowerPoint Presentation</vt:lpstr>
      <vt:lpstr>BRD COMPUTATION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KERNEL BASED CLASSIFICATION</vt:lpstr>
      <vt:lpstr>PowerPoint Presentation</vt:lpstr>
      <vt:lpstr>BRD IMPLEMENTATION &amp; COMPARISON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Puchito</dc:creator>
  <cp:lastModifiedBy>Puchito</cp:lastModifiedBy>
  <cp:revision>21</cp:revision>
  <dcterms:created xsi:type="dcterms:W3CDTF">2012-12-14T18:56:40Z</dcterms:created>
  <dcterms:modified xsi:type="dcterms:W3CDTF">2012-12-18T01:54:04Z</dcterms:modified>
</cp:coreProperties>
</file>