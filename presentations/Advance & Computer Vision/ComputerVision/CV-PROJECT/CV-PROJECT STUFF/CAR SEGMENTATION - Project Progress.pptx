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1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8" r:id="rId12"/>
    <p:sldId id="266" r:id="rId13"/>
    <p:sldId id="267" r:id="rId14"/>
    <p:sldId id="269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78623E"/>
    <a:srgbClr val="B2B2B2"/>
    <a:srgbClr val="FFFFFF"/>
    <a:srgbClr val="FF6600"/>
    <a:srgbClr val="777777"/>
    <a:srgbClr val="CC00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gray">
      <p:bgPr>
        <a:blipFill dpi="0" rotWithShape="0">
          <a:blip r:embed="rId2"/>
          <a:srcRect/>
          <a:stretch>
            <a:fillRect/>
          </a:stretch>
        </a:blip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52600" y="3429000"/>
            <a:ext cx="6934200" cy="1171575"/>
          </a:xfrm>
        </p:spPr>
        <p:txBody>
          <a:bodyPr anchor="b"/>
          <a:lstStyle>
            <a:lvl1pPr algn="r">
              <a:defRPr sz="54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4648200"/>
            <a:ext cx="6934200" cy="685800"/>
          </a:xfrm>
        </p:spPr>
        <p:txBody>
          <a:bodyPr anchor="b"/>
          <a:lstStyle>
            <a:lvl1pPr marL="0" indent="0" algn="r">
              <a:buFont typeface="Wingdings" pitchFamily="2" charset="2"/>
              <a:buNone/>
              <a:defRPr sz="3600"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10597" name="Rectangle 5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059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endParaRPr lang="en-US"/>
          </a:p>
        </p:txBody>
      </p:sp>
      <p:sp>
        <p:nvSpPr>
          <p:cNvPr id="110599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B713274-5920-4F44-86BF-AF41F426ED0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3FA033-340E-45D4-BC76-E2D3853267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96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422E59-754C-477B-8A91-87AD5846B3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55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447800"/>
            <a:ext cx="43053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447800"/>
            <a:ext cx="43053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B8E648E-2259-4081-856A-48B940C03C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37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78B418E-4643-4268-9A5C-F20191434B3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5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E3EA1C1-C058-46E1-A515-6FDDB1CFDE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21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4D9430-7516-47EA-A879-6FB23BC6F94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695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F3FB96-EC7B-48A2-9815-39212551725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35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F79F365-7F46-4E23-B4D1-9FE4C871614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1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6C5A384-79B5-44AE-BEDD-E5F6081DEB2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10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228600"/>
            <a:ext cx="2190750" cy="6477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228600"/>
            <a:ext cx="6419850" cy="6477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F3A7C3F-8894-42F3-AF31-730F37A22C8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6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0">
          <a:blip r:embed="rId13"/>
          <a:srcRect/>
          <a:stretch>
            <a:fillRect/>
          </a:stretch>
        </a:blip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228600"/>
            <a:ext cx="85344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title style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447800"/>
            <a:ext cx="87630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		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957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endParaRPr lang="en-US"/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0F0A7888-7353-4E30-AC0B-2FB478E982E1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effectLst>
            <a:outerShdw blurRad="38100" dist="38100" dir="2700000" algn="tl">
              <a:srgbClr val="220011"/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effectLst>
            <a:outerShdw blurRad="38100" dist="38100" dir="2700000" algn="tl">
              <a:srgbClr val="220011"/>
            </a:outerShdw>
          </a:effectLst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effectLst>
            <a:outerShdw blurRad="38100" dist="38100" dir="2700000" algn="tl">
              <a:srgbClr val="220011"/>
            </a:outerShdw>
          </a:effectLst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effectLst>
            <a:outerShdw blurRad="38100" dist="38100" dir="2700000" algn="tl">
              <a:srgbClr val="220011"/>
            </a:outerShdw>
          </a:effectLst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effectLst>
            <a:outerShdw blurRad="38100" dist="38100" dir="2700000" algn="tl">
              <a:srgbClr val="220011"/>
            </a:outerShdw>
          </a:effectLst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effectLst>
            <a:outerShdw blurRad="38100" dist="38100" dir="2700000" algn="tl">
              <a:srgbClr val="220011"/>
            </a:outerShdw>
          </a:effectLst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effectLst>
            <a:outerShdw blurRad="38100" dist="38100" dir="2700000" algn="tl">
              <a:srgbClr val="220011"/>
            </a:outerShdw>
          </a:effectLst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effectLst>
            <a:outerShdw blurRad="38100" dist="38100" dir="2700000" algn="tl">
              <a:srgbClr val="220011"/>
            </a:outerShdw>
          </a:effectLst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effectLst>
            <a:outerShdw blurRad="38100" dist="38100" dir="2700000" algn="tl">
              <a:srgbClr val="220011"/>
            </a:outerShdw>
          </a:effectLst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777777"/>
        </a:buClr>
        <a:buSzPct val="75000"/>
        <a:buFont typeface="Wingdings" pitchFamily="2" charset="2"/>
        <a:buChar char="n"/>
        <a:defRPr kumimoji="1" sz="3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777777"/>
        </a:buClr>
        <a:buSzPct val="75000"/>
        <a:buFont typeface="Wingdings" pitchFamily="2" charset="2"/>
        <a:buChar char="n"/>
        <a:defRPr kumimoji="1" sz="2800">
          <a:solidFill>
            <a:schemeClr val="bg2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777777"/>
        </a:buClr>
        <a:buSzPct val="75000"/>
        <a:buFont typeface="Wingdings" pitchFamily="2" charset="2"/>
        <a:buChar char="n"/>
        <a:defRPr kumimoji="1" sz="2400">
          <a:solidFill>
            <a:schemeClr val="bg2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777777"/>
        </a:buClr>
        <a:buSzPct val="75000"/>
        <a:buFont typeface="Wingdings" pitchFamily="2" charset="2"/>
        <a:buChar char="n"/>
        <a:defRPr kumimoji="1" sz="2000">
          <a:solidFill>
            <a:schemeClr val="bg2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777777"/>
        </a:buClr>
        <a:buSzPct val="75000"/>
        <a:buFont typeface="Wingdings" pitchFamily="2" charset="2"/>
        <a:buChar char="n"/>
        <a:defRPr kumimoji="1" sz="2000">
          <a:solidFill>
            <a:schemeClr val="bg2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777777"/>
        </a:buClr>
        <a:buSzPct val="75000"/>
        <a:buFont typeface="Wingdings" pitchFamily="2" charset="2"/>
        <a:buChar char="n"/>
        <a:defRPr kumimoji="1" sz="2000">
          <a:solidFill>
            <a:schemeClr val="bg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777777"/>
        </a:buClr>
        <a:buSzPct val="75000"/>
        <a:buFont typeface="Wingdings" pitchFamily="2" charset="2"/>
        <a:buChar char="n"/>
        <a:defRPr kumimoji="1" sz="2000">
          <a:solidFill>
            <a:schemeClr val="bg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777777"/>
        </a:buClr>
        <a:buSzPct val="75000"/>
        <a:buFont typeface="Wingdings" pitchFamily="2" charset="2"/>
        <a:buChar char="n"/>
        <a:defRPr kumimoji="1" sz="2000">
          <a:solidFill>
            <a:schemeClr val="bg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777777"/>
        </a:buClr>
        <a:buSzPct val="75000"/>
        <a:buFont typeface="Wingdings" pitchFamily="2" charset="2"/>
        <a:buChar char="n"/>
        <a:defRPr kumimoji="1" sz="2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1600" y="3429000"/>
            <a:ext cx="7315200" cy="1171575"/>
          </a:xfrm>
        </p:spPr>
        <p:txBody>
          <a:bodyPr/>
          <a:lstStyle/>
          <a:p>
            <a:r>
              <a:rPr lang="en-US" dirty="0" smtClean="0"/>
              <a:t>CAR SEGMENTATION</a:t>
            </a:r>
            <a:endParaRPr lang="en-US" dirty="0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5029200"/>
            <a:ext cx="6934200" cy="685800"/>
          </a:xfrm>
        </p:spPr>
        <p:txBody>
          <a:bodyPr/>
          <a:lstStyle/>
          <a:p>
            <a:r>
              <a:rPr lang="en-US" dirty="0" smtClean="0"/>
              <a:t>Author: </a:t>
            </a:r>
          </a:p>
          <a:p>
            <a:r>
              <a:rPr lang="en-US" dirty="0" err="1" smtClean="0"/>
              <a:t>Piter</a:t>
            </a:r>
            <a:r>
              <a:rPr lang="en-US" dirty="0" smtClean="0"/>
              <a:t> Garcia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 bwMode="auto">
          <a:xfrm>
            <a:off x="2057400" y="2590800"/>
            <a:ext cx="4038600" cy="533400"/>
          </a:xfrm>
          <a:prstGeom prst="roundRect">
            <a:avLst/>
          </a:prstGeom>
          <a:solidFill>
            <a:schemeClr val="accent4">
              <a:lumMod val="10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Progress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 Report &amp; First Results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bg1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  <a:p>
            <a:endParaRPr lang="en-US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bg1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  <a:p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Edge Detection </a:t>
            </a:r>
          </a:p>
          <a:p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Extracting Edges</a:t>
            </a:r>
          </a:p>
          <a:p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Shape Extraction</a:t>
            </a:r>
            <a:endParaRPr lang="en-US" b="1" dirty="0" smtClean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bg1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  <a:p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Texture Extraction</a:t>
            </a:r>
          </a:p>
          <a:p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Separate Image </a:t>
            </a:r>
          </a:p>
        </p:txBody>
      </p:sp>
    </p:spTree>
    <p:extLst>
      <p:ext uri="{BB962C8B-B14F-4D97-AF65-F5344CB8AC3E}">
        <p14:creationId xmlns:p14="http://schemas.microsoft.com/office/powerpoint/2010/main" val="1260608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Edge Detection</a:t>
            </a:r>
            <a:endParaRPr lang="en-US" b="1" dirty="0" smtClean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bg1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Edge </a:t>
            </a:r>
            <a:r>
              <a:rPr lang="en-US" dirty="0"/>
              <a:t>detection is a fundamental concept for </a:t>
            </a:r>
            <a:r>
              <a:rPr lang="en-US" dirty="0" smtClean="0"/>
              <a:t>segmentation. This is easy not </a:t>
            </a:r>
            <a:r>
              <a:rPr lang="en-US" dirty="0"/>
              <a:t>only to understand its principle but also to implement. </a:t>
            </a:r>
          </a:p>
        </p:txBody>
      </p:sp>
      <p:pic>
        <p:nvPicPr>
          <p:cNvPr id="144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048000"/>
            <a:ext cx="4724400" cy="3621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545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763000" cy="5486400"/>
          </a:xfrm>
        </p:spPr>
        <p:txBody>
          <a:bodyPr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endParaRPr lang="en-US" sz="1400" b="1" dirty="0" smtClean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imread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('Auto2.jpg');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%figure,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im2= im2double(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subplot(2, 2, 1),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(im2); title('Iam2Double');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im3= rgb2gray(im2);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subplot(2, 2, 2),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(im3); title('Rgb2Gray');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im4=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imresize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(im3, [167 250]);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subplot(2, 2, 3),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(im4); title('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Rgb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-Resized');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im5=edge(im4,'canny',[],0.5); 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subplot(2, 2, 4),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(im5); title('Gamma = 0.5');</a:t>
            </a:r>
          </a:p>
          <a:p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suptitle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('Transforming Image to Find Edges');</a:t>
            </a:r>
          </a:p>
          <a:p>
            <a:endParaRPr lang="en-US" sz="1400" b="1" dirty="0" smtClean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b="1" dirty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9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Output Image - Transition</a:t>
            </a:r>
            <a:endParaRPr lang="en-US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47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12870"/>
            <a:ext cx="6553199" cy="523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623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Extracting Edges</a:t>
            </a:r>
            <a:endParaRPr lang="en-US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9144000" cy="5410200"/>
          </a:xfrm>
        </p:spPr>
        <p:txBody>
          <a:bodyPr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im1=medfilt2(im1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,[3 3]); 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 = edge(im1,'sobel'); 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imx,imy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]=size(BW);</a:t>
            </a:r>
          </a:p>
          <a:p>
            <a:pPr marL="0" indent="0">
              <a:buNone/>
            </a:pPr>
            <a:r>
              <a:rPr lang="nn-NO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msk=[0 0 0 0 0</a:t>
            </a:r>
            <a:r>
              <a:rPr lang="nn-NO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0 1 1 1 0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0 1 1 1 0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0 1 1 1 0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0 0 0 0 0;];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B=conv2(double(BW),double(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msk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)); 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bwlabel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(B,8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mx=max(max(L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r,c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] = find(L==17);  </a:t>
            </a:r>
          </a:p>
          <a:p>
            <a:pPr marL="0" indent="0">
              <a:buNone/>
            </a:pP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[r c];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sx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sy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]=size(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n1=zeros(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imx,imy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=1:sx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x1=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(i,1);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y1=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(i,2);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n1(x1,y1)=255;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end </a:t>
            </a:r>
            <a:endParaRPr lang="en-US" sz="1400" b="1" dirty="0" smtClean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  <a:endParaRPr lang="en-US" sz="1400" b="1" dirty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6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200400"/>
            <a:ext cx="7128164" cy="3173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857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Shape Extraction</a:t>
            </a:r>
            <a:endParaRPr lang="en-US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9220200" cy="5410200"/>
          </a:xfrm>
        </p:spPr>
        <p:txBody>
          <a:bodyPr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endParaRPr lang="en-US" sz="1400" b="1" dirty="0" smtClean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400" b="1" dirty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>
              <a:buNone/>
            </a:pP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I_eq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adapthisteq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I_eq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subplot(2, 2, 1),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I_eq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1400" b="1" dirty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im2bw(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I_eq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graythresh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I_eq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subplot(2, 2, 2),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endParaRPr lang="en-US" sz="1400" b="1" dirty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bw2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imfill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,'holes');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bw3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imopen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(bw2, ones(5,5));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bw4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bwareaopen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(bw3, 40);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bw4_perim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bwperim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(bw4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endParaRPr lang="en-US" sz="1400" b="1" dirty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2, 3),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(bw4_perim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1400" b="1" dirty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mask_em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imextendedmax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I_eq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30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subplot(2, 2, 4),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mask_em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1400" b="1" dirty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b="1" i="0" u="none" strike="noStrike" baseline="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marL="0" indent="0">
              <a:buNone/>
            </a:pPr>
            <a:endParaRPr lang="en-US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pic>
        <p:nvPicPr>
          <p:cNvPr id="148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884692"/>
            <a:ext cx="5801986" cy="4592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436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OutPut</a:t>
            </a:r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 Image - Comparison</a:t>
            </a:r>
            <a:endParaRPr lang="en-US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6200" y="1447800"/>
            <a:ext cx="9220200" cy="5410200"/>
          </a:xfrm>
        </p:spPr>
        <p:txBody>
          <a:bodyPr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</a:t>
            </a:r>
          </a:p>
          <a:p>
            <a:pPr marL="0" indent="0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mask_em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imclose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mask_em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ones(5,5));subplot(2, 2, 1),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mask_em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mask_em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imfill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mask_em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'holes');subplot(2, 2, 2),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mask_em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mask_em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bwareaopen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mask_em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40);subplot(2, 2, 3),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mask_em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endParaRPr lang="en-US" sz="1400" b="1" dirty="0" smtClean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</a:t>
            </a:r>
          </a:p>
          <a:p>
            <a:pPr marL="0" indent="0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I_eq_c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imcomplement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I_eq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subplot(2, 2, 4),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I_eq_c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I_mod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imimposemin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I_eq_c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~bw4 |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mask_em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subplot(1, 2, 1),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I_mod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)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 = watershed(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I_mod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subplot(1, 2, 2),</a:t>
            </a:r>
          </a:p>
          <a:p>
            <a:pPr marL="0" indent="0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(label2rgb(L))</a:t>
            </a:r>
          </a:p>
          <a:p>
            <a:pPr marL="0" indent="0">
              <a:buNone/>
            </a:pPr>
            <a:endParaRPr lang="en-US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pic>
        <p:nvPicPr>
          <p:cNvPr id="149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191000"/>
            <a:ext cx="6862763" cy="249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032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Texture Extraction</a:t>
            </a:r>
            <a:endParaRPr lang="en-US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I=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imread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('Auto2.jpg');</a:t>
            </a:r>
          </a:p>
          <a:p>
            <a:pPr marL="0" indent="0">
              <a:buNone/>
            </a:pP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hy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fspecial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('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sobel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');</a:t>
            </a:r>
          </a:p>
          <a:p>
            <a:pPr marL="0" indent="0">
              <a:buNone/>
            </a:pP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hx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hy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';</a:t>
            </a:r>
          </a:p>
          <a:p>
            <a:pPr marL="0" indent="0">
              <a:buNone/>
            </a:pP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Iy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imfilter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(double(I),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hy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'replicate');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Ix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imfilter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(double(I),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hx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'replicate');</a:t>
            </a:r>
          </a:p>
          <a:p>
            <a:pPr marL="0" indent="0">
              <a:buNone/>
            </a:pP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gradmag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sqrt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(Ix.^2 + Iy.^2);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gradmag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,[]),</a:t>
            </a:r>
            <a:endParaRPr lang="en-US" sz="1400" b="1" dirty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 = watershed(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gradmag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(L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1400" b="1" dirty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strel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('disk', 20);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imopen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(I, se);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(Io), title('Opening (Io)')</a:t>
            </a:r>
          </a:p>
          <a:p>
            <a:pPr marL="0" indent="0">
              <a:buNone/>
            </a:pP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Ie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imerode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(I, se);</a:t>
            </a:r>
          </a:p>
          <a:p>
            <a:pPr marL="0" indent="0">
              <a:buNone/>
            </a:pP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Iobr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imreconstruct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Ie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I);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Iobr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1400" b="1" dirty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053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124200"/>
            <a:ext cx="5553901" cy="2182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0878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Texture Extraction</a:t>
            </a:r>
            <a:endParaRPr lang="en-US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0" indent="0">
              <a:buNone/>
            </a:pPr>
            <a:endParaRPr lang="en-US" sz="1400" b="1" dirty="0" smtClean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Ioc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imclose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(Io, se);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Ioc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Iobrd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imdilate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Iobr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se);</a:t>
            </a:r>
          </a:p>
          <a:p>
            <a:pPr marL="0" indent="0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Iobrcbr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imreconstruct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imcomplement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Iobrd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imcomplement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Iobr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Iobrcbr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imcomplement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Iobrcbr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Iobrcbr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fgm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imregionalmax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Iobrcbr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I2 = I;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I2(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fgm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 = 255;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(I2)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se2 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strel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(ones(5,5));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fgm2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imclose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fgm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se2);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fgm3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imerode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(fgm2, se2);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fgm4 =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bwareaopen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(fgm3, 20);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I3 = I;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I3(fgm4) = 255;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(I3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pic>
        <p:nvPicPr>
          <p:cNvPr id="15155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524000"/>
            <a:ext cx="3333750" cy="511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221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Texture Extraction</a:t>
            </a:r>
            <a:endParaRPr lang="en-US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0" indent="0" algn="r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im2bw(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Iobrcbr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graythresh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Iobrcbr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 algn="r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algn="r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 =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bwdist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 algn="r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DL = watershed(D);</a:t>
            </a:r>
          </a:p>
          <a:p>
            <a:pPr marL="0" indent="0" algn="r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bgm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DL == 0;</a:t>
            </a:r>
          </a:p>
          <a:p>
            <a:pPr marL="0" indent="0" algn="r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bgm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algn="r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 = watershed(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gradmag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 algn="r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I4 = I;</a:t>
            </a:r>
          </a:p>
          <a:p>
            <a:pPr marL="0" indent="0" algn="r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(I4)</a:t>
            </a:r>
          </a:p>
          <a:p>
            <a:pPr marL="0" indent="0" algn="r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figure,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(L)</a:t>
            </a:r>
          </a:p>
          <a:p>
            <a:pPr marL="0" indent="0" algn="r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(I), hold on</a:t>
            </a:r>
          </a:p>
          <a:p>
            <a:pPr marL="0" indent="0" algn="r">
              <a:buNone/>
            </a:pP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himage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(L);</a:t>
            </a:r>
          </a:p>
          <a:p>
            <a:pPr marL="0" indent="0" algn="r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set(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himage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'</a:t>
            </a:r>
            <a:r>
              <a:rPr lang="en-US" sz="1400" b="1" dirty="0" err="1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AlphaData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', 0.3);</a:t>
            </a:r>
          </a:p>
        </p:txBody>
      </p:sp>
      <p:pic>
        <p:nvPicPr>
          <p:cNvPr id="15258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63" y="1898650"/>
            <a:ext cx="5886637" cy="465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765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b="1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Separate Image</a:t>
            </a:r>
            <a:endParaRPr lang="en-US" b="1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763000" cy="5257800"/>
          </a:xfrm>
        </p:spPr>
        <p:txBody>
          <a:bodyPr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0" indent="0">
              <a:buNone/>
            </a:pPr>
            <a:endParaRPr lang="en-US" sz="1400" b="1" dirty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a=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imread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('Auto2.jpg');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b1 = im2double(a);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 = rgb2gray(a);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b1=10*round(b/10);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figure,imhist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(b);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figure,imhist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(b1);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US" sz="1400" b="1" dirty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 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a2=255*((a&gt;=0)&amp;(a&lt;=14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2, 1),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(a2);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a3=255*((a&gt;=15)&amp;(a&lt;=15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2, 2),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(a3);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a4=255*((a&gt;=16)&amp;(a&lt;=99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2, 1),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(a4);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a5=255*((a&gt;=100)&amp;(a&lt;=149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2, 2),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(a5);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a6=255*((a&gt;=150)&amp;(a&lt;=220));subplot(2, 2, 3),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(a6);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a7=255*((a&gt;=221)&amp;(a&lt;=255));subplot(2, 2, 4),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(a7);</a:t>
            </a:r>
          </a:p>
          <a:p>
            <a:pPr marL="0" indent="0">
              <a:buNone/>
            </a:pPr>
            <a:endParaRPr lang="en-US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524000"/>
            <a:ext cx="5957047" cy="4534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737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b="1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Separate Image</a:t>
            </a:r>
            <a:endParaRPr lang="en-US" b="1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763000" cy="5257800"/>
          </a:xfrm>
        </p:spPr>
        <p:txBody>
          <a:bodyPr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figure,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b2=255*((b&gt;=0)&amp;(b&lt;=14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2, 1),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(b2);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b3=255*((b&gt;=15)&amp;(b&lt;=15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2, 2),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(b3);</a:t>
            </a:r>
          </a:p>
          <a:p>
            <a:pPr marL="0" indent="0">
              <a:buNone/>
            </a:pPr>
            <a:endParaRPr lang="en-US" sz="1400" b="1" dirty="0" smtClean="0">
              <a:ln w="50800"/>
              <a:solidFill>
                <a:schemeClr val="bg1">
                  <a:shade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b4=255*((b&gt;=16)&amp;(b&lt;=99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2, 1),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(b4);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b5=255*((b&gt;=100)&amp;(b&lt;=149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2, 2),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(b5);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b6=255*((b&gt;=150)&amp;(b&lt;=220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2, 3), 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(b6);</a:t>
            </a:r>
          </a:p>
          <a:p>
            <a:pPr marL="0" indent="0">
              <a:buNone/>
            </a:pP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b7=255*((b&gt;=221)&amp;(b&lt;=255</a:t>
            </a: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subplot(2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2, 4),</a:t>
            </a:r>
            <a:r>
              <a:rPr lang="en-US" sz="1400" b="1" dirty="0" err="1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(b7);</a:t>
            </a:r>
          </a:p>
          <a:p>
            <a:pPr marL="0" indent="0">
              <a:buNone/>
            </a:pPr>
            <a:endParaRPr lang="en-US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633290"/>
            <a:ext cx="6278563" cy="4767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308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4400" b="1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Background Extracted</a:t>
            </a:r>
            <a:endParaRPr lang="en-US" sz="4400" b="1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286000"/>
            <a:ext cx="5486400" cy="413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289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ubway scene design template">
  <a:themeElements>
    <a:clrScheme name="Default Design 1">
      <a:dk1>
        <a:srgbClr val="220011"/>
      </a:dk1>
      <a:lt1>
        <a:srgbClr val="FFFFFF"/>
      </a:lt1>
      <a:dk2>
        <a:srgbClr val="000000"/>
      </a:dk2>
      <a:lt2>
        <a:srgbClr val="FFFFFF"/>
      </a:lt2>
      <a:accent1>
        <a:srgbClr val="003399"/>
      </a:accent1>
      <a:accent2>
        <a:srgbClr val="C0C0C0"/>
      </a:accent2>
      <a:accent3>
        <a:srgbClr val="AAAAAA"/>
      </a:accent3>
      <a:accent4>
        <a:srgbClr val="DADADA"/>
      </a:accent4>
      <a:accent5>
        <a:srgbClr val="AAADCA"/>
      </a:accent5>
      <a:accent6>
        <a:srgbClr val="AEAEAE"/>
      </a:accent6>
      <a:hlink>
        <a:srgbClr val="6600CC"/>
      </a:hlink>
      <a:folHlink>
        <a:srgbClr val="66CC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220011"/>
        </a:dk1>
        <a:lt1>
          <a:srgbClr val="FFFFFF"/>
        </a:lt1>
        <a:dk2>
          <a:srgbClr val="000000"/>
        </a:dk2>
        <a:lt2>
          <a:srgbClr val="FFFFFF"/>
        </a:lt2>
        <a:accent1>
          <a:srgbClr val="003399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AEAEAE"/>
        </a:accent6>
        <a:hlink>
          <a:srgbClr val="6600CC"/>
        </a:hlink>
        <a:folHlink>
          <a:srgbClr val="66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Subway scene design template</Template>
  <TotalTime>200</TotalTime>
  <Words>907</Words>
  <Application>Microsoft Office PowerPoint</Application>
  <PresentationFormat>On-screen Show (4:3)</PresentationFormat>
  <Paragraphs>171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Times New Roman</vt:lpstr>
      <vt:lpstr>Arial</vt:lpstr>
      <vt:lpstr>Wingdings</vt:lpstr>
      <vt:lpstr>Subway scene design template</vt:lpstr>
      <vt:lpstr>CAR SEGMENTATION</vt:lpstr>
      <vt:lpstr>First Steps</vt:lpstr>
      <vt:lpstr>Edge Detection</vt:lpstr>
      <vt:lpstr>Method:</vt:lpstr>
      <vt:lpstr>Output Image - Transition</vt:lpstr>
      <vt:lpstr>Extracting Edges</vt:lpstr>
      <vt:lpstr>Shape Extraction</vt:lpstr>
      <vt:lpstr>OutPut Image - Comparison</vt:lpstr>
      <vt:lpstr>Texture Extraction</vt:lpstr>
      <vt:lpstr>Texture Extraction</vt:lpstr>
      <vt:lpstr>Texture Extraction</vt:lpstr>
      <vt:lpstr>Separate Image</vt:lpstr>
      <vt:lpstr>Separate Image</vt:lpstr>
      <vt:lpstr>Background Extracted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SEGMENTATION</dc:title>
  <dc:creator>Puchito</dc:creator>
  <cp:lastModifiedBy>Puchito</cp:lastModifiedBy>
  <cp:revision>14</cp:revision>
  <dcterms:created xsi:type="dcterms:W3CDTF">2012-10-15T20:15:53Z</dcterms:created>
  <dcterms:modified xsi:type="dcterms:W3CDTF">2012-10-15T23:36:21Z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TC011408391033</vt:lpwstr>
  </property>
</Properties>
</file>