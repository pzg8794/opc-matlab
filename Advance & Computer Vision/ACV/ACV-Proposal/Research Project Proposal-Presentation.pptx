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8B244D3-AD0A-4548-9C48-D4F42711EDC1}">
  <a:tblStyle styleId="{38B244D3-AD0A-4548-9C48-D4F42711EDC1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746778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0" y="1600200"/>
            <a:ext cx="9144000" cy="36576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grpSp>
        <p:nvGrpSpPr>
          <p:cNvPr id="9" name="Shape 9"/>
          <p:cNvGrpSpPr/>
          <p:nvPr/>
        </p:nvGrpSpPr>
        <p:grpSpPr>
          <a:xfrm>
            <a:off x="0" y="-1438"/>
            <a:ext cx="1827407" cy="6859503"/>
            <a:chOff x="0" y="-1438"/>
            <a:chExt cx="798029" cy="6859503"/>
          </a:xfrm>
        </p:grpSpPr>
        <p:sp>
          <p:nvSpPr>
            <p:cNvPr id="10" name="Shape 10"/>
            <p:cNvSpPr/>
            <p:nvPr/>
          </p:nvSpPr>
          <p:spPr>
            <a:xfrm>
              <a:off x="0" y="-1438"/>
              <a:ext cx="798029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0"/>
              <a:ext cx="399014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grpSp>
        <p:nvGrpSpPr>
          <p:cNvPr id="12" name="Shape 12"/>
          <p:cNvGrpSpPr/>
          <p:nvPr/>
        </p:nvGrpSpPr>
        <p:grpSpPr>
          <a:xfrm flipH="1">
            <a:off x="7316591" y="0"/>
            <a:ext cx="1827407" cy="6859503"/>
            <a:chOff x="0" y="-1438"/>
            <a:chExt cx="798029" cy="6859503"/>
          </a:xfrm>
        </p:grpSpPr>
        <p:sp>
          <p:nvSpPr>
            <p:cNvPr id="13" name="Shape 13"/>
            <p:cNvSpPr/>
            <p:nvPr/>
          </p:nvSpPr>
          <p:spPr>
            <a:xfrm>
              <a:off x="0" y="-1438"/>
              <a:ext cx="798029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0" y="0"/>
              <a:ext cx="399014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685800" y="2090913"/>
            <a:ext cx="7772400" cy="165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indent="3048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48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685800" y="3886200"/>
            <a:ext cx="7772400" cy="878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2400" b="0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-1438"/>
            <a:ext cx="9144000" cy="15254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grpSp>
        <p:nvGrpSpPr>
          <p:cNvPr id="19" name="Shape 19"/>
          <p:cNvGrpSpPr/>
          <p:nvPr/>
        </p:nvGrpSpPr>
        <p:grpSpPr>
          <a:xfrm>
            <a:off x="0" y="-1438"/>
            <a:ext cx="649180" cy="6859503"/>
            <a:chOff x="0" y="-1438"/>
            <a:chExt cx="649180" cy="6859503"/>
          </a:xfrm>
        </p:grpSpPr>
        <p:sp>
          <p:nvSpPr>
            <p:cNvPr id="20" name="Shape 20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21" name="Shape 21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grpSp>
        <p:nvGrpSpPr>
          <p:cNvPr id="22" name="Shape 22"/>
          <p:cNvGrpSpPr/>
          <p:nvPr/>
        </p:nvGrpSpPr>
        <p:grpSpPr>
          <a:xfrm flipH="1">
            <a:off x="8494493" y="0"/>
            <a:ext cx="649180" cy="6859503"/>
            <a:chOff x="0" y="-1438"/>
            <a:chExt cx="649180" cy="6859503"/>
          </a:xfrm>
        </p:grpSpPr>
        <p:sp>
          <p:nvSpPr>
            <p:cNvPr id="23" name="Shape 23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24" name="Shape 24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25" name="Shape 25"/>
          <p:cNvSpPr/>
          <p:nvPr/>
        </p:nvSpPr>
        <p:spPr>
          <a:xfrm>
            <a:off x="0" y="6324600"/>
            <a:ext cx="9144000" cy="5348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-1438"/>
            <a:ext cx="9144000" cy="15254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grpSp>
        <p:nvGrpSpPr>
          <p:cNvPr id="30" name="Shape 30"/>
          <p:cNvGrpSpPr/>
          <p:nvPr/>
        </p:nvGrpSpPr>
        <p:grpSpPr>
          <a:xfrm>
            <a:off x="0" y="-1438"/>
            <a:ext cx="649180" cy="6859503"/>
            <a:chOff x="0" y="-1438"/>
            <a:chExt cx="649180" cy="6859503"/>
          </a:xfrm>
        </p:grpSpPr>
        <p:sp>
          <p:nvSpPr>
            <p:cNvPr id="31" name="Shape 31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grpSp>
        <p:nvGrpSpPr>
          <p:cNvPr id="33" name="Shape 33"/>
          <p:cNvGrpSpPr/>
          <p:nvPr/>
        </p:nvGrpSpPr>
        <p:grpSpPr>
          <a:xfrm flipH="1">
            <a:off x="8494493" y="0"/>
            <a:ext cx="649180" cy="6859503"/>
            <a:chOff x="0" y="-1438"/>
            <a:chExt cx="649180" cy="6859503"/>
          </a:xfrm>
        </p:grpSpPr>
        <p:sp>
          <p:nvSpPr>
            <p:cNvPr id="34" name="Shape 34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36" name="Shape 36"/>
          <p:cNvSpPr/>
          <p:nvPr/>
        </p:nvSpPr>
        <p:spPr>
          <a:xfrm>
            <a:off x="0" y="6324600"/>
            <a:ext cx="9144000" cy="5348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-1438"/>
            <a:ext cx="9144000" cy="15254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0" y="-1438"/>
            <a:ext cx="649180" cy="6859503"/>
            <a:chOff x="0" y="-1438"/>
            <a:chExt cx="649180" cy="6859503"/>
          </a:xfrm>
        </p:grpSpPr>
        <p:sp>
          <p:nvSpPr>
            <p:cNvPr id="43" name="Shape 43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grpSp>
        <p:nvGrpSpPr>
          <p:cNvPr id="45" name="Shape 45"/>
          <p:cNvGrpSpPr/>
          <p:nvPr/>
        </p:nvGrpSpPr>
        <p:grpSpPr>
          <a:xfrm flipH="1">
            <a:off x="8494493" y="0"/>
            <a:ext cx="649180" cy="6859503"/>
            <a:chOff x="0" y="-1438"/>
            <a:chExt cx="649180" cy="6859503"/>
          </a:xfrm>
        </p:grpSpPr>
        <p:sp>
          <p:nvSpPr>
            <p:cNvPr id="46" name="Shape 46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47" name="Shape 47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48" name="Shape 48"/>
          <p:cNvSpPr/>
          <p:nvPr/>
        </p:nvSpPr>
        <p:spPr>
          <a:xfrm>
            <a:off x="0" y="6324600"/>
            <a:ext cx="9144000" cy="5348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0" y="-1438"/>
            <a:ext cx="9144000" cy="15254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grpSp>
        <p:nvGrpSpPr>
          <p:cNvPr id="52" name="Shape 52"/>
          <p:cNvGrpSpPr/>
          <p:nvPr/>
        </p:nvGrpSpPr>
        <p:grpSpPr>
          <a:xfrm>
            <a:off x="0" y="-1438"/>
            <a:ext cx="649180" cy="6859503"/>
            <a:chOff x="0" y="-1438"/>
            <a:chExt cx="649180" cy="6859503"/>
          </a:xfrm>
        </p:grpSpPr>
        <p:sp>
          <p:nvSpPr>
            <p:cNvPr id="53" name="Shape 53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54" name="Shape 54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grpSp>
        <p:nvGrpSpPr>
          <p:cNvPr id="55" name="Shape 55"/>
          <p:cNvGrpSpPr/>
          <p:nvPr/>
        </p:nvGrpSpPr>
        <p:grpSpPr>
          <a:xfrm flipH="1">
            <a:off x="8494493" y="0"/>
            <a:ext cx="649180" cy="6859503"/>
            <a:chOff x="0" y="-1438"/>
            <a:chExt cx="649180" cy="6859503"/>
          </a:xfrm>
        </p:grpSpPr>
        <p:sp>
          <p:nvSpPr>
            <p:cNvPr id="56" name="Shape 56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58" name="Shape 58"/>
          <p:cNvSpPr/>
          <p:nvPr/>
        </p:nvSpPr>
        <p:spPr>
          <a:xfrm>
            <a:off x="0" y="6324600"/>
            <a:ext cx="9144000" cy="5348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>
                <a:solidFill>
                  <a:schemeClr val="lt2"/>
                </a:solidFill>
              </a:defRPr>
            </a:lvl1pPr>
            <a:lvl2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>
                <a:solidFill>
                  <a:schemeClr val="lt2"/>
                </a:solidFill>
              </a:defRPr>
            </a:lvl2pPr>
            <a:lvl3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>
                <a:solidFill>
                  <a:schemeClr val="lt2"/>
                </a:solidFill>
              </a:defRPr>
            </a:lvl3pPr>
            <a:lvl4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>
                <a:solidFill>
                  <a:schemeClr val="lt2"/>
                </a:solidFill>
              </a:defRPr>
            </a:lvl4pPr>
            <a:lvl5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>
                <a:solidFill>
                  <a:schemeClr val="lt2"/>
                </a:solidFill>
              </a:defRPr>
            </a:lvl5pPr>
            <a:lvl6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>
                <a:solidFill>
                  <a:schemeClr val="lt2"/>
                </a:solidFill>
              </a:defRPr>
            </a:lvl6pPr>
            <a:lvl7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>
                <a:solidFill>
                  <a:schemeClr val="lt2"/>
                </a:solidFill>
              </a:defRPr>
            </a:lvl7pPr>
            <a:lvl8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>
                <a:solidFill>
                  <a:schemeClr val="lt2"/>
                </a:solidFill>
              </a:defRPr>
            </a:lvl8pPr>
            <a:lvl9pPr marL="28575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/>
        </p:nvSpPr>
        <p:spPr>
          <a:xfrm>
            <a:off x="0" y="-1438"/>
            <a:ext cx="9144000" cy="15254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grpSp>
        <p:nvGrpSpPr>
          <p:cNvPr id="62" name="Shape 62"/>
          <p:cNvGrpSpPr/>
          <p:nvPr/>
        </p:nvGrpSpPr>
        <p:grpSpPr>
          <a:xfrm>
            <a:off x="0" y="-1438"/>
            <a:ext cx="649180" cy="6859503"/>
            <a:chOff x="0" y="-1438"/>
            <a:chExt cx="649180" cy="6859503"/>
          </a:xfrm>
        </p:grpSpPr>
        <p:sp>
          <p:nvSpPr>
            <p:cNvPr id="63" name="Shape 63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grpSp>
        <p:nvGrpSpPr>
          <p:cNvPr id="65" name="Shape 65"/>
          <p:cNvGrpSpPr/>
          <p:nvPr/>
        </p:nvGrpSpPr>
        <p:grpSpPr>
          <a:xfrm flipH="1">
            <a:off x="8494493" y="0"/>
            <a:ext cx="649180" cy="6859503"/>
            <a:chOff x="0" y="-1438"/>
            <a:chExt cx="649180" cy="6859503"/>
          </a:xfrm>
        </p:grpSpPr>
        <p:sp>
          <p:nvSpPr>
            <p:cNvPr id="66" name="Shape 66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68" name="Shape 68"/>
          <p:cNvSpPr/>
          <p:nvPr/>
        </p:nvSpPr>
        <p:spPr>
          <a:xfrm>
            <a:off x="0" y="6324600"/>
            <a:ext cx="9144000" cy="5348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indent="228600" algn="l" rt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 i="0" u="none" strike="noStrike" cap="none" baseline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spcBef>
                <a:spcPts val="600"/>
              </a:spcBef>
              <a:buClr>
                <a:schemeClr val="lt1"/>
              </a:buClr>
              <a:buSzPct val="166666"/>
              <a:buFont typeface="Arial"/>
              <a:buChar char="•"/>
              <a:defRPr sz="30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742950" indent="-285750" algn="l" rtl="0">
              <a:spcBef>
                <a:spcPts val="480"/>
              </a:spcBef>
              <a:buClr>
                <a:schemeClr val="lt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143000" indent="-228600" algn="l" rtl="0">
              <a:spcBef>
                <a:spcPts val="480"/>
              </a:spcBef>
              <a:buClr>
                <a:schemeClr val="lt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600200" indent="-228600" algn="l" rtl="0">
              <a:spcBef>
                <a:spcPts val="360"/>
              </a:spcBef>
              <a:buClr>
                <a:schemeClr val="lt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057400" indent="-228600" algn="l" rtl="0">
              <a:spcBef>
                <a:spcPts val="360"/>
              </a:spcBef>
              <a:buClr>
                <a:schemeClr val="lt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514600" indent="-228600" algn="l" rtl="0">
              <a:spcBef>
                <a:spcPts val="360"/>
              </a:spcBef>
              <a:buClr>
                <a:schemeClr val="lt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2971800" indent="-228600" algn="l" rtl="0">
              <a:spcBef>
                <a:spcPts val="360"/>
              </a:spcBef>
              <a:buClr>
                <a:schemeClr val="lt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429000" indent="-228600" algn="l" rtl="0">
              <a:spcBef>
                <a:spcPts val="360"/>
              </a:spcBef>
              <a:buClr>
                <a:schemeClr val="lt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3886200" indent="-228600" algn="l" rtl="0">
              <a:spcBef>
                <a:spcPts val="360"/>
              </a:spcBef>
              <a:buClr>
                <a:schemeClr val="lt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ctrTitle"/>
          </p:nvPr>
        </p:nvSpPr>
        <p:spPr>
          <a:xfrm>
            <a:off x="685800" y="2090913"/>
            <a:ext cx="7772400" cy="1650599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Scene Classification</a:t>
            </a:r>
          </a:p>
        </p:txBody>
      </p:sp>
      <p:sp>
        <p:nvSpPr>
          <p:cNvPr id="71" name="Shape 71"/>
          <p:cNvSpPr txBox="1">
            <a:spLocks noGrp="1"/>
          </p:cNvSpPr>
          <p:nvPr>
            <p:ph type="subTitle" idx="1"/>
          </p:nvPr>
        </p:nvSpPr>
        <p:spPr>
          <a:xfrm>
            <a:off x="685800" y="3810000"/>
            <a:ext cx="7772400" cy="8780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 sz="3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Proposal Presentation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1679200" y="5683250"/>
            <a:ext cx="5556600" cy="8574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 sz="1800" b="1" i="1" dirty="0">
                <a:latin typeface="Times New Roman"/>
                <a:ea typeface="Times New Roman"/>
                <a:cs typeface="Times New Roman"/>
                <a:sym typeface="Times New Roman"/>
              </a:rPr>
              <a:t>Authors:</a:t>
            </a:r>
          </a:p>
          <a:p>
            <a:pPr algn="ctr">
              <a:buNone/>
            </a:pPr>
            <a:r>
              <a:rPr lang="e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Piter Garcia        Karina Damico      Pauline Martial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4572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Outline</a:t>
            </a:r>
          </a:p>
        </p:txBody>
      </p:sp>
      <p:sp>
        <p:nvSpPr>
          <p:cNvPr id="78" name="Shape 78"/>
          <p:cNvSpPr txBox="1"/>
          <p:nvPr/>
        </p:nvSpPr>
        <p:spPr>
          <a:xfrm>
            <a:off x="1832450" y="1960150"/>
            <a:ext cx="5183400" cy="41528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1. Introduction</a:t>
            </a:r>
          </a:p>
          <a:p>
            <a:pPr lvl="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2. Timeline</a:t>
            </a:r>
          </a:p>
          <a:p>
            <a:pPr lvl="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3. Results expected</a:t>
            </a:r>
          </a:p>
          <a:p>
            <a:pPr lvl="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4. Descriptors chosen</a:t>
            </a:r>
          </a:p>
          <a:p>
            <a:pPr lvl="0" indent="45720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4.a. GABOR</a:t>
            </a:r>
          </a:p>
          <a:p>
            <a:pPr lvl="0" indent="45720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4.b. CENTRIST </a:t>
            </a:r>
          </a:p>
          <a:p>
            <a:pPr lvl="0" indent="45720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4.c. Color Histogram </a:t>
            </a:r>
          </a:p>
          <a:p>
            <a:pPr lvl="0" rt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>
                <a:latin typeface="Georgia"/>
                <a:ea typeface="Georgia"/>
                <a:cs typeface="Georgia"/>
                <a:sym typeface="Georgia"/>
              </a:rPr>
              <a:t>5. Classifier </a:t>
            </a:r>
          </a:p>
          <a:p>
            <a:endParaRPr lang="en"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Shape 79"/>
          <p:cNvSpPr/>
          <p:nvPr/>
        </p:nvSpPr>
        <p:spPr>
          <a:xfrm flipH="1">
            <a:off x="1520636" y="2233894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0" name="Shape 80"/>
          <p:cNvSpPr/>
          <p:nvPr/>
        </p:nvSpPr>
        <p:spPr>
          <a:xfrm flipH="1">
            <a:off x="1520636" y="2683994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1" name="Shape 81"/>
          <p:cNvSpPr/>
          <p:nvPr/>
        </p:nvSpPr>
        <p:spPr>
          <a:xfrm flipH="1">
            <a:off x="1520636" y="5248069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2" name="Shape 82"/>
          <p:cNvSpPr/>
          <p:nvPr/>
        </p:nvSpPr>
        <p:spPr>
          <a:xfrm flipH="1">
            <a:off x="1520636" y="3106519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3" name="Shape 83"/>
          <p:cNvSpPr/>
          <p:nvPr/>
        </p:nvSpPr>
        <p:spPr>
          <a:xfrm flipH="1">
            <a:off x="1520636" y="3477244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4572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Introduction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703312" y="1862718"/>
            <a:ext cx="7754100" cy="43934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Scene classification VS. object recognition</a:t>
            </a:r>
          </a:p>
          <a:p>
            <a:endParaRPr lang="en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results: Multiple feature sets extracted.</a:t>
            </a:r>
          </a:p>
          <a:p>
            <a:endParaRPr lang="en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Separate analysis.</a:t>
            </a:r>
          </a:p>
          <a:p>
            <a:pPr lvl="0" rt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Features combined.</a:t>
            </a:r>
          </a:p>
          <a:p>
            <a:endParaRPr lang="en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xfrm>
            <a:off x="377900" y="695329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Timeline</a:t>
            </a:r>
          </a:p>
        </p:txBody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
</a:t>
            </a:r>
          </a:p>
          <a:p>
            <a:endParaRPr lang="en"/>
          </a:p>
        </p:txBody>
      </p:sp>
      <p:graphicFrame>
        <p:nvGraphicFramePr>
          <p:cNvPr id="96" name="Shape 96"/>
          <p:cNvGraphicFramePr/>
          <p:nvPr/>
        </p:nvGraphicFramePr>
        <p:xfrm>
          <a:off x="518550" y="1608900"/>
          <a:ext cx="8077750" cy="4682300"/>
        </p:xfrm>
        <a:graphic>
          <a:graphicData uri="http://schemas.openxmlformats.org/drawingml/2006/table">
            <a:tbl>
              <a:tblPr>
                <a:noFill/>
                <a:tableStyleId>{38B244D3-AD0A-4548-9C48-D4F42711EDC1}</a:tableStyleId>
              </a:tblPr>
              <a:tblGrid>
                <a:gridCol w="782275"/>
                <a:gridCol w="2072700"/>
                <a:gridCol w="5222775"/>
              </a:tblGrid>
              <a:tr h="499925"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</a:p>
                    <a:p>
                      <a:endParaRPr lang="en"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Updates</a:t>
                      </a: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425"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01/15</a:t>
                      </a:r>
                    </a:p>
                    <a:p>
                      <a:endParaRPr lang="en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Update  Report</a:t>
                      </a: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 of 3 descriptors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Gabor: selection of optimal parameters, testing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Centrist: calculation of CT values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Color Histogram descriptor.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dataset selection.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325"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01/22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 Update Report</a:t>
                      </a: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results of 3 descriptors without particular improvements.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Gabor: formation of the Gabor filter bank,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Centrist: calculation of centrist values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Color Histogram descriptor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9825"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01/29</a:t>
                      </a:r>
                    </a:p>
                    <a:p>
                      <a:endParaRPr lang="en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THIRD Update Report</a:t>
                      </a: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endParaRPr lang="en"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results of 3 descriptors with improvements: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Gabor: feature vector formation,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Centrist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Color Histogram descriptor.</a:t>
                      </a:r>
                    </a:p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Neural Network classifier implementation. Result examination of three approaches individually.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775"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02/05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FOURTH Update Report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- combined feature vector of three descriptors. Result examination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025"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02/12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Report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rtl="0">
                        <a:lnSpc>
                          <a:spcPct val="115000"/>
                        </a:lnSpc>
                        <a:buNone/>
                      </a:pPr>
                      <a:r>
                        <a:rPr lang="en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Comparison of approaches. Conclusion.</a:t>
                      </a:r>
                    </a:p>
                  </a:txBody>
                  <a:tcPr marL="28575" marR="28575" marT="28575" marB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title"/>
          </p:nvPr>
        </p:nvSpPr>
        <p:spPr>
          <a:xfrm>
            <a:off x="3810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Expected results</a:t>
            </a:r>
          </a:p>
        </p:txBody>
      </p:sp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468399" cy="4647396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Achieve:</a:t>
            </a: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Scene and Category development with each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descriptor:</a:t>
            </a:r>
          </a:p>
          <a:p>
            <a:pPr lvl="0" algn="just" rtl="0"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Gabor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Centrist, and Color Histogram .</a:t>
            </a:r>
          </a:p>
          <a:p>
            <a:endParaRPr lang="en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Improve:</a:t>
            </a: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Scene and Category development with a hybrid method </a:t>
            </a:r>
            <a:endParaRPr lang="en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combining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descriptors for a better image categorization.</a:t>
            </a:r>
          </a:p>
          <a:p>
            <a:endParaRPr lang="en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Obtain:</a:t>
            </a: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accuracy in image categorization with a hybrid method. </a:t>
            </a:r>
            <a:endParaRPr lang="en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than any of the descriptors accuracy used to combine.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666900" y="1743900"/>
            <a:ext cx="8096100" cy="5635359"/>
          </a:xfrm>
          <a:prstGeom prst="rect">
            <a:avLst/>
          </a:prstGeom>
        </p:spPr>
        <p:txBody>
          <a:bodyPr wrap="square" lIns="91425" tIns="91425" rIns="91425" bIns="91425" anchor="t" anchorCtr="0">
            <a:spAutoFit/>
          </a:bodyPr>
          <a:lstStyle/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Gabor filters possess localization properties in both spatial and frequency domain. </a:t>
            </a:r>
            <a:endParaRPr lang="en" sz="2400" dirty="0" smtClean="0">
              <a:solidFill>
                <a:srgbClr val="000000"/>
              </a:solidFill>
              <a:latin typeface="Times New Roman" pitchFamily="18" charset="0"/>
              <a:ea typeface="Georgia"/>
              <a:cs typeface="Times New Roman" pitchFamily="18" charset="0"/>
              <a:sym typeface="Georgia"/>
            </a:endParaRP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endParaRPr lang="en" sz="800" dirty="0">
              <a:solidFill>
                <a:srgbClr val="000000"/>
              </a:solidFill>
              <a:latin typeface="Times New Roman" pitchFamily="18" charset="0"/>
              <a:ea typeface="Georgia"/>
              <a:cs typeface="Times New Roman" pitchFamily="18" charset="0"/>
              <a:sym typeface="Georgia"/>
            </a:endParaRP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Frequency </a:t>
            </a:r>
            <a:r>
              <a:rPr lang="en" sz="2400" dirty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and orientation representations of Gabor filters are similar to those of the human visual </a:t>
            </a:r>
            <a:r>
              <a:rPr lang="en" sz="2400" dirty="0" smtClean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system</a:t>
            </a: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endParaRPr lang="en" sz="800" dirty="0">
              <a:solidFill>
                <a:srgbClr val="000000"/>
              </a:solidFill>
              <a:latin typeface="Times New Roman" pitchFamily="18" charset="0"/>
              <a:ea typeface="Georgia"/>
              <a:cs typeface="Times New Roman" pitchFamily="18" charset="0"/>
              <a:sym typeface="Georgia"/>
            </a:endParaRP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In </a:t>
            </a:r>
            <a:r>
              <a:rPr lang="en" sz="2400" dirty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the spatial domain, a 2D Gabor filter is a Gaussian kernel function modulated by a sinusoidal plane wave</a:t>
            </a:r>
            <a:r>
              <a:rPr lang="en" sz="2400" dirty="0" smtClean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.</a:t>
            </a: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endParaRPr lang="en" sz="800" dirty="0">
              <a:solidFill>
                <a:srgbClr val="000000"/>
              </a:solidFill>
              <a:latin typeface="Times New Roman" pitchFamily="18" charset="0"/>
              <a:ea typeface="Georgia"/>
              <a:cs typeface="Times New Roman" pitchFamily="18" charset="0"/>
              <a:sym typeface="Georgia"/>
            </a:endParaRP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Texture </a:t>
            </a:r>
            <a:r>
              <a:rPr lang="en" sz="2400" dirty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as a feature (texture can be considered to be repeating patterns of local variation of pixel intensities</a:t>
            </a:r>
            <a:r>
              <a:rPr lang="en" sz="2400" dirty="0" smtClean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.)</a:t>
            </a: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endParaRPr lang="en" sz="800" dirty="0">
              <a:solidFill>
                <a:srgbClr val="000000"/>
              </a:solidFill>
              <a:latin typeface="Times New Roman" pitchFamily="18" charset="0"/>
              <a:ea typeface="Georgia"/>
              <a:cs typeface="Times New Roman" pitchFamily="18" charset="0"/>
              <a:sym typeface="Georgia"/>
            </a:endParaRPr>
          </a:p>
          <a:p>
            <a:pPr lvl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 pitchFamily="18" charset="0"/>
                <a:ea typeface="Georgia"/>
                <a:cs typeface="Times New Roman" pitchFamily="18" charset="0"/>
                <a:sym typeface="Georgia"/>
              </a:rPr>
              <a:t>Gabor filter = texture descriptor</a:t>
            </a:r>
          </a:p>
          <a:p>
            <a:endParaRPr lang="en" sz="18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endParaRPr lang="en" sz="18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endParaRPr lang="en" sz="18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457200" y="6349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Gabor descriptor</a:t>
            </a:r>
          </a:p>
        </p:txBody>
      </p:sp>
      <p:sp>
        <p:nvSpPr>
          <p:cNvPr id="109" name="Shape 109"/>
          <p:cNvSpPr/>
          <p:nvPr/>
        </p:nvSpPr>
        <p:spPr>
          <a:xfrm flipH="1">
            <a:off x="495600" y="59058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0" name="Shape 110"/>
          <p:cNvSpPr/>
          <p:nvPr/>
        </p:nvSpPr>
        <p:spPr>
          <a:xfrm flipH="1">
            <a:off x="495600" y="49152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1" name="Shape 111"/>
          <p:cNvSpPr/>
          <p:nvPr/>
        </p:nvSpPr>
        <p:spPr>
          <a:xfrm flipH="1">
            <a:off x="495600" y="39246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2" name="Shape 112"/>
          <p:cNvSpPr/>
          <p:nvPr/>
        </p:nvSpPr>
        <p:spPr>
          <a:xfrm flipH="1">
            <a:off x="495600" y="28956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3" name="Shape 113"/>
          <p:cNvSpPr/>
          <p:nvPr/>
        </p:nvSpPr>
        <p:spPr>
          <a:xfrm flipH="1">
            <a:off x="495600" y="19050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4572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Gabor descriptor</a:t>
            </a:r>
          </a:p>
        </p:txBody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  <p:sp>
        <p:nvSpPr>
          <p:cNvPr id="120" name="Shape 120"/>
          <p:cNvSpPr txBox="1"/>
          <p:nvPr/>
        </p:nvSpPr>
        <p:spPr>
          <a:xfrm>
            <a:off x="533400" y="1688624"/>
            <a:ext cx="8077200" cy="4265753"/>
          </a:xfrm>
          <a:prstGeom prst="rect">
            <a:avLst/>
          </a:prstGeom>
        </p:spPr>
        <p:txBody>
          <a:bodyPr wrap="square" lIns="91425" tIns="91425" rIns="91425" bIns="91425" anchor="ctr" anchorCtr="0">
            <a:spAutoFit/>
          </a:bodyPr>
          <a:lstStyle/>
          <a:p>
            <a:pPr lvl="0" indent="457200" algn="just" rtl="0">
              <a:lnSpc>
                <a:spcPct val="115000"/>
              </a:lnSpc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Feature extraction using Gabor filters consist of the following steps:</a:t>
            </a:r>
          </a:p>
          <a:p>
            <a:endParaRPr lang="e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457200" algn="just" rtl="0">
              <a:lnSpc>
                <a:spcPct val="115000"/>
              </a:lnSpc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configuring Gabor filters in the spatio-frequency domain</a:t>
            </a: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 - choosing optimal filter parameters (orientation, phase offset, aspect ration, number of directions)</a:t>
            </a:r>
          </a:p>
          <a:p>
            <a:endParaRPr lang="e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457200" algn="just" rtl="0">
              <a:lnSpc>
                <a:spcPct val="115000"/>
              </a:lnSpc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combining Gabor filter bank</a:t>
            </a: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 that will be applied on images to form feature vectors</a:t>
            </a:r>
          </a:p>
          <a:p>
            <a:endParaRPr lang="en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4572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Centrist Visual Descriptor</a:t>
            </a:r>
          </a:p>
        </p:txBody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>
                <a:solidFill>
                  <a:srgbClr val="000000"/>
                </a:solidFill>
              </a:rPr>
              <a:t>- Calculate CT values by comparing neighborhood,</a:t>
            </a:r>
          </a:p>
          <a:p>
            <a:pPr lvl="0" rtl="0">
              <a:buNone/>
            </a:pPr>
            <a:r>
              <a:rPr lang="en">
                <a:solidFill>
                  <a:srgbClr val="000000"/>
                </a:solidFill>
              </a:rPr>
              <a:t>- Generate histogram = CENTRIST</a:t>
            </a:r>
          </a:p>
          <a:p>
            <a:endParaRPr lang="en">
              <a:solidFill>
                <a:srgbClr val="000000"/>
              </a:solidFill>
            </a:endParaRPr>
          </a:p>
          <a:p>
            <a:endParaRPr lang="en">
              <a:solidFill>
                <a:srgbClr val="000000"/>
              </a:solidFill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41400" y="3819050"/>
            <a:ext cx="7604648" cy="133146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4572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Centrist Visual Descriptor</a:t>
            </a:r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>
                <a:solidFill>
                  <a:srgbClr val="000000"/>
                </a:solidFill>
              </a:rPr>
              <a:t>Very good results! </a:t>
            </a:r>
          </a:p>
          <a:p>
            <a:endParaRPr lang="en">
              <a:solidFill>
                <a:srgbClr val="000000"/>
              </a:solidFill>
            </a:endParaRPr>
          </a:p>
          <a:p>
            <a:pPr lvl="0" rtl="0">
              <a:buNone/>
            </a:pPr>
            <a:r>
              <a:rPr lang="en">
                <a:solidFill>
                  <a:srgbClr val="000000"/>
                </a:solidFill>
              </a:rPr>
              <a:t>Structure is encoded in the CENTRIST descriptor.</a:t>
            </a:r>
          </a:p>
          <a:p>
            <a:endParaRPr lang="en">
              <a:solidFill>
                <a:srgbClr val="000000"/>
              </a:solidFill>
            </a:endParaRPr>
          </a:p>
        </p:txBody>
      </p:sp>
      <p:sp>
        <p:nvSpPr>
          <p:cNvPr id="134" name="Shape 134"/>
          <p:cNvSpPr/>
          <p:nvPr/>
        </p:nvSpPr>
        <p:spPr>
          <a:xfrm>
            <a:off x="781890" y="3447200"/>
            <a:ext cx="7580218" cy="27685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533400" y="685824"/>
            <a:ext cx="8305800" cy="677078"/>
          </a:xfrm>
          <a:prstGeom prst="rect">
            <a:avLst/>
          </a:prstGeom>
        </p:spPr>
        <p:txBody>
          <a:bodyPr wrap="square"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sz="3200" dirty="0" smtClean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Color </a:t>
            </a:r>
            <a:r>
              <a:rPr lang="en" sz="3200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Histograms Descriptor</a:t>
            </a:r>
          </a:p>
        </p:txBody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517500" y="1255009"/>
            <a:ext cx="8093100" cy="5755391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Bin-ratio provides important information that is collected from ratios between bin values of histograms that are used for scene and category classifications. </a:t>
            </a: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4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advantages are as follows: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-BRD is robust to cluttering, partial occlusion and histogram normalization.</a:t>
            </a:r>
          </a:p>
          <a:p>
            <a:endParaRPr lang="en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-BRD captures rich co-occurrence information, and has a linear computational complexity.</a:t>
            </a:r>
          </a:p>
          <a:p>
            <a:endParaRPr lang="en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-BRD easy to combined with other methods to gather complementary information.</a:t>
            </a: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686800" cy="5062894"/>
          </a:xfrm>
          <a:prstGeom prst="rect">
            <a:avLst/>
          </a:prstGeom>
        </p:spPr>
        <p:txBody>
          <a:bodyPr wrap="square" lIns="91425" tIns="91425" rIns="91425" bIns="91425" anchor="t" anchorCtr="0">
            <a:sp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Histogram-based 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 will capture rich information to be used within </a:t>
            </a:r>
            <a:endParaRPr lang="en" sz="20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spcBef>
                <a:spcPts val="0"/>
              </a:spcBef>
              <a:buNone/>
            </a:pPr>
            <a:r>
              <a:rPr lang="e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bag-of-words models, where each image will be represented by </a:t>
            </a:r>
            <a:r>
              <a:rPr lang="e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histogram </a:t>
            </a:r>
          </a:p>
          <a:p>
            <a:pPr algn="just">
              <a:spcBef>
                <a:spcPts val="0"/>
              </a:spcBef>
              <a:buNone/>
            </a:pPr>
            <a:r>
              <a:rPr lang="e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quantized visual words and combined with classifiers for </a:t>
            </a:r>
            <a:r>
              <a:rPr lang="e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categorization 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purpose.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endParaRPr lang="en" sz="8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endParaRPr lang="en" sz="8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u="sng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</a:t>
            </a:r>
            <a:r>
              <a:rPr lang="en" sz="2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and </a:t>
            </a:r>
            <a:r>
              <a:rPr lang="en" sz="2000" u="sng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Approaches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endParaRPr lang="en" sz="800" u="sng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Partial matching information: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large amount of clutter that brings noises to the object-of-interest.</a:t>
            </a:r>
          </a:p>
          <a:p>
            <a:endParaRPr lang="en"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Co-occurrence information: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</a:t>
            </a:r>
            <a:r>
              <a:rPr lang="e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between pairs of histogram bins of visual words </a:t>
            </a:r>
          </a:p>
          <a:p>
            <a:endParaRPr lang="en"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recent matching algorithms with high-order statistics: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Second-order programming,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Matching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High order matching.</a:t>
            </a:r>
          </a:p>
          <a:p>
            <a:endParaRPr lang="en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Shape 139"/>
          <p:cNvSpPr txBox="1">
            <a:spLocks noGrp="1"/>
          </p:cNvSpPr>
          <p:nvPr>
            <p:ph type="title"/>
          </p:nvPr>
        </p:nvSpPr>
        <p:spPr>
          <a:xfrm>
            <a:off x="533400" y="685824"/>
            <a:ext cx="8305800" cy="677078"/>
          </a:xfrm>
          <a:prstGeom prst="rect">
            <a:avLst/>
          </a:prstGeom>
        </p:spPr>
        <p:txBody>
          <a:bodyPr wrap="square"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sz="3200" dirty="0" smtClean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Color </a:t>
            </a:r>
            <a:r>
              <a:rPr lang="en" sz="3200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Histograms Descriptor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457200" y="679004"/>
            <a:ext cx="8229600" cy="738633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Classifier</a:t>
            </a:r>
          </a:p>
        </p:txBody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1890300"/>
            <a:ext cx="8382000" cy="3677900"/>
          </a:xfrm>
          <a:prstGeom prst="rect">
            <a:avLst/>
          </a:prstGeom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lvl="0" rtl="0"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classifier </a:t>
            </a:r>
            <a:r>
              <a:rPr lang="en" sz="24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Neural Network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selected.</a:t>
            </a: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Tool: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Matlab Neural Network Toolbox</a:t>
            </a: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using </a:t>
            </a:r>
            <a:r>
              <a:rPr lang="en" sz="2400" i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 forward back propagation</a:t>
            </a:r>
            <a:r>
              <a:rPr lang="en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 </a:t>
            </a:r>
          </a:p>
          <a:p>
            <a:endParaRPr lang="en" sz="2400" dirty="0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layer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s: to be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(probably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hidden layer)</a:t>
            </a: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Shape 153"/>
          <p:cNvSpPr/>
          <p:nvPr/>
        </p:nvSpPr>
        <p:spPr>
          <a:xfrm flipH="1">
            <a:off x="558025" y="29340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54" name="Shape 154"/>
          <p:cNvSpPr/>
          <p:nvPr/>
        </p:nvSpPr>
        <p:spPr>
          <a:xfrm flipH="1">
            <a:off x="571800" y="20996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55" name="Shape 155"/>
          <p:cNvSpPr/>
          <p:nvPr/>
        </p:nvSpPr>
        <p:spPr>
          <a:xfrm flipH="1">
            <a:off x="558025" y="38484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56" name="Shape 156"/>
          <p:cNvSpPr/>
          <p:nvPr/>
        </p:nvSpPr>
        <p:spPr>
          <a:xfrm flipH="1">
            <a:off x="558025" y="4724400"/>
            <a:ext cx="190200" cy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381000" y="-885325"/>
            <a:ext cx="8059199" cy="2400627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sz="4800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
</a:t>
            </a:r>
          </a:p>
          <a:p>
            <a:pPr lvl="0" rtl="0">
              <a:buNone/>
            </a:pPr>
            <a:r>
              <a:rPr lang="en" sz="4800" dirty="0">
                <a:solidFill>
                  <a:srgbClr val="000000"/>
                </a:solidFill>
                <a:latin typeface="Castellar" pitchFamily="18" charset="0"/>
                <a:ea typeface="Corsiva"/>
                <a:cs typeface="Corsiva"/>
                <a:sym typeface="Corsiva"/>
              </a:rPr>
              <a:t>Conclusion</a:t>
            </a: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44700" y="1732500"/>
            <a:ext cx="7854600" cy="49677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indent="45720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Gabor, Centrist, and Color Histogram descriptors can be easily combined into one method. This combination will give place to a hybrid methodology to gather complementary information for a better categorization and scene classification tasks using a bag-of-words framework.</a:t>
            </a: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Custom 439">
      <a:dk1>
        <a:srgbClr val="000000"/>
      </a:dk1>
      <a:lt1>
        <a:srgbClr val="FFFFFF"/>
      </a:lt1>
      <a:dk2>
        <a:srgbClr val="5C6E95"/>
      </a:dk2>
      <a:lt2>
        <a:srgbClr val="ACB4C2"/>
      </a:lt2>
      <a:accent1>
        <a:srgbClr val="667E50"/>
      </a:accent1>
      <a:accent2>
        <a:srgbClr val="CFBF73"/>
      </a:accent2>
      <a:accent3>
        <a:srgbClr val="8C7C82"/>
      </a:accent3>
      <a:accent4>
        <a:srgbClr val="9ABF87"/>
      </a:accent4>
      <a:accent5>
        <a:srgbClr val="CF9462"/>
      </a:accent5>
      <a:accent6>
        <a:srgbClr val="A25642"/>
      </a:accent6>
      <a:hlink>
        <a:srgbClr val="5173A5"/>
      </a:hlink>
      <a:folHlink>
        <a:srgbClr val="687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622</Words>
  <Application>Microsoft Office PowerPoint</Application>
  <PresentationFormat>On-screen Show (4:3)</PresentationFormat>
  <Paragraphs>129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/>
      <vt:lpstr>Scene Classification</vt:lpstr>
      <vt:lpstr>Outline</vt:lpstr>
      <vt:lpstr>Introduction</vt:lpstr>
      <vt:lpstr>Timeline</vt:lpstr>
      <vt:lpstr>Expected results</vt:lpstr>
      <vt:lpstr>Gabor descriptor</vt:lpstr>
      <vt:lpstr>Gabor descriptor</vt:lpstr>
      <vt:lpstr>Centrist Visual Descriptor</vt:lpstr>
      <vt:lpstr>Centrist Visual Descriptor</vt:lpstr>
      <vt:lpstr>Color Histograms Descriptor</vt:lpstr>
      <vt:lpstr>Color Histograms Descriptor</vt:lpstr>
      <vt:lpstr>Classifier</vt:lpstr>
      <vt:lpstr>
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 Classification</dc:title>
  <dc:creator>Puchito</dc:creator>
  <cp:lastModifiedBy>Puchito</cp:lastModifiedBy>
  <cp:revision>2</cp:revision>
  <dcterms:modified xsi:type="dcterms:W3CDTF">2013-01-10T04:30:48Z</dcterms:modified>
</cp:coreProperties>
</file>