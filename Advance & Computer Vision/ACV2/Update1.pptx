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  <p:sldId id="286" r:id="rId29"/>
    <p:sldId id="290" r:id="rId30"/>
    <p:sldId id="288" r:id="rId31"/>
    <p:sldId id="289" r:id="rId32"/>
    <p:sldId id="291" r:id="rId33"/>
    <p:sldId id="292" r:id="rId34"/>
    <p:sldId id="293" r:id="rId35"/>
    <p:sldId id="294" r:id="rId36"/>
    <p:sldId id="295" r:id="rId37"/>
    <p:sldId id="296" r:id="rId38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40" autoAdjust="0"/>
  </p:normalViewPr>
  <p:slideViewPr>
    <p:cSldViewPr>
      <p:cViewPr>
        <p:scale>
          <a:sx n="76" d="100"/>
          <a:sy n="76" d="100"/>
        </p:scale>
        <p:origin x="-1194" y="2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0110898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Shape 1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Shape 2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Shape 2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Shape 2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Shape 2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Shape 2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Shape 2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Shape 2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Shape 2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Shape 3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/>
          <p:nvPr/>
        </p:nvSpPr>
        <p:spPr>
          <a:xfrm>
            <a:off x="381000" y="4056001"/>
            <a:ext cx="2835275" cy="803275"/>
          </a:xfrm>
          <a:custGeom>
            <a:avLst/>
            <a:gdLst/>
            <a:ahLst/>
            <a:cxnLst/>
            <a:rect l="0" t="0" r="0" b="0"/>
            <a:pathLst>
              <a:path w="3572" h="1012" extrusionOk="0">
                <a:moveTo>
                  <a:pt x="1427" y="303"/>
                </a:moveTo>
                <a:lnTo>
                  <a:pt x="1427" y="303"/>
                </a:lnTo>
                <a:lnTo>
                  <a:pt x="1427" y="0"/>
                </a:lnTo>
                <a:lnTo>
                  <a:pt x="0" y="0"/>
                </a:lnTo>
                <a:lnTo>
                  <a:pt x="0" y="594"/>
                </a:lnTo>
                <a:lnTo>
                  <a:pt x="0" y="594"/>
                </a:lnTo>
                <a:lnTo>
                  <a:pt x="0" y="615"/>
                </a:lnTo>
                <a:lnTo>
                  <a:pt x="1" y="636"/>
                </a:lnTo>
                <a:lnTo>
                  <a:pt x="5" y="658"/>
                </a:lnTo>
                <a:lnTo>
                  <a:pt x="10" y="679"/>
                </a:lnTo>
                <a:lnTo>
                  <a:pt x="16" y="698"/>
                </a:lnTo>
                <a:lnTo>
                  <a:pt x="23" y="718"/>
                </a:lnTo>
                <a:lnTo>
                  <a:pt x="31" y="738"/>
                </a:lnTo>
                <a:lnTo>
                  <a:pt x="39" y="757"/>
                </a:lnTo>
                <a:lnTo>
                  <a:pt x="49" y="775"/>
                </a:lnTo>
                <a:lnTo>
                  <a:pt x="60" y="793"/>
                </a:lnTo>
                <a:lnTo>
                  <a:pt x="73" y="811"/>
                </a:lnTo>
                <a:lnTo>
                  <a:pt x="86" y="827"/>
                </a:lnTo>
                <a:lnTo>
                  <a:pt x="99" y="844"/>
                </a:lnTo>
                <a:lnTo>
                  <a:pt x="114" y="860"/>
                </a:lnTo>
                <a:lnTo>
                  <a:pt x="130" y="875"/>
                </a:lnTo>
                <a:lnTo>
                  <a:pt x="147" y="889"/>
                </a:lnTo>
                <a:lnTo>
                  <a:pt x="165" y="902"/>
                </a:lnTo>
                <a:lnTo>
                  <a:pt x="183" y="917"/>
                </a:lnTo>
                <a:lnTo>
                  <a:pt x="202" y="929"/>
                </a:lnTo>
                <a:lnTo>
                  <a:pt x="222" y="940"/>
                </a:lnTo>
                <a:lnTo>
                  <a:pt x="243" y="951"/>
                </a:lnTo>
                <a:lnTo>
                  <a:pt x="264" y="961"/>
                </a:lnTo>
                <a:lnTo>
                  <a:pt x="285" y="971"/>
                </a:lnTo>
                <a:lnTo>
                  <a:pt x="308" y="979"/>
                </a:lnTo>
                <a:lnTo>
                  <a:pt x="331" y="986"/>
                </a:lnTo>
                <a:lnTo>
                  <a:pt x="354" y="992"/>
                </a:lnTo>
                <a:lnTo>
                  <a:pt x="378" y="999"/>
                </a:lnTo>
                <a:lnTo>
                  <a:pt x="403" y="1004"/>
                </a:lnTo>
                <a:lnTo>
                  <a:pt x="427" y="1007"/>
                </a:lnTo>
                <a:lnTo>
                  <a:pt x="454" y="1010"/>
                </a:lnTo>
                <a:lnTo>
                  <a:pt x="478" y="1012"/>
                </a:lnTo>
                <a:lnTo>
                  <a:pt x="504" y="1012"/>
                </a:lnTo>
                <a:lnTo>
                  <a:pt x="3572" y="1012"/>
                </a:lnTo>
                <a:lnTo>
                  <a:pt x="3572" y="760"/>
                </a:lnTo>
                <a:lnTo>
                  <a:pt x="1882" y="760"/>
                </a:lnTo>
                <a:lnTo>
                  <a:pt x="1882" y="760"/>
                </a:lnTo>
                <a:lnTo>
                  <a:pt x="1859" y="759"/>
                </a:lnTo>
                <a:lnTo>
                  <a:pt x="1836" y="757"/>
                </a:lnTo>
                <a:lnTo>
                  <a:pt x="1814" y="754"/>
                </a:lnTo>
                <a:lnTo>
                  <a:pt x="1791" y="751"/>
                </a:lnTo>
                <a:lnTo>
                  <a:pt x="1768" y="746"/>
                </a:lnTo>
                <a:lnTo>
                  <a:pt x="1747" y="739"/>
                </a:lnTo>
                <a:lnTo>
                  <a:pt x="1725" y="733"/>
                </a:lnTo>
                <a:lnTo>
                  <a:pt x="1704" y="724"/>
                </a:lnTo>
                <a:lnTo>
                  <a:pt x="1685" y="715"/>
                </a:lnTo>
                <a:lnTo>
                  <a:pt x="1665" y="705"/>
                </a:lnTo>
                <a:lnTo>
                  <a:pt x="1645" y="693"/>
                </a:lnTo>
                <a:lnTo>
                  <a:pt x="1627" y="682"/>
                </a:lnTo>
                <a:lnTo>
                  <a:pt x="1609" y="669"/>
                </a:lnTo>
                <a:lnTo>
                  <a:pt x="1592" y="656"/>
                </a:lnTo>
                <a:lnTo>
                  <a:pt x="1575" y="641"/>
                </a:lnTo>
                <a:lnTo>
                  <a:pt x="1560" y="627"/>
                </a:lnTo>
                <a:lnTo>
                  <a:pt x="1544" y="610"/>
                </a:lnTo>
                <a:lnTo>
                  <a:pt x="1529" y="594"/>
                </a:lnTo>
                <a:lnTo>
                  <a:pt x="1516" y="576"/>
                </a:lnTo>
                <a:lnTo>
                  <a:pt x="1503" y="558"/>
                </a:lnTo>
                <a:lnTo>
                  <a:pt x="1492" y="540"/>
                </a:lnTo>
                <a:lnTo>
                  <a:pt x="1480" y="520"/>
                </a:lnTo>
                <a:lnTo>
                  <a:pt x="1471" y="501"/>
                </a:lnTo>
                <a:lnTo>
                  <a:pt x="1463" y="481"/>
                </a:lnTo>
                <a:lnTo>
                  <a:pt x="1454" y="460"/>
                </a:lnTo>
                <a:lnTo>
                  <a:pt x="1446" y="439"/>
                </a:lnTo>
                <a:lnTo>
                  <a:pt x="1440" y="418"/>
                </a:lnTo>
                <a:lnTo>
                  <a:pt x="1435" y="395"/>
                </a:lnTo>
                <a:lnTo>
                  <a:pt x="1432" y="372"/>
                </a:lnTo>
                <a:lnTo>
                  <a:pt x="1428" y="349"/>
                </a:lnTo>
                <a:lnTo>
                  <a:pt x="1427" y="326"/>
                </a:lnTo>
                <a:lnTo>
                  <a:pt x="1427" y="303"/>
                </a:lnTo>
                <a:lnTo>
                  <a:pt x="1427" y="30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6781800" y="4659251"/>
            <a:ext cx="1903412" cy="736601"/>
          </a:xfrm>
          <a:custGeom>
            <a:avLst/>
            <a:gdLst/>
            <a:ahLst/>
            <a:cxnLst/>
            <a:rect l="0" t="0" r="0" b="0"/>
            <a:pathLst>
              <a:path w="2398" h="927" extrusionOk="0">
                <a:moveTo>
                  <a:pt x="971" y="708"/>
                </a:moveTo>
                <a:lnTo>
                  <a:pt x="971" y="708"/>
                </a:lnTo>
                <a:lnTo>
                  <a:pt x="971" y="927"/>
                </a:lnTo>
                <a:lnTo>
                  <a:pt x="2398" y="927"/>
                </a:lnTo>
                <a:lnTo>
                  <a:pt x="2398" y="418"/>
                </a:lnTo>
                <a:lnTo>
                  <a:pt x="2398" y="418"/>
                </a:lnTo>
                <a:lnTo>
                  <a:pt x="2398" y="395"/>
                </a:lnTo>
                <a:lnTo>
                  <a:pt x="2395" y="374"/>
                </a:lnTo>
                <a:lnTo>
                  <a:pt x="2392" y="354"/>
                </a:lnTo>
                <a:lnTo>
                  <a:pt x="2389" y="333"/>
                </a:lnTo>
                <a:lnTo>
                  <a:pt x="2382" y="313"/>
                </a:lnTo>
                <a:lnTo>
                  <a:pt x="2375" y="294"/>
                </a:lnTo>
                <a:lnTo>
                  <a:pt x="2367" y="274"/>
                </a:lnTo>
                <a:lnTo>
                  <a:pt x="2359" y="254"/>
                </a:lnTo>
                <a:lnTo>
                  <a:pt x="2348" y="236"/>
                </a:lnTo>
                <a:lnTo>
                  <a:pt x="2338" y="219"/>
                </a:lnTo>
                <a:lnTo>
                  <a:pt x="2325" y="201"/>
                </a:lnTo>
                <a:lnTo>
                  <a:pt x="2312" y="184"/>
                </a:lnTo>
                <a:lnTo>
                  <a:pt x="2299" y="168"/>
                </a:lnTo>
                <a:lnTo>
                  <a:pt x="2282" y="152"/>
                </a:lnTo>
                <a:lnTo>
                  <a:pt x="2268" y="137"/>
                </a:lnTo>
                <a:lnTo>
                  <a:pt x="2250" y="122"/>
                </a:lnTo>
                <a:lnTo>
                  <a:pt x="2233" y="108"/>
                </a:lnTo>
                <a:lnTo>
                  <a:pt x="2214" y="94"/>
                </a:lnTo>
                <a:lnTo>
                  <a:pt x="2196" y="83"/>
                </a:lnTo>
                <a:lnTo>
                  <a:pt x="2176" y="70"/>
                </a:lnTo>
                <a:lnTo>
                  <a:pt x="2155" y="60"/>
                </a:lnTo>
                <a:lnTo>
                  <a:pt x="2134" y="50"/>
                </a:lnTo>
                <a:lnTo>
                  <a:pt x="2113" y="41"/>
                </a:lnTo>
                <a:lnTo>
                  <a:pt x="2090" y="32"/>
                </a:lnTo>
                <a:lnTo>
                  <a:pt x="2067" y="24"/>
                </a:lnTo>
                <a:lnTo>
                  <a:pt x="2044" y="18"/>
                </a:lnTo>
                <a:lnTo>
                  <a:pt x="2020" y="13"/>
                </a:lnTo>
                <a:lnTo>
                  <a:pt x="1995" y="8"/>
                </a:lnTo>
                <a:lnTo>
                  <a:pt x="1971" y="5"/>
                </a:lnTo>
                <a:lnTo>
                  <a:pt x="1944" y="1"/>
                </a:lnTo>
                <a:lnTo>
                  <a:pt x="1920" y="0"/>
                </a:lnTo>
                <a:lnTo>
                  <a:pt x="1894" y="0"/>
                </a:lnTo>
                <a:lnTo>
                  <a:pt x="0" y="0"/>
                </a:lnTo>
                <a:lnTo>
                  <a:pt x="0" y="251"/>
                </a:lnTo>
                <a:lnTo>
                  <a:pt x="514" y="251"/>
                </a:lnTo>
                <a:lnTo>
                  <a:pt x="514" y="251"/>
                </a:lnTo>
                <a:lnTo>
                  <a:pt x="539" y="251"/>
                </a:lnTo>
                <a:lnTo>
                  <a:pt x="562" y="254"/>
                </a:lnTo>
                <a:lnTo>
                  <a:pt x="585" y="256"/>
                </a:lnTo>
                <a:lnTo>
                  <a:pt x="607" y="261"/>
                </a:lnTo>
                <a:lnTo>
                  <a:pt x="629" y="266"/>
                </a:lnTo>
                <a:lnTo>
                  <a:pt x="651" y="272"/>
                </a:lnTo>
                <a:lnTo>
                  <a:pt x="673" y="279"/>
                </a:lnTo>
                <a:lnTo>
                  <a:pt x="692" y="287"/>
                </a:lnTo>
                <a:lnTo>
                  <a:pt x="713" y="297"/>
                </a:lnTo>
                <a:lnTo>
                  <a:pt x="733" y="307"/>
                </a:lnTo>
                <a:lnTo>
                  <a:pt x="753" y="318"/>
                </a:lnTo>
                <a:lnTo>
                  <a:pt x="771" y="330"/>
                </a:lnTo>
                <a:lnTo>
                  <a:pt x="789" y="343"/>
                </a:lnTo>
                <a:lnTo>
                  <a:pt x="805" y="356"/>
                </a:lnTo>
                <a:lnTo>
                  <a:pt x="823" y="370"/>
                </a:lnTo>
                <a:lnTo>
                  <a:pt x="838" y="385"/>
                </a:lnTo>
                <a:lnTo>
                  <a:pt x="854" y="401"/>
                </a:lnTo>
                <a:lnTo>
                  <a:pt x="867" y="418"/>
                </a:lnTo>
                <a:lnTo>
                  <a:pt x="882" y="434"/>
                </a:lnTo>
                <a:lnTo>
                  <a:pt x="893" y="452"/>
                </a:lnTo>
                <a:lnTo>
                  <a:pt x="906" y="472"/>
                </a:lnTo>
                <a:lnTo>
                  <a:pt x="918" y="491"/>
                </a:lnTo>
                <a:lnTo>
                  <a:pt x="927" y="511"/>
                </a:lnTo>
                <a:lnTo>
                  <a:pt x="936" y="530"/>
                </a:lnTo>
                <a:lnTo>
                  <a:pt x="944" y="552"/>
                </a:lnTo>
                <a:lnTo>
                  <a:pt x="952" y="573"/>
                </a:lnTo>
                <a:lnTo>
                  <a:pt x="957" y="594"/>
                </a:lnTo>
                <a:lnTo>
                  <a:pt x="963" y="617"/>
                </a:lnTo>
                <a:lnTo>
                  <a:pt x="967" y="638"/>
                </a:lnTo>
                <a:lnTo>
                  <a:pt x="970" y="661"/>
                </a:lnTo>
                <a:lnTo>
                  <a:pt x="971" y="685"/>
                </a:lnTo>
                <a:lnTo>
                  <a:pt x="971" y="708"/>
                </a:lnTo>
                <a:lnTo>
                  <a:pt x="971" y="7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381000" y="0"/>
            <a:ext cx="1136699" cy="39623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268663" y="4659251"/>
            <a:ext cx="1700099" cy="200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5021262" y="4659251"/>
            <a:ext cx="1684199" cy="2000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7546975" y="5449826"/>
            <a:ext cx="1139824" cy="1409700"/>
          </a:xfrm>
          <a:custGeom>
            <a:avLst/>
            <a:gdLst/>
            <a:ahLst/>
            <a:cxnLst/>
            <a:rect l="0" t="0" r="0" b="0"/>
            <a:pathLst>
              <a:path w="1437" h="1776" extrusionOk="0">
                <a:moveTo>
                  <a:pt x="1435" y="1776"/>
                </a:moveTo>
                <a:lnTo>
                  <a:pt x="0" y="1776"/>
                </a:lnTo>
                <a:lnTo>
                  <a:pt x="2" y="0"/>
                </a:lnTo>
                <a:lnTo>
                  <a:pt x="1437" y="0"/>
                </a:lnTo>
                <a:lnTo>
                  <a:pt x="1435" y="177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2220060" y="2916233"/>
            <a:ext cx="4710000" cy="1650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2220060" y="4974907"/>
            <a:ext cx="4710000" cy="88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/>
        </p:nvSpPr>
        <p:spPr>
          <a:xfrm>
            <a:off x="152401" y="1371600"/>
            <a:ext cx="2208212" cy="3182937"/>
          </a:xfrm>
          <a:custGeom>
            <a:avLst/>
            <a:gdLst/>
            <a:ahLst/>
            <a:cxnLst/>
            <a:rect l="0" t="0" r="0" b="0"/>
            <a:pathLst>
              <a:path w="2782" h="4010" extrusionOk="0">
                <a:moveTo>
                  <a:pt x="635" y="719"/>
                </a:moveTo>
                <a:lnTo>
                  <a:pt x="635" y="719"/>
                </a:lnTo>
                <a:lnTo>
                  <a:pt x="635" y="4010"/>
                </a:lnTo>
                <a:lnTo>
                  <a:pt x="0" y="4010"/>
                </a:lnTo>
                <a:lnTo>
                  <a:pt x="0" y="418"/>
                </a:lnTo>
                <a:lnTo>
                  <a:pt x="0" y="418"/>
                </a:lnTo>
                <a:lnTo>
                  <a:pt x="0" y="397"/>
                </a:lnTo>
                <a:lnTo>
                  <a:pt x="2" y="376"/>
                </a:lnTo>
                <a:lnTo>
                  <a:pt x="5" y="355"/>
                </a:lnTo>
                <a:lnTo>
                  <a:pt x="10" y="333"/>
                </a:lnTo>
                <a:lnTo>
                  <a:pt x="15" y="314"/>
                </a:lnTo>
                <a:lnTo>
                  <a:pt x="21" y="294"/>
                </a:lnTo>
                <a:lnTo>
                  <a:pt x="29" y="275"/>
                </a:lnTo>
                <a:lnTo>
                  <a:pt x="39" y="255"/>
                </a:lnTo>
                <a:lnTo>
                  <a:pt x="49" y="237"/>
                </a:lnTo>
                <a:lnTo>
                  <a:pt x="60" y="219"/>
                </a:lnTo>
                <a:lnTo>
                  <a:pt x="72" y="201"/>
                </a:lnTo>
                <a:lnTo>
                  <a:pt x="85" y="185"/>
                </a:lnTo>
                <a:lnTo>
                  <a:pt x="100" y="169"/>
                </a:lnTo>
                <a:lnTo>
                  <a:pt x="114" y="152"/>
                </a:lnTo>
                <a:lnTo>
                  <a:pt x="131" y="137"/>
                </a:lnTo>
                <a:lnTo>
                  <a:pt x="147" y="123"/>
                </a:lnTo>
                <a:lnTo>
                  <a:pt x="165" y="110"/>
                </a:lnTo>
                <a:lnTo>
                  <a:pt x="183" y="97"/>
                </a:lnTo>
                <a:lnTo>
                  <a:pt x="202" y="84"/>
                </a:lnTo>
                <a:lnTo>
                  <a:pt x="222" y="72"/>
                </a:lnTo>
                <a:lnTo>
                  <a:pt x="242" y="61"/>
                </a:lnTo>
                <a:lnTo>
                  <a:pt x="263" y="51"/>
                </a:lnTo>
                <a:lnTo>
                  <a:pt x="286" y="41"/>
                </a:lnTo>
                <a:lnTo>
                  <a:pt x="307" y="33"/>
                </a:lnTo>
                <a:lnTo>
                  <a:pt x="330" y="26"/>
                </a:lnTo>
                <a:lnTo>
                  <a:pt x="354" y="20"/>
                </a:lnTo>
                <a:lnTo>
                  <a:pt x="379" y="13"/>
                </a:lnTo>
                <a:lnTo>
                  <a:pt x="403" y="9"/>
                </a:lnTo>
                <a:lnTo>
                  <a:pt x="428" y="5"/>
                </a:lnTo>
                <a:lnTo>
                  <a:pt x="452" y="4"/>
                </a:lnTo>
                <a:lnTo>
                  <a:pt x="478" y="2"/>
                </a:lnTo>
                <a:lnTo>
                  <a:pt x="504" y="0"/>
                </a:lnTo>
                <a:lnTo>
                  <a:pt x="2782" y="0"/>
                </a:lnTo>
                <a:lnTo>
                  <a:pt x="2782" y="263"/>
                </a:lnTo>
                <a:lnTo>
                  <a:pt x="1092" y="263"/>
                </a:lnTo>
                <a:lnTo>
                  <a:pt x="1092" y="263"/>
                </a:lnTo>
                <a:lnTo>
                  <a:pt x="1069" y="263"/>
                </a:lnTo>
                <a:lnTo>
                  <a:pt x="1045" y="265"/>
                </a:lnTo>
                <a:lnTo>
                  <a:pt x="1022" y="268"/>
                </a:lnTo>
                <a:lnTo>
                  <a:pt x="1001" y="271"/>
                </a:lnTo>
                <a:lnTo>
                  <a:pt x="978" y="276"/>
                </a:lnTo>
                <a:lnTo>
                  <a:pt x="957" y="283"/>
                </a:lnTo>
                <a:lnTo>
                  <a:pt x="935" y="291"/>
                </a:lnTo>
                <a:lnTo>
                  <a:pt x="914" y="299"/>
                </a:lnTo>
                <a:lnTo>
                  <a:pt x="895" y="307"/>
                </a:lnTo>
                <a:lnTo>
                  <a:pt x="875" y="317"/>
                </a:lnTo>
                <a:lnTo>
                  <a:pt x="855" y="329"/>
                </a:lnTo>
                <a:lnTo>
                  <a:pt x="838" y="340"/>
                </a:lnTo>
                <a:lnTo>
                  <a:pt x="820" y="353"/>
                </a:lnTo>
                <a:lnTo>
                  <a:pt x="802" y="368"/>
                </a:lnTo>
                <a:lnTo>
                  <a:pt x="785" y="381"/>
                </a:lnTo>
                <a:lnTo>
                  <a:pt x="769" y="397"/>
                </a:lnTo>
                <a:lnTo>
                  <a:pt x="754" y="412"/>
                </a:lnTo>
                <a:lnTo>
                  <a:pt x="740" y="428"/>
                </a:lnTo>
                <a:lnTo>
                  <a:pt x="727" y="446"/>
                </a:lnTo>
                <a:lnTo>
                  <a:pt x="713" y="464"/>
                </a:lnTo>
                <a:lnTo>
                  <a:pt x="702" y="482"/>
                </a:lnTo>
                <a:lnTo>
                  <a:pt x="691" y="502"/>
                </a:lnTo>
                <a:lnTo>
                  <a:pt x="681" y="521"/>
                </a:lnTo>
                <a:lnTo>
                  <a:pt x="671" y="542"/>
                </a:lnTo>
                <a:lnTo>
                  <a:pt x="663" y="562"/>
                </a:lnTo>
                <a:lnTo>
                  <a:pt x="656" y="583"/>
                </a:lnTo>
                <a:lnTo>
                  <a:pt x="650" y="606"/>
                </a:lnTo>
                <a:lnTo>
                  <a:pt x="645" y="627"/>
                </a:lnTo>
                <a:lnTo>
                  <a:pt x="640" y="650"/>
                </a:lnTo>
                <a:lnTo>
                  <a:pt x="638" y="673"/>
                </a:lnTo>
                <a:lnTo>
                  <a:pt x="637" y="696"/>
                </a:lnTo>
                <a:lnTo>
                  <a:pt x="635" y="719"/>
                </a:lnTo>
                <a:lnTo>
                  <a:pt x="635" y="71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152401" y="4641850"/>
            <a:ext cx="498599" cy="2216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9" name="Shape 19"/>
          <p:cNvSpPr/>
          <p:nvPr/>
        </p:nvSpPr>
        <p:spPr>
          <a:xfrm>
            <a:off x="2413000" y="1371600"/>
            <a:ext cx="2432099" cy="20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0" name="Shape 20"/>
          <p:cNvSpPr/>
          <p:nvPr/>
        </p:nvSpPr>
        <p:spPr>
          <a:xfrm>
            <a:off x="4911726" y="1371600"/>
            <a:ext cx="1965299" cy="2079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1" name="Shape 21"/>
          <p:cNvSpPr/>
          <p:nvPr/>
        </p:nvSpPr>
        <p:spPr>
          <a:xfrm>
            <a:off x="6943725" y="1371600"/>
            <a:ext cx="2200199" cy="20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854948" y="1579562"/>
            <a:ext cx="7831799" cy="498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457200" indent="-457200" rtl="0">
              <a:defRPr>
                <a:solidFill>
                  <a:schemeClr val="lt2"/>
                </a:solidFill>
              </a:defRPr>
            </a:lvl1pPr>
            <a:lvl2pPr marL="800100" indent="-342900" rtl="0">
              <a:defRPr>
                <a:solidFill>
                  <a:schemeClr val="lt2"/>
                </a:solidFill>
              </a:defRPr>
            </a:lvl2pPr>
            <a:lvl3pPr marL="1257300" indent="-342900" rtl="0">
              <a:defRPr>
                <a:solidFill>
                  <a:schemeClr val="lt2"/>
                </a:solidFill>
              </a:defRPr>
            </a:lvl3pPr>
            <a:lvl4pPr marL="1657350" indent="-285750" rtl="0">
              <a:defRPr>
                <a:solidFill>
                  <a:schemeClr val="lt2"/>
                </a:solidFill>
              </a:defRPr>
            </a:lvl4pPr>
            <a:lvl5pPr marL="2114550" indent="-285750" rtl="0">
              <a:defRPr sz="1800">
                <a:solidFill>
                  <a:schemeClr val="lt2"/>
                </a:solidFill>
              </a:defRPr>
            </a:lvl5pPr>
            <a:lvl6pPr marL="2571750" indent="-285750" rtl="0">
              <a:defRPr sz="1800">
                <a:solidFill>
                  <a:schemeClr val="lt2"/>
                </a:solidFill>
              </a:defRPr>
            </a:lvl6pPr>
            <a:lvl7pPr marL="3028950" indent="-285750" rtl="0">
              <a:defRPr sz="1800">
                <a:solidFill>
                  <a:schemeClr val="lt2"/>
                </a:solidFill>
              </a:defRPr>
            </a:lvl7pPr>
            <a:lvl8pPr marL="3486150" indent="-285750" rtl="0">
              <a:defRPr sz="1800">
                <a:solidFill>
                  <a:schemeClr val="lt2"/>
                </a:solidFill>
              </a:defRPr>
            </a:lvl8pPr>
            <a:lvl9pPr marL="3943350" indent="-285750" rtl="0"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woColTx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152401" y="1371600"/>
            <a:ext cx="2208212" cy="3182937"/>
          </a:xfrm>
          <a:custGeom>
            <a:avLst/>
            <a:gdLst/>
            <a:ahLst/>
            <a:cxnLst/>
            <a:rect l="0" t="0" r="0" b="0"/>
            <a:pathLst>
              <a:path w="2782" h="4010" extrusionOk="0">
                <a:moveTo>
                  <a:pt x="635" y="719"/>
                </a:moveTo>
                <a:lnTo>
                  <a:pt x="635" y="719"/>
                </a:lnTo>
                <a:lnTo>
                  <a:pt x="635" y="4010"/>
                </a:lnTo>
                <a:lnTo>
                  <a:pt x="0" y="4010"/>
                </a:lnTo>
                <a:lnTo>
                  <a:pt x="0" y="418"/>
                </a:lnTo>
                <a:lnTo>
                  <a:pt x="0" y="418"/>
                </a:lnTo>
                <a:lnTo>
                  <a:pt x="0" y="397"/>
                </a:lnTo>
                <a:lnTo>
                  <a:pt x="2" y="376"/>
                </a:lnTo>
                <a:lnTo>
                  <a:pt x="5" y="355"/>
                </a:lnTo>
                <a:lnTo>
                  <a:pt x="10" y="333"/>
                </a:lnTo>
                <a:lnTo>
                  <a:pt x="15" y="314"/>
                </a:lnTo>
                <a:lnTo>
                  <a:pt x="21" y="294"/>
                </a:lnTo>
                <a:lnTo>
                  <a:pt x="29" y="275"/>
                </a:lnTo>
                <a:lnTo>
                  <a:pt x="39" y="255"/>
                </a:lnTo>
                <a:lnTo>
                  <a:pt x="49" y="237"/>
                </a:lnTo>
                <a:lnTo>
                  <a:pt x="60" y="219"/>
                </a:lnTo>
                <a:lnTo>
                  <a:pt x="72" y="201"/>
                </a:lnTo>
                <a:lnTo>
                  <a:pt x="85" y="185"/>
                </a:lnTo>
                <a:lnTo>
                  <a:pt x="100" y="169"/>
                </a:lnTo>
                <a:lnTo>
                  <a:pt x="114" y="152"/>
                </a:lnTo>
                <a:lnTo>
                  <a:pt x="131" y="137"/>
                </a:lnTo>
                <a:lnTo>
                  <a:pt x="147" y="123"/>
                </a:lnTo>
                <a:lnTo>
                  <a:pt x="165" y="110"/>
                </a:lnTo>
                <a:lnTo>
                  <a:pt x="183" y="97"/>
                </a:lnTo>
                <a:lnTo>
                  <a:pt x="202" y="84"/>
                </a:lnTo>
                <a:lnTo>
                  <a:pt x="222" y="72"/>
                </a:lnTo>
                <a:lnTo>
                  <a:pt x="242" y="61"/>
                </a:lnTo>
                <a:lnTo>
                  <a:pt x="263" y="51"/>
                </a:lnTo>
                <a:lnTo>
                  <a:pt x="286" y="41"/>
                </a:lnTo>
                <a:lnTo>
                  <a:pt x="307" y="33"/>
                </a:lnTo>
                <a:lnTo>
                  <a:pt x="330" y="26"/>
                </a:lnTo>
                <a:lnTo>
                  <a:pt x="354" y="20"/>
                </a:lnTo>
                <a:lnTo>
                  <a:pt x="379" y="13"/>
                </a:lnTo>
                <a:lnTo>
                  <a:pt x="403" y="9"/>
                </a:lnTo>
                <a:lnTo>
                  <a:pt x="428" y="5"/>
                </a:lnTo>
                <a:lnTo>
                  <a:pt x="452" y="4"/>
                </a:lnTo>
                <a:lnTo>
                  <a:pt x="478" y="2"/>
                </a:lnTo>
                <a:lnTo>
                  <a:pt x="504" y="0"/>
                </a:lnTo>
                <a:lnTo>
                  <a:pt x="2782" y="0"/>
                </a:lnTo>
                <a:lnTo>
                  <a:pt x="2782" y="263"/>
                </a:lnTo>
                <a:lnTo>
                  <a:pt x="1092" y="263"/>
                </a:lnTo>
                <a:lnTo>
                  <a:pt x="1092" y="263"/>
                </a:lnTo>
                <a:lnTo>
                  <a:pt x="1069" y="263"/>
                </a:lnTo>
                <a:lnTo>
                  <a:pt x="1045" y="265"/>
                </a:lnTo>
                <a:lnTo>
                  <a:pt x="1022" y="268"/>
                </a:lnTo>
                <a:lnTo>
                  <a:pt x="1001" y="271"/>
                </a:lnTo>
                <a:lnTo>
                  <a:pt x="978" y="276"/>
                </a:lnTo>
                <a:lnTo>
                  <a:pt x="957" y="283"/>
                </a:lnTo>
                <a:lnTo>
                  <a:pt x="935" y="291"/>
                </a:lnTo>
                <a:lnTo>
                  <a:pt x="914" y="299"/>
                </a:lnTo>
                <a:lnTo>
                  <a:pt x="895" y="307"/>
                </a:lnTo>
                <a:lnTo>
                  <a:pt x="875" y="317"/>
                </a:lnTo>
                <a:lnTo>
                  <a:pt x="855" y="329"/>
                </a:lnTo>
                <a:lnTo>
                  <a:pt x="838" y="340"/>
                </a:lnTo>
                <a:lnTo>
                  <a:pt x="820" y="353"/>
                </a:lnTo>
                <a:lnTo>
                  <a:pt x="802" y="368"/>
                </a:lnTo>
                <a:lnTo>
                  <a:pt x="785" y="381"/>
                </a:lnTo>
                <a:lnTo>
                  <a:pt x="769" y="397"/>
                </a:lnTo>
                <a:lnTo>
                  <a:pt x="754" y="412"/>
                </a:lnTo>
                <a:lnTo>
                  <a:pt x="740" y="428"/>
                </a:lnTo>
                <a:lnTo>
                  <a:pt x="727" y="446"/>
                </a:lnTo>
                <a:lnTo>
                  <a:pt x="713" y="464"/>
                </a:lnTo>
                <a:lnTo>
                  <a:pt x="702" y="482"/>
                </a:lnTo>
                <a:lnTo>
                  <a:pt x="691" y="502"/>
                </a:lnTo>
                <a:lnTo>
                  <a:pt x="681" y="521"/>
                </a:lnTo>
                <a:lnTo>
                  <a:pt x="671" y="542"/>
                </a:lnTo>
                <a:lnTo>
                  <a:pt x="663" y="562"/>
                </a:lnTo>
                <a:lnTo>
                  <a:pt x="656" y="583"/>
                </a:lnTo>
                <a:lnTo>
                  <a:pt x="650" y="606"/>
                </a:lnTo>
                <a:lnTo>
                  <a:pt x="645" y="627"/>
                </a:lnTo>
                <a:lnTo>
                  <a:pt x="640" y="650"/>
                </a:lnTo>
                <a:lnTo>
                  <a:pt x="638" y="673"/>
                </a:lnTo>
                <a:lnTo>
                  <a:pt x="637" y="696"/>
                </a:lnTo>
                <a:lnTo>
                  <a:pt x="635" y="719"/>
                </a:lnTo>
                <a:lnTo>
                  <a:pt x="635" y="71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152401" y="4641850"/>
            <a:ext cx="498599" cy="2216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2413000" y="1371600"/>
            <a:ext cx="2432099" cy="20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4911726" y="1371600"/>
            <a:ext cx="1965299" cy="2079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6943725" y="1371600"/>
            <a:ext cx="2200199" cy="20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854948" y="1579562"/>
            <a:ext cx="3859799" cy="498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457200" indent="-457200" rtl="0">
              <a:defRPr>
                <a:solidFill>
                  <a:schemeClr val="lt2"/>
                </a:solidFill>
              </a:defRPr>
            </a:lvl1pPr>
            <a:lvl2pPr rtl="0">
              <a:defRPr>
                <a:solidFill>
                  <a:schemeClr val="lt2"/>
                </a:solidFill>
              </a:defRPr>
            </a:lvl2pPr>
            <a:lvl3pPr rtl="0">
              <a:defRPr>
                <a:solidFill>
                  <a:schemeClr val="lt2"/>
                </a:solidFill>
              </a:defRPr>
            </a:lvl3pPr>
            <a:lvl4pPr rtl="0">
              <a:defRPr>
                <a:solidFill>
                  <a:schemeClr val="lt2"/>
                </a:solidFill>
              </a:defRPr>
            </a:lvl4pPr>
            <a:lvl5pPr rtl="0">
              <a:defRPr sz="1800">
                <a:solidFill>
                  <a:schemeClr val="lt2"/>
                </a:solidFill>
              </a:defRPr>
            </a:lvl5pPr>
            <a:lvl6pPr rtl="0">
              <a:defRPr sz="1800">
                <a:solidFill>
                  <a:schemeClr val="lt2"/>
                </a:solidFill>
              </a:defRPr>
            </a:lvl6pPr>
            <a:lvl7pPr rtl="0">
              <a:defRPr sz="1800">
                <a:solidFill>
                  <a:schemeClr val="lt2"/>
                </a:solidFill>
              </a:defRPr>
            </a:lvl7pPr>
            <a:lvl8pPr rtl="0">
              <a:defRPr sz="1800">
                <a:solidFill>
                  <a:schemeClr val="lt2"/>
                </a:solidFill>
              </a:defRPr>
            </a:lvl8pPr>
            <a:lvl9pPr rtl="0"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2"/>
          </p:nvPr>
        </p:nvSpPr>
        <p:spPr>
          <a:xfrm>
            <a:off x="4827083" y="1579562"/>
            <a:ext cx="3859799" cy="498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457200" indent="-457200" rtl="0">
              <a:defRPr>
                <a:solidFill>
                  <a:schemeClr val="lt2"/>
                </a:solidFill>
              </a:defRPr>
            </a:lvl1pPr>
            <a:lvl2pPr rtl="0">
              <a:defRPr>
                <a:solidFill>
                  <a:schemeClr val="lt2"/>
                </a:solidFill>
              </a:defRPr>
            </a:lvl2pPr>
            <a:lvl3pPr rtl="0">
              <a:defRPr>
                <a:solidFill>
                  <a:schemeClr val="lt2"/>
                </a:solidFill>
              </a:defRPr>
            </a:lvl3pPr>
            <a:lvl4pPr rtl="0">
              <a:defRPr>
                <a:solidFill>
                  <a:schemeClr val="lt2"/>
                </a:solidFill>
              </a:defRPr>
            </a:lvl4pPr>
            <a:lvl5pPr rtl="0">
              <a:defRPr sz="1800">
                <a:solidFill>
                  <a:schemeClr val="lt2"/>
                </a:solidFill>
              </a:defRPr>
            </a:lvl5pPr>
            <a:lvl6pPr rtl="0">
              <a:defRPr sz="1800">
                <a:solidFill>
                  <a:schemeClr val="lt2"/>
                </a:solidFill>
              </a:defRPr>
            </a:lvl6pPr>
            <a:lvl7pPr rtl="0">
              <a:defRPr sz="1800">
                <a:solidFill>
                  <a:schemeClr val="lt2"/>
                </a:solidFill>
              </a:defRPr>
            </a:lvl7pPr>
            <a:lvl8pPr rtl="0">
              <a:defRPr sz="1800">
                <a:solidFill>
                  <a:schemeClr val="lt2"/>
                </a:solidFill>
              </a:defRPr>
            </a:lvl8pPr>
            <a:lvl9pPr rtl="0"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Only" type="titleOnly">
  <p:cSld name="title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/>
        </p:nvSpPr>
        <p:spPr>
          <a:xfrm>
            <a:off x="152401" y="1371600"/>
            <a:ext cx="2208212" cy="3182937"/>
          </a:xfrm>
          <a:custGeom>
            <a:avLst/>
            <a:gdLst/>
            <a:ahLst/>
            <a:cxnLst/>
            <a:rect l="0" t="0" r="0" b="0"/>
            <a:pathLst>
              <a:path w="2782" h="4010" extrusionOk="0">
                <a:moveTo>
                  <a:pt x="635" y="719"/>
                </a:moveTo>
                <a:lnTo>
                  <a:pt x="635" y="719"/>
                </a:lnTo>
                <a:lnTo>
                  <a:pt x="635" y="4010"/>
                </a:lnTo>
                <a:lnTo>
                  <a:pt x="0" y="4010"/>
                </a:lnTo>
                <a:lnTo>
                  <a:pt x="0" y="418"/>
                </a:lnTo>
                <a:lnTo>
                  <a:pt x="0" y="418"/>
                </a:lnTo>
                <a:lnTo>
                  <a:pt x="0" y="397"/>
                </a:lnTo>
                <a:lnTo>
                  <a:pt x="2" y="376"/>
                </a:lnTo>
                <a:lnTo>
                  <a:pt x="5" y="355"/>
                </a:lnTo>
                <a:lnTo>
                  <a:pt x="10" y="333"/>
                </a:lnTo>
                <a:lnTo>
                  <a:pt x="15" y="314"/>
                </a:lnTo>
                <a:lnTo>
                  <a:pt x="21" y="294"/>
                </a:lnTo>
                <a:lnTo>
                  <a:pt x="29" y="275"/>
                </a:lnTo>
                <a:lnTo>
                  <a:pt x="39" y="255"/>
                </a:lnTo>
                <a:lnTo>
                  <a:pt x="49" y="237"/>
                </a:lnTo>
                <a:lnTo>
                  <a:pt x="60" y="219"/>
                </a:lnTo>
                <a:lnTo>
                  <a:pt x="72" y="201"/>
                </a:lnTo>
                <a:lnTo>
                  <a:pt x="85" y="185"/>
                </a:lnTo>
                <a:lnTo>
                  <a:pt x="100" y="169"/>
                </a:lnTo>
                <a:lnTo>
                  <a:pt x="114" y="152"/>
                </a:lnTo>
                <a:lnTo>
                  <a:pt x="131" y="137"/>
                </a:lnTo>
                <a:lnTo>
                  <a:pt x="147" y="123"/>
                </a:lnTo>
                <a:lnTo>
                  <a:pt x="165" y="110"/>
                </a:lnTo>
                <a:lnTo>
                  <a:pt x="183" y="97"/>
                </a:lnTo>
                <a:lnTo>
                  <a:pt x="202" y="84"/>
                </a:lnTo>
                <a:lnTo>
                  <a:pt x="222" y="72"/>
                </a:lnTo>
                <a:lnTo>
                  <a:pt x="242" y="61"/>
                </a:lnTo>
                <a:lnTo>
                  <a:pt x="263" y="51"/>
                </a:lnTo>
                <a:lnTo>
                  <a:pt x="286" y="41"/>
                </a:lnTo>
                <a:lnTo>
                  <a:pt x="307" y="33"/>
                </a:lnTo>
                <a:lnTo>
                  <a:pt x="330" y="26"/>
                </a:lnTo>
                <a:lnTo>
                  <a:pt x="354" y="20"/>
                </a:lnTo>
                <a:lnTo>
                  <a:pt x="379" y="13"/>
                </a:lnTo>
                <a:lnTo>
                  <a:pt x="403" y="9"/>
                </a:lnTo>
                <a:lnTo>
                  <a:pt x="428" y="5"/>
                </a:lnTo>
                <a:lnTo>
                  <a:pt x="452" y="4"/>
                </a:lnTo>
                <a:lnTo>
                  <a:pt x="478" y="2"/>
                </a:lnTo>
                <a:lnTo>
                  <a:pt x="504" y="0"/>
                </a:lnTo>
                <a:lnTo>
                  <a:pt x="2782" y="0"/>
                </a:lnTo>
                <a:lnTo>
                  <a:pt x="2782" y="263"/>
                </a:lnTo>
                <a:lnTo>
                  <a:pt x="1092" y="263"/>
                </a:lnTo>
                <a:lnTo>
                  <a:pt x="1092" y="263"/>
                </a:lnTo>
                <a:lnTo>
                  <a:pt x="1069" y="263"/>
                </a:lnTo>
                <a:lnTo>
                  <a:pt x="1045" y="265"/>
                </a:lnTo>
                <a:lnTo>
                  <a:pt x="1022" y="268"/>
                </a:lnTo>
                <a:lnTo>
                  <a:pt x="1001" y="271"/>
                </a:lnTo>
                <a:lnTo>
                  <a:pt x="978" y="276"/>
                </a:lnTo>
                <a:lnTo>
                  <a:pt x="957" y="283"/>
                </a:lnTo>
                <a:lnTo>
                  <a:pt x="935" y="291"/>
                </a:lnTo>
                <a:lnTo>
                  <a:pt x="914" y="299"/>
                </a:lnTo>
                <a:lnTo>
                  <a:pt x="895" y="307"/>
                </a:lnTo>
                <a:lnTo>
                  <a:pt x="875" y="317"/>
                </a:lnTo>
                <a:lnTo>
                  <a:pt x="855" y="329"/>
                </a:lnTo>
                <a:lnTo>
                  <a:pt x="838" y="340"/>
                </a:lnTo>
                <a:lnTo>
                  <a:pt x="820" y="353"/>
                </a:lnTo>
                <a:lnTo>
                  <a:pt x="802" y="368"/>
                </a:lnTo>
                <a:lnTo>
                  <a:pt x="785" y="381"/>
                </a:lnTo>
                <a:lnTo>
                  <a:pt x="769" y="397"/>
                </a:lnTo>
                <a:lnTo>
                  <a:pt x="754" y="412"/>
                </a:lnTo>
                <a:lnTo>
                  <a:pt x="740" y="428"/>
                </a:lnTo>
                <a:lnTo>
                  <a:pt x="727" y="446"/>
                </a:lnTo>
                <a:lnTo>
                  <a:pt x="713" y="464"/>
                </a:lnTo>
                <a:lnTo>
                  <a:pt x="702" y="482"/>
                </a:lnTo>
                <a:lnTo>
                  <a:pt x="691" y="502"/>
                </a:lnTo>
                <a:lnTo>
                  <a:pt x="681" y="521"/>
                </a:lnTo>
                <a:lnTo>
                  <a:pt x="671" y="542"/>
                </a:lnTo>
                <a:lnTo>
                  <a:pt x="663" y="562"/>
                </a:lnTo>
                <a:lnTo>
                  <a:pt x="656" y="583"/>
                </a:lnTo>
                <a:lnTo>
                  <a:pt x="650" y="606"/>
                </a:lnTo>
                <a:lnTo>
                  <a:pt x="645" y="627"/>
                </a:lnTo>
                <a:lnTo>
                  <a:pt x="640" y="650"/>
                </a:lnTo>
                <a:lnTo>
                  <a:pt x="638" y="673"/>
                </a:lnTo>
                <a:lnTo>
                  <a:pt x="637" y="696"/>
                </a:lnTo>
                <a:lnTo>
                  <a:pt x="635" y="719"/>
                </a:lnTo>
                <a:lnTo>
                  <a:pt x="635" y="71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152401" y="4641850"/>
            <a:ext cx="498599" cy="2216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6" name="Shape 36"/>
          <p:cNvSpPr/>
          <p:nvPr/>
        </p:nvSpPr>
        <p:spPr>
          <a:xfrm>
            <a:off x="2413000" y="1371600"/>
            <a:ext cx="2432099" cy="20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7" name="Shape 37"/>
          <p:cNvSpPr/>
          <p:nvPr/>
        </p:nvSpPr>
        <p:spPr>
          <a:xfrm>
            <a:off x="4911726" y="1371600"/>
            <a:ext cx="1965299" cy="2079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8" name="Shape 38"/>
          <p:cNvSpPr/>
          <p:nvPr/>
        </p:nvSpPr>
        <p:spPr>
          <a:xfrm>
            <a:off x="6943725" y="1371600"/>
            <a:ext cx="2200199" cy="20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 rot="10800000" flipH="1">
            <a:off x="228600" y="5333978"/>
            <a:ext cx="2208225" cy="1527698"/>
          </a:xfrm>
          <a:custGeom>
            <a:avLst/>
            <a:gdLst/>
            <a:ahLst/>
            <a:cxnLst/>
            <a:rect l="0" t="0" r="0" b="0"/>
            <a:pathLst>
              <a:path w="10000" h="18832" extrusionOk="0">
                <a:moveTo>
                  <a:pt x="2283" y="11895"/>
                </a:moveTo>
                <a:lnTo>
                  <a:pt x="2283" y="11895"/>
                </a:lnTo>
                <a:cubicBezTo>
                  <a:pt x="2258" y="7997"/>
                  <a:pt x="2271" y="3898"/>
                  <a:pt x="2246" y="0"/>
                </a:cubicBezTo>
                <a:lnTo>
                  <a:pt x="37" y="98"/>
                </a:lnTo>
                <a:cubicBezTo>
                  <a:pt x="25" y="4986"/>
                  <a:pt x="12" y="9874"/>
                  <a:pt x="0" y="14762"/>
                </a:cubicBezTo>
                <a:lnTo>
                  <a:pt x="0" y="14762"/>
                </a:lnTo>
                <a:lnTo>
                  <a:pt x="0" y="14967"/>
                </a:lnTo>
                <a:cubicBezTo>
                  <a:pt x="2" y="15036"/>
                  <a:pt x="5" y="15104"/>
                  <a:pt x="7" y="15173"/>
                </a:cubicBezTo>
                <a:cubicBezTo>
                  <a:pt x="11" y="15241"/>
                  <a:pt x="14" y="15310"/>
                  <a:pt x="18" y="15378"/>
                </a:cubicBezTo>
                <a:cubicBezTo>
                  <a:pt x="24" y="15443"/>
                  <a:pt x="30" y="15509"/>
                  <a:pt x="36" y="15574"/>
                </a:cubicBezTo>
                <a:cubicBezTo>
                  <a:pt x="42" y="15642"/>
                  <a:pt x="48" y="15711"/>
                  <a:pt x="54" y="15779"/>
                </a:cubicBezTo>
                <a:cubicBezTo>
                  <a:pt x="61" y="15844"/>
                  <a:pt x="68" y="15910"/>
                  <a:pt x="75" y="15975"/>
                </a:cubicBezTo>
                <a:cubicBezTo>
                  <a:pt x="85" y="16037"/>
                  <a:pt x="94" y="16099"/>
                  <a:pt x="104" y="16161"/>
                </a:cubicBezTo>
                <a:cubicBezTo>
                  <a:pt x="116" y="16220"/>
                  <a:pt x="128" y="16278"/>
                  <a:pt x="140" y="16337"/>
                </a:cubicBezTo>
                <a:cubicBezTo>
                  <a:pt x="152" y="16402"/>
                  <a:pt x="164" y="16468"/>
                  <a:pt x="176" y="16533"/>
                </a:cubicBezTo>
                <a:cubicBezTo>
                  <a:pt x="189" y="16592"/>
                  <a:pt x="203" y="16650"/>
                  <a:pt x="216" y="16709"/>
                </a:cubicBezTo>
                <a:cubicBezTo>
                  <a:pt x="230" y="16761"/>
                  <a:pt x="245" y="16813"/>
                  <a:pt x="259" y="16865"/>
                </a:cubicBezTo>
                <a:cubicBezTo>
                  <a:pt x="275" y="16924"/>
                  <a:pt x="290" y="16982"/>
                  <a:pt x="306" y="17041"/>
                </a:cubicBezTo>
                <a:cubicBezTo>
                  <a:pt x="324" y="17097"/>
                  <a:pt x="341" y="17152"/>
                  <a:pt x="359" y="17208"/>
                </a:cubicBezTo>
                <a:cubicBezTo>
                  <a:pt x="376" y="17254"/>
                  <a:pt x="393" y="17299"/>
                  <a:pt x="410" y="17345"/>
                </a:cubicBezTo>
                <a:cubicBezTo>
                  <a:pt x="430" y="17400"/>
                  <a:pt x="451" y="17456"/>
                  <a:pt x="471" y="17511"/>
                </a:cubicBezTo>
                <a:cubicBezTo>
                  <a:pt x="490" y="17557"/>
                  <a:pt x="509" y="17602"/>
                  <a:pt x="528" y="17648"/>
                </a:cubicBezTo>
                <a:cubicBezTo>
                  <a:pt x="550" y="17690"/>
                  <a:pt x="571" y="17733"/>
                  <a:pt x="593" y="17775"/>
                </a:cubicBezTo>
                <a:cubicBezTo>
                  <a:pt x="615" y="17817"/>
                  <a:pt x="636" y="17860"/>
                  <a:pt x="658" y="17902"/>
                </a:cubicBezTo>
                <a:cubicBezTo>
                  <a:pt x="681" y="17945"/>
                  <a:pt x="703" y="17987"/>
                  <a:pt x="726" y="18030"/>
                </a:cubicBezTo>
                <a:lnTo>
                  <a:pt x="798" y="18147"/>
                </a:lnTo>
                <a:cubicBezTo>
                  <a:pt x="822" y="18180"/>
                  <a:pt x="846" y="18212"/>
                  <a:pt x="870" y="18245"/>
                </a:cubicBezTo>
                <a:lnTo>
                  <a:pt x="945" y="18353"/>
                </a:lnTo>
                <a:cubicBezTo>
                  <a:pt x="973" y="18379"/>
                  <a:pt x="1000" y="18405"/>
                  <a:pt x="1028" y="18431"/>
                </a:cubicBezTo>
                <a:cubicBezTo>
                  <a:pt x="1053" y="18457"/>
                  <a:pt x="1079" y="18483"/>
                  <a:pt x="1104" y="18509"/>
                </a:cubicBezTo>
                <a:lnTo>
                  <a:pt x="1186" y="18597"/>
                </a:lnTo>
                <a:lnTo>
                  <a:pt x="1272" y="18656"/>
                </a:lnTo>
                <a:cubicBezTo>
                  <a:pt x="1302" y="18672"/>
                  <a:pt x="1332" y="18689"/>
                  <a:pt x="1362" y="18705"/>
                </a:cubicBezTo>
                <a:cubicBezTo>
                  <a:pt x="1391" y="18721"/>
                  <a:pt x="1420" y="18738"/>
                  <a:pt x="1449" y="18754"/>
                </a:cubicBezTo>
                <a:cubicBezTo>
                  <a:pt x="1479" y="18770"/>
                  <a:pt x="1508" y="18787"/>
                  <a:pt x="1538" y="18803"/>
                </a:cubicBezTo>
                <a:lnTo>
                  <a:pt x="1625" y="18812"/>
                </a:lnTo>
                <a:cubicBezTo>
                  <a:pt x="1656" y="18819"/>
                  <a:pt x="1687" y="18825"/>
                  <a:pt x="1718" y="18832"/>
                </a:cubicBezTo>
                <a:lnTo>
                  <a:pt x="1812" y="18832"/>
                </a:lnTo>
                <a:lnTo>
                  <a:pt x="10000" y="18832"/>
                </a:lnTo>
                <a:lnTo>
                  <a:pt x="10000" y="16278"/>
                </a:lnTo>
                <a:lnTo>
                  <a:pt x="3925" y="16278"/>
                </a:lnTo>
                <a:lnTo>
                  <a:pt x="3925" y="16278"/>
                </a:lnTo>
                <a:lnTo>
                  <a:pt x="3843" y="16278"/>
                </a:lnTo>
                <a:cubicBezTo>
                  <a:pt x="3814" y="16272"/>
                  <a:pt x="3785" y="16265"/>
                  <a:pt x="3756" y="16259"/>
                </a:cubicBezTo>
                <a:lnTo>
                  <a:pt x="3674" y="16229"/>
                </a:lnTo>
                <a:cubicBezTo>
                  <a:pt x="3649" y="16219"/>
                  <a:pt x="3623" y="16210"/>
                  <a:pt x="3598" y="16200"/>
                </a:cubicBezTo>
                <a:cubicBezTo>
                  <a:pt x="3570" y="16184"/>
                  <a:pt x="3543" y="16167"/>
                  <a:pt x="3515" y="16151"/>
                </a:cubicBezTo>
                <a:lnTo>
                  <a:pt x="3440" y="16082"/>
                </a:lnTo>
                <a:lnTo>
                  <a:pt x="3361" y="16024"/>
                </a:lnTo>
                <a:cubicBezTo>
                  <a:pt x="3336" y="15998"/>
                  <a:pt x="3310" y="15972"/>
                  <a:pt x="3285" y="15946"/>
                </a:cubicBezTo>
                <a:lnTo>
                  <a:pt x="3217" y="15857"/>
                </a:lnTo>
                <a:cubicBezTo>
                  <a:pt x="3193" y="15828"/>
                  <a:pt x="3169" y="15798"/>
                  <a:pt x="3145" y="15769"/>
                </a:cubicBezTo>
                <a:lnTo>
                  <a:pt x="3073" y="15652"/>
                </a:lnTo>
                <a:cubicBezTo>
                  <a:pt x="3053" y="15616"/>
                  <a:pt x="3032" y="15580"/>
                  <a:pt x="3012" y="15544"/>
                </a:cubicBezTo>
                <a:cubicBezTo>
                  <a:pt x="2991" y="15505"/>
                  <a:pt x="2969" y="15466"/>
                  <a:pt x="2948" y="15427"/>
                </a:cubicBezTo>
                <a:cubicBezTo>
                  <a:pt x="2926" y="15385"/>
                  <a:pt x="2905" y="15342"/>
                  <a:pt x="2883" y="15300"/>
                </a:cubicBezTo>
                <a:cubicBezTo>
                  <a:pt x="2863" y="15254"/>
                  <a:pt x="2842" y="15209"/>
                  <a:pt x="2822" y="15163"/>
                </a:cubicBezTo>
                <a:cubicBezTo>
                  <a:pt x="2803" y="15114"/>
                  <a:pt x="2783" y="15065"/>
                  <a:pt x="2764" y="15016"/>
                </a:cubicBezTo>
                <a:lnTo>
                  <a:pt x="2710" y="14869"/>
                </a:lnTo>
                <a:cubicBezTo>
                  <a:pt x="2693" y="14817"/>
                  <a:pt x="2677" y="14765"/>
                  <a:pt x="2660" y="14713"/>
                </a:cubicBezTo>
                <a:cubicBezTo>
                  <a:pt x="2644" y="14657"/>
                  <a:pt x="2629" y="14602"/>
                  <a:pt x="2613" y="14546"/>
                </a:cubicBezTo>
                <a:cubicBezTo>
                  <a:pt x="2596" y="14491"/>
                  <a:pt x="2580" y="14435"/>
                  <a:pt x="2563" y="14380"/>
                </a:cubicBezTo>
                <a:cubicBezTo>
                  <a:pt x="2550" y="14321"/>
                  <a:pt x="2536" y="14263"/>
                  <a:pt x="2523" y="14204"/>
                </a:cubicBezTo>
                <a:cubicBezTo>
                  <a:pt x="2510" y="14139"/>
                  <a:pt x="2497" y="14073"/>
                  <a:pt x="2484" y="14008"/>
                </a:cubicBezTo>
                <a:cubicBezTo>
                  <a:pt x="2472" y="13943"/>
                  <a:pt x="2460" y="13877"/>
                  <a:pt x="2448" y="13812"/>
                </a:cubicBezTo>
                <a:cubicBezTo>
                  <a:pt x="2436" y="13750"/>
                  <a:pt x="2424" y="13689"/>
                  <a:pt x="2412" y="13627"/>
                </a:cubicBezTo>
                <a:cubicBezTo>
                  <a:pt x="2402" y="13562"/>
                  <a:pt x="2393" y="13496"/>
                  <a:pt x="2383" y="13431"/>
                </a:cubicBezTo>
                <a:cubicBezTo>
                  <a:pt x="2375" y="13362"/>
                  <a:pt x="2366" y="13294"/>
                  <a:pt x="2358" y="13225"/>
                </a:cubicBezTo>
                <a:cubicBezTo>
                  <a:pt x="2351" y="13157"/>
                  <a:pt x="2343" y="13088"/>
                  <a:pt x="2336" y="13020"/>
                </a:cubicBezTo>
                <a:lnTo>
                  <a:pt x="2318" y="12795"/>
                </a:lnTo>
                <a:cubicBezTo>
                  <a:pt x="2312" y="12726"/>
                  <a:pt x="2307" y="12658"/>
                  <a:pt x="2301" y="12589"/>
                </a:cubicBezTo>
                <a:cubicBezTo>
                  <a:pt x="2298" y="12514"/>
                  <a:pt x="2296" y="12439"/>
                  <a:pt x="2293" y="12364"/>
                </a:cubicBezTo>
                <a:lnTo>
                  <a:pt x="2290" y="12139"/>
                </a:lnTo>
                <a:cubicBezTo>
                  <a:pt x="2288" y="12058"/>
                  <a:pt x="2285" y="11976"/>
                  <a:pt x="2283" y="11895"/>
                </a:cubicBezTo>
                <a:lnTo>
                  <a:pt x="2283" y="1189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2" name="Shape 42"/>
          <p:cNvSpPr/>
          <p:nvPr/>
        </p:nvSpPr>
        <p:spPr>
          <a:xfrm>
            <a:off x="2497136" y="5334000"/>
            <a:ext cx="2432099" cy="207900"/>
          </a:xfrm>
          <a:prstGeom prst="rect">
            <a:avLst/>
          </a:prstGeom>
          <a:solidFill>
            <a:srgbClr val="BF8AC9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3" name="Shape 43"/>
          <p:cNvSpPr/>
          <p:nvPr/>
        </p:nvSpPr>
        <p:spPr>
          <a:xfrm>
            <a:off x="4995862" y="5334000"/>
            <a:ext cx="1965299" cy="20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4" name="Shape 44"/>
          <p:cNvSpPr/>
          <p:nvPr/>
        </p:nvSpPr>
        <p:spPr>
          <a:xfrm>
            <a:off x="7010400" y="5334000"/>
            <a:ext cx="2133599" cy="207900"/>
          </a:xfrm>
          <a:prstGeom prst="rect">
            <a:avLst/>
          </a:prstGeom>
          <a:solidFill>
            <a:srgbClr val="BB4C4B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020958" y="5875078"/>
            <a:ext cx="7813199" cy="69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 b="1">
                <a:solidFill>
                  <a:schemeClr val="lt2"/>
                </a:solidFill>
              </a:defRPr>
            </a:lvl1pPr>
            <a:lvl2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 b="1">
                <a:solidFill>
                  <a:schemeClr val="lt2"/>
                </a:solidFill>
              </a:defRPr>
            </a:lvl2pPr>
            <a:lvl3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 b="1">
                <a:solidFill>
                  <a:schemeClr val="lt2"/>
                </a:solidFill>
              </a:defRPr>
            </a:lvl3pPr>
            <a:lvl4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 b="1">
                <a:solidFill>
                  <a:schemeClr val="lt2"/>
                </a:solidFill>
              </a:defRPr>
            </a:lvl4pPr>
            <a:lvl5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 b="1">
                <a:solidFill>
                  <a:schemeClr val="lt2"/>
                </a:solidFill>
              </a:defRPr>
            </a:lvl5pPr>
            <a:lvl6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 b="1">
                <a:solidFill>
                  <a:schemeClr val="lt2"/>
                </a:solidFill>
              </a:defRPr>
            </a:lvl6pPr>
            <a:lvl7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 b="1">
                <a:solidFill>
                  <a:schemeClr val="lt2"/>
                </a:solidFill>
              </a:defRPr>
            </a:lvl7pPr>
            <a:lvl8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 b="1">
                <a:solidFill>
                  <a:schemeClr val="lt2"/>
                </a:solidFill>
              </a:defRPr>
            </a:lvl8pPr>
            <a:lvl9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2413000" y="0"/>
            <a:ext cx="2432099" cy="20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4911726" y="0"/>
            <a:ext cx="1965299" cy="2079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9" name="Shape 49"/>
          <p:cNvSpPr/>
          <p:nvPr/>
        </p:nvSpPr>
        <p:spPr>
          <a:xfrm>
            <a:off x="6943725" y="0"/>
            <a:ext cx="2200199" cy="20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50" name="Shape 50"/>
          <p:cNvSpPr/>
          <p:nvPr/>
        </p:nvSpPr>
        <p:spPr>
          <a:xfrm>
            <a:off x="0" y="0"/>
            <a:ext cx="2346300" cy="2079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51" name="Shape 51"/>
          <p:cNvSpPr/>
          <p:nvPr/>
        </p:nvSpPr>
        <p:spPr>
          <a:xfrm>
            <a:off x="0" y="6650036"/>
            <a:ext cx="2432099" cy="207900"/>
          </a:xfrm>
          <a:prstGeom prst="rect">
            <a:avLst/>
          </a:prstGeom>
          <a:solidFill>
            <a:srgbClr val="BF8AC9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52" name="Shape 52"/>
          <p:cNvSpPr/>
          <p:nvPr/>
        </p:nvSpPr>
        <p:spPr>
          <a:xfrm>
            <a:off x="2498725" y="6650036"/>
            <a:ext cx="1965299" cy="20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53" name="Shape 53"/>
          <p:cNvSpPr/>
          <p:nvPr/>
        </p:nvSpPr>
        <p:spPr>
          <a:xfrm>
            <a:off x="4513262" y="6650036"/>
            <a:ext cx="4630799" cy="20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l" rtl="0">
              <a:spcBef>
                <a:spcPts val="600"/>
              </a:spcBef>
              <a:buClr>
                <a:schemeClr val="lt2"/>
              </a:buClr>
              <a:buSzPct val="166666"/>
              <a:buFont typeface="Arial"/>
              <a:buChar char="•"/>
              <a:defRPr sz="30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indent="-285750" algn="l" rtl="0">
              <a:spcBef>
                <a:spcPts val="480"/>
              </a:spcBef>
              <a:buClr>
                <a:schemeClr val="lt2"/>
              </a:buClr>
              <a:buSzPct val="100000"/>
              <a:buFont typeface="Courier New"/>
              <a:buChar char="o"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indent="-228600" algn="l" rtl="0">
              <a:spcBef>
                <a:spcPts val="480"/>
              </a:spcBef>
              <a:buClr>
                <a:schemeClr val="lt2"/>
              </a:buClr>
              <a:buSzPct val="100000"/>
              <a:buFont typeface="Wingdings"/>
              <a:buChar char="§"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indent="-228600" algn="l" rtl="0">
              <a:spcBef>
                <a:spcPts val="360"/>
              </a:spcBef>
              <a:buClr>
                <a:schemeClr val="lt2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indent="-228600" algn="l" rtl="0">
              <a:spcBef>
                <a:spcPts val="360"/>
              </a:spcBef>
              <a:buClr>
                <a:schemeClr val="lt2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indent="-228600" algn="l" rtl="0">
              <a:spcBef>
                <a:spcPts val="360"/>
              </a:spcBef>
              <a:buClr>
                <a:schemeClr val="lt2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indent="-228600" algn="l" rtl="0">
              <a:spcBef>
                <a:spcPts val="360"/>
              </a:spcBef>
              <a:buClr>
                <a:schemeClr val="lt2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indent="-228600" algn="l" rtl="0">
              <a:spcBef>
                <a:spcPts val="360"/>
              </a:spcBef>
              <a:buClr>
                <a:schemeClr val="lt2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indent="-228600" algn="l" rtl="0">
              <a:spcBef>
                <a:spcPts val="360"/>
              </a:spcBef>
              <a:buClr>
                <a:schemeClr val="lt2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ctrTitle"/>
          </p:nvPr>
        </p:nvSpPr>
        <p:spPr>
          <a:xfrm>
            <a:off x="1466425" y="1747508"/>
            <a:ext cx="7384499" cy="1650599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 sz="6000">
                <a:latin typeface="Corsiva"/>
                <a:ea typeface="Corsiva"/>
                <a:cs typeface="Corsiva"/>
                <a:sym typeface="Corsiva"/>
              </a:rPr>
              <a:t>Scene Classification</a:t>
            </a:r>
          </a:p>
          <a:p>
            <a:pPr>
              <a:buNone/>
            </a:pPr>
            <a:r>
              <a:rPr lang="en" sz="6000" u="sng">
                <a:latin typeface="Corsiva"/>
                <a:ea typeface="Corsiva"/>
                <a:cs typeface="Corsiva"/>
                <a:sym typeface="Corsiva"/>
              </a:rPr>
              <a:t>Update 1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ubTitle" idx="1"/>
          </p:nvPr>
        </p:nvSpPr>
        <p:spPr>
          <a:xfrm>
            <a:off x="488500" y="5411482"/>
            <a:ext cx="7580100" cy="8849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l" rt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Piter  Garcia    Karina Damico    Pauline Martial</a:t>
            </a:r>
          </a:p>
        </p:txBody>
      </p:sp>
      <p:sp>
        <p:nvSpPr>
          <p:cNvPr id="57" name="Shape 57"/>
          <p:cNvSpPr/>
          <p:nvPr/>
        </p:nvSpPr>
        <p:spPr>
          <a:xfrm>
            <a:off x="433800" y="56110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8" name="Shape 58"/>
          <p:cNvSpPr/>
          <p:nvPr/>
        </p:nvSpPr>
        <p:spPr>
          <a:xfrm>
            <a:off x="2491200" y="56110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9" name="Shape 59"/>
          <p:cNvSpPr/>
          <p:nvPr/>
        </p:nvSpPr>
        <p:spPr>
          <a:xfrm>
            <a:off x="4853400" y="56110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776798" y="2361112"/>
            <a:ext cx="7831799" cy="49881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buNone/>
            </a:pPr>
            <a:r>
              <a:rPr lang="en" sz="4800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Karina: </a:t>
            </a:r>
          </a:p>
          <a:p>
            <a:pPr algn="ctr">
              <a:buNone/>
            </a:pPr>
            <a:r>
              <a:rPr lang="en" sz="48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Gabor descriptor</a:t>
            </a:r>
            <a:r>
              <a:rPr lang="en" sz="4800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70" name="Shape 70"/>
          <p:cNvSpPr txBox="1"/>
          <p:nvPr/>
        </p:nvSpPr>
        <p:spPr>
          <a:xfrm>
            <a:off x="840848" y="1794379"/>
            <a:ext cx="8202899" cy="25922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>
                <a:solidFill>
                  <a:srgbClr val="111111"/>
                </a:solidFill>
              </a:rPr>
              <a:t>Typically Gabor filters travel in packs (banks), one for each chosen direction. </a:t>
            </a:r>
          </a:p>
          <a:p>
            <a:endParaRPr lang="en" sz="1800">
              <a:solidFill>
                <a:srgbClr val="111111"/>
              </a:solidFill>
            </a:endParaRPr>
          </a:p>
          <a:p>
            <a:pPr lvl="0" rtl="0">
              <a:buNone/>
            </a:pPr>
            <a:r>
              <a:rPr lang="en" sz="1800">
                <a:solidFill>
                  <a:srgbClr val="111111"/>
                </a:solidFill>
              </a:rPr>
              <a:t>A gabor filter set with a given direction gives a strong response for locations of the target images that have structures in this given direction</a:t>
            </a:r>
          </a:p>
          <a:p>
            <a:endParaRPr lang="en" sz="1800">
              <a:solidFill>
                <a:srgbClr val="111111"/>
              </a:solidFill>
            </a:endParaRPr>
          </a:p>
          <a:p>
            <a:pPr lvl="0" rtl="0">
              <a:buNone/>
            </a:pPr>
            <a:r>
              <a:rPr lang="en" sz="1800">
                <a:solidFill>
                  <a:srgbClr val="111111"/>
                </a:solidFill>
              </a:rPr>
              <a:t> </a:t>
            </a:r>
            <a:r>
              <a:rPr lang="en" sz="1800" i="1">
                <a:solidFill>
                  <a:srgbClr val="111111"/>
                </a:solidFill>
              </a:rPr>
              <a:t>(Ex:  if  target image is made of a periodic grating in a diagonal direction, a gabor filter set will give you a strong response only if its direction matches the one of the grating)</a:t>
            </a:r>
          </a:p>
          <a:p>
            <a:endParaRPr lang="en" sz="1800" i="1">
              <a:solidFill>
                <a:srgbClr val="111111"/>
              </a:solidFill>
            </a:endParaRPr>
          </a:p>
        </p:txBody>
      </p:sp>
      <p:sp>
        <p:nvSpPr>
          <p:cNvPr id="71" name="Shape 71"/>
          <p:cNvSpPr/>
          <p:nvPr/>
        </p:nvSpPr>
        <p:spPr>
          <a:xfrm>
            <a:off x="838889" y="4152054"/>
            <a:ext cx="8296670" cy="8169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72" name="Shape 72"/>
          <p:cNvSpPr/>
          <p:nvPr/>
        </p:nvSpPr>
        <p:spPr>
          <a:xfrm>
            <a:off x="4753173" y="4842728"/>
            <a:ext cx="2137895" cy="28857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73" name="Shape 73"/>
          <p:cNvSpPr/>
          <p:nvPr/>
        </p:nvSpPr>
        <p:spPr>
          <a:xfrm>
            <a:off x="678216" y="5314686"/>
            <a:ext cx="8185263" cy="128736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79" name="Shape 79"/>
          <p:cNvSpPr/>
          <p:nvPr/>
        </p:nvSpPr>
        <p:spPr>
          <a:xfrm>
            <a:off x="3747485" y="1634870"/>
            <a:ext cx="1881931" cy="192750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80" name="Shape 80"/>
          <p:cNvSpPr/>
          <p:nvPr/>
        </p:nvSpPr>
        <p:spPr>
          <a:xfrm>
            <a:off x="5423517" y="3685962"/>
            <a:ext cx="3640806" cy="297047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81" name="Shape 81"/>
          <p:cNvSpPr/>
          <p:nvPr/>
        </p:nvSpPr>
        <p:spPr>
          <a:xfrm>
            <a:off x="469588" y="3689235"/>
            <a:ext cx="3751577" cy="296392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82" name="Shape 82"/>
          <p:cNvSpPr/>
          <p:nvPr/>
        </p:nvSpPr>
        <p:spPr>
          <a:xfrm rot="5410664">
            <a:off x="5913046" y="2144979"/>
            <a:ext cx="1063805" cy="1087204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83" name="Shape 83"/>
          <p:cNvSpPr/>
          <p:nvPr/>
        </p:nvSpPr>
        <p:spPr>
          <a:xfrm>
            <a:off x="4351148" y="4569201"/>
            <a:ext cx="839399" cy="10281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89" name="Shape 89"/>
          <p:cNvSpPr txBox="1"/>
          <p:nvPr/>
        </p:nvSpPr>
        <p:spPr>
          <a:xfrm>
            <a:off x="1433300" y="1987950"/>
            <a:ext cx="7527899" cy="39758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2400"/>
              <a:t>What filters to choose for the bank?</a:t>
            </a:r>
          </a:p>
          <a:p>
            <a:endParaRPr lang="en" sz="2400"/>
          </a:p>
          <a:p>
            <a:pPr lvl="0" rtl="0">
              <a:buNone/>
            </a:pPr>
            <a:r>
              <a:rPr lang="en" sz="2400"/>
              <a:t>Should not have feature vector too big!!! Otherwise it will take forever to train the classifier</a:t>
            </a:r>
          </a:p>
          <a:p>
            <a:endParaRPr lang="en" sz="2400"/>
          </a:p>
          <a:p>
            <a:pPr lvl="0" rtl="0">
              <a:buNone/>
            </a:pPr>
            <a:r>
              <a:rPr lang="en" sz="2400"/>
              <a:t>Scale: 3 scales</a:t>
            </a:r>
          </a:p>
          <a:p>
            <a:endParaRPr lang="en" sz="2400"/>
          </a:p>
          <a:p>
            <a:pPr lvl="0" rtl="0">
              <a:buNone/>
            </a:pPr>
            <a:r>
              <a:rPr lang="en" sz="2400"/>
              <a:t>Orientation: counter clock  in 45 degrees. </a:t>
            </a:r>
          </a:p>
          <a:p>
            <a:pPr lvl="0" rtl="0">
              <a:buNone/>
            </a:pPr>
            <a:r>
              <a:rPr lang="en" sz="2400"/>
              <a:t>four directions: 0, 45, 90, 135</a:t>
            </a:r>
          </a:p>
          <a:p>
            <a:endParaRPr lang="en" sz="2400"/>
          </a:p>
          <a:p>
            <a:pPr lvl="0" rtl="0">
              <a:buNone/>
            </a:pPr>
            <a:r>
              <a:rPr lang="en" sz="2400"/>
              <a:t>Thus, 4x3 = 12 filters in the filter bank</a:t>
            </a:r>
          </a:p>
          <a:p>
            <a:endParaRPr lang="en" sz="2400"/>
          </a:p>
          <a:p>
            <a:endParaRPr lang="en" sz="2400"/>
          </a:p>
          <a:p>
            <a:endParaRPr lang="en" sz="2400"/>
          </a:p>
          <a:p>
            <a:endParaRPr lang="en" sz="2400"/>
          </a:p>
        </p:txBody>
      </p:sp>
      <p:sp>
        <p:nvSpPr>
          <p:cNvPr id="90" name="Shape 90"/>
          <p:cNvSpPr/>
          <p:nvPr/>
        </p:nvSpPr>
        <p:spPr>
          <a:xfrm>
            <a:off x="1174975" y="21823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91" name="Shape 91"/>
          <p:cNvSpPr/>
          <p:nvPr/>
        </p:nvSpPr>
        <p:spPr>
          <a:xfrm>
            <a:off x="1174975" y="28570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92" name="Shape 92"/>
          <p:cNvSpPr/>
          <p:nvPr/>
        </p:nvSpPr>
        <p:spPr>
          <a:xfrm>
            <a:off x="1174975" y="38880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93" name="Shape 93"/>
          <p:cNvSpPr/>
          <p:nvPr/>
        </p:nvSpPr>
        <p:spPr>
          <a:xfrm>
            <a:off x="1174975" y="46108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94" name="Shape 94"/>
          <p:cNvSpPr/>
          <p:nvPr/>
        </p:nvSpPr>
        <p:spPr>
          <a:xfrm>
            <a:off x="1174975" y="5607575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1105950" y="2433268"/>
            <a:ext cx="3351600" cy="24209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Clr>
                <a:srgbClr val="000000"/>
              </a:buClr>
              <a:buSzPct val="61111"/>
              <a:buFont typeface="Arial"/>
              <a:buNone/>
            </a:pPr>
            <a:r>
              <a:rPr lang="en" sz="1800"/>
              <a:t>PROBLEM: Too many values!</a:t>
            </a:r>
          </a:p>
          <a:p>
            <a:endParaRPr lang="en" sz="1800"/>
          </a:p>
          <a:p>
            <a:endParaRPr lang="en" sz="1800"/>
          </a:p>
          <a:p>
            <a:endParaRPr lang="en" sz="1800"/>
          </a:p>
          <a:p>
            <a:pPr lvl="0" rtl="0">
              <a:buClr>
                <a:srgbClr val="000000"/>
              </a:buClr>
              <a:buSzPct val="61111"/>
              <a:buFont typeface="Arial"/>
              <a:buNone/>
            </a:pPr>
            <a:r>
              <a:rPr lang="en" sz="1800"/>
              <a:t>Break the image into smaller pieces  -  into 4 pieces;</a:t>
            </a:r>
          </a:p>
          <a:p>
            <a:endParaRPr lang="en" sz="1800"/>
          </a:p>
          <a:p>
            <a:endParaRPr lang="en" sz="1800"/>
          </a:p>
          <a:p>
            <a:endParaRPr lang="en" sz="1800"/>
          </a:p>
        </p:txBody>
      </p:sp>
      <p:sp>
        <p:nvSpPr>
          <p:cNvPr id="101" name="Shape 101"/>
          <p:cNvSpPr txBox="1"/>
          <p:nvPr/>
        </p:nvSpPr>
        <p:spPr>
          <a:xfrm>
            <a:off x="1105950" y="5225993"/>
            <a:ext cx="6932099" cy="1904699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 sz="1800"/>
              <a:t>8 bins in histogram for each filter and each piece of image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Total size of the feature vector:  12x4x8 =384</a:t>
            </a:r>
          </a:p>
        </p:txBody>
      </p:sp>
      <p:sp>
        <p:nvSpPr>
          <p:cNvPr id="102" name="Shape 102"/>
          <p:cNvSpPr/>
          <p:nvPr/>
        </p:nvSpPr>
        <p:spPr>
          <a:xfrm>
            <a:off x="5190900" y="1843450"/>
            <a:ext cx="3715861" cy="380455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03" name="Shape 103"/>
          <p:cNvSpPr/>
          <p:nvPr/>
        </p:nvSpPr>
        <p:spPr>
          <a:xfrm>
            <a:off x="854948" y="36126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04" name="Shape 104"/>
          <p:cNvSpPr/>
          <p:nvPr/>
        </p:nvSpPr>
        <p:spPr>
          <a:xfrm>
            <a:off x="854948" y="25597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05" name="Shape 105"/>
          <p:cNvSpPr/>
          <p:nvPr/>
        </p:nvSpPr>
        <p:spPr>
          <a:xfrm>
            <a:off x="854948" y="57850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111" name="Shape 111"/>
          <p:cNvSpPr/>
          <p:nvPr/>
        </p:nvSpPr>
        <p:spPr>
          <a:xfrm>
            <a:off x="6715889" y="3214360"/>
            <a:ext cx="2311984" cy="1474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12" name="Shape 112"/>
          <p:cNvSpPr txBox="1"/>
          <p:nvPr/>
        </p:nvSpPr>
        <p:spPr>
          <a:xfrm>
            <a:off x="6964929" y="4813475"/>
            <a:ext cx="1994099" cy="4572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>
              <a:buNone/>
            </a:pPr>
            <a:r>
              <a:rPr lang="en"/>
              <a:t>384 beans total</a:t>
            </a:r>
          </a:p>
        </p:txBody>
      </p:sp>
      <p:sp>
        <p:nvSpPr>
          <p:cNvPr id="113" name="Shape 113"/>
          <p:cNvSpPr/>
          <p:nvPr/>
        </p:nvSpPr>
        <p:spPr>
          <a:xfrm>
            <a:off x="6669375" y="2974725"/>
            <a:ext cx="2407500" cy="88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14" name="Shape 114"/>
          <p:cNvSpPr/>
          <p:nvPr/>
        </p:nvSpPr>
        <p:spPr>
          <a:xfrm>
            <a:off x="8686747" y="3671625"/>
            <a:ext cx="443399" cy="1472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15" name="Shape 115"/>
          <p:cNvSpPr/>
          <p:nvPr/>
        </p:nvSpPr>
        <p:spPr>
          <a:xfrm>
            <a:off x="6669375" y="4594475"/>
            <a:ext cx="2407500" cy="218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16" name="Shape 116"/>
          <p:cNvSpPr/>
          <p:nvPr/>
        </p:nvSpPr>
        <p:spPr>
          <a:xfrm>
            <a:off x="648635" y="2563614"/>
            <a:ext cx="6242489" cy="31874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122" name="Shape 122"/>
          <p:cNvSpPr/>
          <p:nvPr/>
        </p:nvSpPr>
        <p:spPr>
          <a:xfrm>
            <a:off x="1274762" y="1724025"/>
            <a:ext cx="6848475" cy="513397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23" name="Shape 123"/>
          <p:cNvSpPr txBox="1"/>
          <p:nvPr/>
        </p:nvSpPr>
        <p:spPr>
          <a:xfrm>
            <a:off x="4548050" y="3572550"/>
            <a:ext cx="1620000" cy="4572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>
              <a:buNone/>
            </a:pPr>
            <a:r>
              <a:rPr lang="en"/>
              <a:t>Convolve with --&gt;</a:t>
            </a:r>
          </a:p>
        </p:txBody>
      </p:sp>
      <p:sp>
        <p:nvSpPr>
          <p:cNvPr id="124" name="Shape 124"/>
          <p:cNvSpPr/>
          <p:nvPr/>
        </p:nvSpPr>
        <p:spPr>
          <a:xfrm>
            <a:off x="4168200" y="2036850"/>
            <a:ext cx="807599" cy="4277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25" name="Shape 125"/>
          <p:cNvSpPr/>
          <p:nvPr/>
        </p:nvSpPr>
        <p:spPr>
          <a:xfrm rot="5408400">
            <a:off x="6432932" y="2816281"/>
            <a:ext cx="491101" cy="39600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26" name="Shape 126"/>
          <p:cNvSpPr/>
          <p:nvPr/>
        </p:nvSpPr>
        <p:spPr>
          <a:xfrm rot="5408181">
            <a:off x="6300332" y="4586543"/>
            <a:ext cx="756302" cy="51540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6B26B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27" name="Shape 127"/>
          <p:cNvSpPr/>
          <p:nvPr/>
        </p:nvSpPr>
        <p:spPr>
          <a:xfrm>
            <a:off x="4382200" y="5678525"/>
            <a:ext cx="633599" cy="475199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854948" y="9928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/>
              <a:t>Planning the network already</a:t>
            </a:r>
          </a:p>
        </p:txBody>
      </p:sp>
      <p:sp>
        <p:nvSpPr>
          <p:cNvPr id="133" name="Shape 133"/>
          <p:cNvSpPr txBox="1"/>
          <p:nvPr/>
        </p:nvSpPr>
        <p:spPr>
          <a:xfrm>
            <a:off x="1360200" y="2233125"/>
            <a:ext cx="7783799" cy="37253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/>
              <a:t>RBF (Radial Basis Function) network - must be faster to train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Shouldn't give worse results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Let's try to stick with mistery of Gaussian 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Input layer: If Gabor features only nodes - 384 nodes (still reduced comparably to 768) + 256 CENTRIST + 256 Color Hist = 896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Nodes in the single hidden layer: 300 nodes</a:t>
            </a:r>
          </a:p>
          <a:p>
            <a:endParaRPr lang="en" sz="1800"/>
          </a:p>
          <a:p>
            <a:pPr>
              <a:buNone/>
            </a:pPr>
            <a:r>
              <a:rPr lang="en" sz="1800"/>
              <a:t>Output: Number of categories - 5</a:t>
            </a:r>
          </a:p>
        </p:txBody>
      </p:sp>
      <p:sp>
        <p:nvSpPr>
          <p:cNvPr id="134" name="Shape 134"/>
          <p:cNvSpPr/>
          <p:nvPr/>
        </p:nvSpPr>
        <p:spPr>
          <a:xfrm>
            <a:off x="1115575" y="5318975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5" name="Shape 135"/>
          <p:cNvSpPr/>
          <p:nvPr/>
        </p:nvSpPr>
        <p:spPr>
          <a:xfrm>
            <a:off x="1115575" y="4758425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6" name="Shape 136"/>
          <p:cNvSpPr/>
          <p:nvPr/>
        </p:nvSpPr>
        <p:spPr>
          <a:xfrm>
            <a:off x="1115575" y="39602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7" name="Shape 137"/>
          <p:cNvSpPr/>
          <p:nvPr/>
        </p:nvSpPr>
        <p:spPr>
          <a:xfrm>
            <a:off x="1115575" y="3442075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8" name="Shape 138"/>
          <p:cNvSpPr/>
          <p:nvPr/>
        </p:nvSpPr>
        <p:spPr>
          <a:xfrm>
            <a:off x="1115575" y="29247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9" name="Shape 139"/>
          <p:cNvSpPr/>
          <p:nvPr/>
        </p:nvSpPr>
        <p:spPr>
          <a:xfrm>
            <a:off x="1115575" y="23790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913573" y="2419712"/>
            <a:ext cx="7831799" cy="49881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r>
              <a:rPr lang="en" sz="4800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Pauline: 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48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CENTRIST</a:t>
            </a:r>
          </a:p>
          <a:p>
            <a:pPr lvl="0" algn="ctr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r>
              <a:rPr lang="en" sz="48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descriptor </a:t>
            </a:r>
          </a:p>
          <a:p>
            <a:endParaRPr lang="en" sz="4800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1069873" y="1817937"/>
            <a:ext cx="7831799" cy="26321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>
                <a:solidFill>
                  <a:srgbClr val="000000"/>
                </a:solidFill>
              </a:rPr>
              <a:t>Test image features: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Image of type uint 		=&gt; Convert to double</a:t>
            </a:r>
          </a:p>
          <a:p>
            <a:endParaRPr lang="en" sz="1800">
              <a:solidFill>
                <a:srgbClr val="000000"/>
              </a:solidFill>
            </a:endParaRP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RGB color planes 		=&gt; Convert to grayscale</a:t>
            </a:r>
          </a:p>
          <a:p>
            <a:endParaRPr lang="en" sz="1800">
              <a:solidFill>
                <a:srgbClr val="000000"/>
              </a:solidFill>
            </a:endParaRP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1880*2816 = more than 5.2 million pixels... </a:t>
            </a:r>
          </a:p>
          <a:p>
            <a:pPr marL="3200400" lvl="0" indent="457200" rtl="0">
              <a:buNone/>
            </a:pPr>
            <a:r>
              <a:rPr lang="en" sz="1800">
                <a:solidFill>
                  <a:srgbClr val="000000"/>
                </a:solidFill>
              </a:rPr>
              <a:t>=&gt; Downsize image</a:t>
            </a:r>
          </a:p>
        </p:txBody>
      </p:sp>
      <p:sp>
        <p:nvSpPr>
          <p:cNvPr id="151" name="Shape 151"/>
          <p:cNvSpPr txBox="1">
            <a:spLocks noGrp="1"/>
          </p:cNvSpPr>
          <p:nvPr>
            <p:ph type="body" idx="4294967295"/>
          </p:nvPr>
        </p:nvSpPr>
        <p:spPr>
          <a:xfrm>
            <a:off x="1553098" y="5101962"/>
            <a:ext cx="3566399" cy="6342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>
                <a:solidFill>
                  <a:srgbClr val="000000"/>
                </a:solidFill>
              </a:rPr>
              <a:t>Grayscale downsized test image:</a:t>
            </a:r>
          </a:p>
        </p:txBody>
      </p:sp>
      <p:sp>
        <p:nvSpPr>
          <p:cNvPr id="152" name="Shape 152"/>
          <p:cNvSpPr/>
          <p:nvPr/>
        </p:nvSpPr>
        <p:spPr>
          <a:xfrm>
            <a:off x="5289375" y="4507000"/>
            <a:ext cx="2839138" cy="193386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grpSp>
        <p:nvGrpSpPr>
          <p:cNvPr id="158" name="Shape 158"/>
          <p:cNvGrpSpPr/>
          <p:nvPr/>
        </p:nvGrpSpPr>
        <p:grpSpPr>
          <a:xfrm>
            <a:off x="854948" y="2141050"/>
            <a:ext cx="8028922" cy="1738498"/>
            <a:chOff x="854948" y="4808050"/>
            <a:chExt cx="8028922" cy="1738498"/>
          </a:xfrm>
        </p:grpSpPr>
        <p:sp>
          <p:nvSpPr>
            <p:cNvPr id="159" name="Shape 159"/>
            <p:cNvSpPr/>
            <p:nvPr/>
          </p:nvSpPr>
          <p:spPr>
            <a:xfrm>
              <a:off x="3540500" y="4808050"/>
              <a:ext cx="1635599" cy="92939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spAutoFit/>
            </a:bodyPr>
            <a:lstStyle/>
            <a:p>
              <a:pPr lvl="0" algn="ctr" rtl="0">
                <a:buNone/>
              </a:pPr>
              <a:r>
                <a:rPr lang="en" i="1"/>
                <a:t>function</a:t>
              </a:r>
            </a:p>
            <a:p>
              <a:pPr lvl="0" algn="ctr" rtl="0">
                <a:buNone/>
              </a:pPr>
              <a:r>
                <a:rPr lang="en" sz="1800"/>
                <a:t>compare</a:t>
              </a:r>
            </a:p>
          </p:txBody>
        </p:sp>
        <p:cxnSp>
          <p:nvCxnSpPr>
            <p:cNvPr id="160" name="Shape 160"/>
            <p:cNvCxnSpPr>
              <a:endCxn id="159" idx="1"/>
            </p:cNvCxnSpPr>
            <p:nvPr/>
          </p:nvCxnSpPr>
          <p:spPr>
            <a:xfrm rot="10800000" flipH="1">
              <a:off x="2769200" y="5272749"/>
              <a:ext cx="771299" cy="138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61" name="Shape 161"/>
            <p:cNvSpPr txBox="1"/>
            <p:nvPr/>
          </p:nvSpPr>
          <p:spPr>
            <a:xfrm>
              <a:off x="854948" y="5051050"/>
              <a:ext cx="1892099" cy="457200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>
                <a:buNone/>
              </a:pPr>
              <a:r>
                <a:rPr lang="en"/>
                <a:t>3x3 pixel surrounding</a:t>
              </a:r>
            </a:p>
          </p:txBody>
        </p:sp>
        <p:sp>
          <p:nvSpPr>
            <p:cNvPr id="162" name="Shape 162"/>
            <p:cNvSpPr/>
            <p:nvPr/>
          </p:nvSpPr>
          <p:spPr>
            <a:xfrm>
              <a:off x="1199729" y="5616817"/>
              <a:ext cx="1295482" cy="929731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</p:spPr>
        </p:sp>
        <p:cxnSp>
          <p:nvCxnSpPr>
            <p:cNvPr id="163" name="Shape 163"/>
            <p:cNvCxnSpPr>
              <a:stCxn id="159" idx="3"/>
            </p:cNvCxnSpPr>
            <p:nvPr/>
          </p:nvCxnSpPr>
          <p:spPr>
            <a:xfrm>
              <a:off x="5176099" y="5272749"/>
              <a:ext cx="678299" cy="53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64" name="Shape 164"/>
            <p:cNvSpPr txBox="1"/>
            <p:nvPr/>
          </p:nvSpPr>
          <p:spPr>
            <a:xfrm>
              <a:off x="5913870" y="5051050"/>
              <a:ext cx="2970000" cy="838199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 lvl="0" rtl="0">
                <a:buNone/>
              </a:pPr>
              <a:r>
                <a:rPr lang="en"/>
                <a:t>Decimal code for surrounding.</a:t>
              </a:r>
            </a:p>
            <a:p>
              <a:pPr lvl="0" rtl="0">
                <a:buNone/>
              </a:pPr>
              <a:r>
                <a:rPr lang="en"/>
                <a:t>Code in [0 ; 255]</a:t>
              </a:r>
            </a:p>
          </p:txBody>
        </p:sp>
        <p:sp>
          <p:nvSpPr>
            <p:cNvPr id="165" name="Shape 165"/>
            <p:cNvSpPr/>
            <p:nvPr/>
          </p:nvSpPr>
          <p:spPr>
            <a:xfrm>
              <a:off x="6179638" y="5928467"/>
              <a:ext cx="1130004" cy="34564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6" name="Shape 166"/>
          <p:cNvGrpSpPr/>
          <p:nvPr/>
        </p:nvGrpSpPr>
        <p:grpSpPr>
          <a:xfrm>
            <a:off x="1970075" y="4729975"/>
            <a:ext cx="7010420" cy="929399"/>
            <a:chOff x="1970075" y="4729975"/>
            <a:chExt cx="7010420" cy="929399"/>
          </a:xfrm>
        </p:grpSpPr>
        <p:sp>
          <p:nvSpPr>
            <p:cNvPr id="167" name="Shape 167"/>
            <p:cNvSpPr/>
            <p:nvPr/>
          </p:nvSpPr>
          <p:spPr>
            <a:xfrm>
              <a:off x="3540500" y="4729975"/>
              <a:ext cx="1635599" cy="92939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spAutoFit/>
            </a:bodyPr>
            <a:lstStyle/>
            <a:p>
              <a:pPr algn="ctr">
                <a:buNone/>
              </a:pPr>
              <a:r>
                <a:rPr lang="en" sz="1800"/>
                <a:t>CENTRIST</a:t>
              </a:r>
            </a:p>
          </p:txBody>
        </p:sp>
        <p:sp>
          <p:nvSpPr>
            <p:cNvPr id="168" name="Shape 168"/>
            <p:cNvSpPr txBox="1"/>
            <p:nvPr/>
          </p:nvSpPr>
          <p:spPr>
            <a:xfrm>
              <a:off x="1970075" y="4974850"/>
              <a:ext cx="777000" cy="457200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 lvl="0" rtl="0">
                <a:buNone/>
              </a:pPr>
              <a:r>
                <a:rPr lang="en"/>
                <a:t>Image</a:t>
              </a:r>
            </a:p>
          </p:txBody>
        </p:sp>
        <p:cxnSp>
          <p:nvCxnSpPr>
            <p:cNvPr id="169" name="Shape 169"/>
            <p:cNvCxnSpPr>
              <a:endCxn id="167" idx="1"/>
            </p:cNvCxnSpPr>
            <p:nvPr/>
          </p:nvCxnSpPr>
          <p:spPr>
            <a:xfrm rot="10800000" flipH="1">
              <a:off x="2769200" y="5194674"/>
              <a:ext cx="771299" cy="156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70" name="Shape 170"/>
            <p:cNvCxnSpPr>
              <a:stCxn id="167" idx="3"/>
            </p:cNvCxnSpPr>
            <p:nvPr/>
          </p:nvCxnSpPr>
          <p:spPr>
            <a:xfrm>
              <a:off x="5176099" y="5194674"/>
              <a:ext cx="771299" cy="9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71" name="Shape 171"/>
            <p:cNvSpPr txBox="1"/>
            <p:nvPr/>
          </p:nvSpPr>
          <p:spPr>
            <a:xfrm>
              <a:off x="6010495" y="4942835"/>
              <a:ext cx="2970000" cy="670800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 lvl="0" rtl="0">
                <a:buNone/>
              </a:pPr>
              <a:r>
                <a:rPr lang="en"/>
                <a:t>Image of the CT value for all pixels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77" name="Shape 177"/>
          <p:cNvSpPr/>
          <p:nvPr/>
        </p:nvSpPr>
        <p:spPr>
          <a:xfrm>
            <a:off x="800120" y="4626012"/>
            <a:ext cx="2962754" cy="201768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78" name="Shape 178"/>
          <p:cNvSpPr/>
          <p:nvPr/>
        </p:nvSpPr>
        <p:spPr>
          <a:xfrm>
            <a:off x="5568828" y="4626012"/>
            <a:ext cx="2876319" cy="1920741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grpSp>
        <p:nvGrpSpPr>
          <p:cNvPr id="179" name="Shape 179"/>
          <p:cNvGrpSpPr/>
          <p:nvPr/>
        </p:nvGrpSpPr>
        <p:grpSpPr>
          <a:xfrm>
            <a:off x="2186988" y="3513487"/>
            <a:ext cx="5653820" cy="929399"/>
            <a:chOff x="1970075" y="4729975"/>
            <a:chExt cx="5653820" cy="929399"/>
          </a:xfrm>
        </p:grpSpPr>
        <p:sp>
          <p:nvSpPr>
            <p:cNvPr id="180" name="Shape 180"/>
            <p:cNvSpPr/>
            <p:nvPr/>
          </p:nvSpPr>
          <p:spPr>
            <a:xfrm>
              <a:off x="3540500" y="4729975"/>
              <a:ext cx="1635599" cy="92939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spAutoFit/>
            </a:bodyPr>
            <a:lstStyle/>
            <a:p>
              <a:pPr lvl="0" algn="ctr" rtl="0">
                <a:buNone/>
              </a:pPr>
              <a:r>
                <a:rPr lang="en" sz="1800"/>
                <a:t>CENTRIST</a:t>
              </a:r>
            </a:p>
          </p:txBody>
        </p:sp>
        <p:sp>
          <p:nvSpPr>
            <p:cNvPr id="181" name="Shape 181"/>
            <p:cNvSpPr txBox="1"/>
            <p:nvPr/>
          </p:nvSpPr>
          <p:spPr>
            <a:xfrm>
              <a:off x="1970075" y="4974850"/>
              <a:ext cx="777000" cy="457200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 lvl="0" rtl="0">
                <a:buNone/>
              </a:pPr>
              <a:r>
                <a:rPr lang="en"/>
                <a:t>Image</a:t>
              </a:r>
            </a:p>
          </p:txBody>
        </p:sp>
        <p:cxnSp>
          <p:nvCxnSpPr>
            <p:cNvPr id="182" name="Shape 182"/>
            <p:cNvCxnSpPr>
              <a:endCxn id="180" idx="1"/>
            </p:cNvCxnSpPr>
            <p:nvPr/>
          </p:nvCxnSpPr>
          <p:spPr>
            <a:xfrm rot="10800000" flipH="1">
              <a:off x="2769200" y="5194674"/>
              <a:ext cx="771299" cy="156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83" name="Shape 183"/>
            <p:cNvCxnSpPr>
              <a:stCxn id="180" idx="3"/>
            </p:cNvCxnSpPr>
            <p:nvPr/>
          </p:nvCxnSpPr>
          <p:spPr>
            <a:xfrm>
              <a:off x="5176099" y="5194674"/>
              <a:ext cx="771299" cy="9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84" name="Shape 184"/>
            <p:cNvSpPr txBox="1"/>
            <p:nvPr/>
          </p:nvSpPr>
          <p:spPr>
            <a:xfrm>
              <a:off x="6010495" y="4942835"/>
              <a:ext cx="1613400" cy="670800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 lvl="0" rtl="0">
                <a:buNone/>
              </a:pPr>
              <a:r>
                <a:rPr lang="en"/>
                <a:t>Image of the CT </a:t>
              </a:r>
            </a:p>
            <a:p>
              <a:pPr lvl="0" rtl="0">
                <a:buNone/>
              </a:pPr>
              <a:r>
                <a:rPr lang="en"/>
                <a:t>value for all pixels</a:t>
              </a:r>
            </a:p>
          </p:txBody>
        </p:sp>
      </p:grpSp>
      <p:sp>
        <p:nvSpPr>
          <p:cNvPr id="185" name="Shape 185"/>
          <p:cNvSpPr txBox="1">
            <a:spLocks noGrp="1"/>
          </p:cNvSpPr>
          <p:nvPr>
            <p:ph type="body" idx="1"/>
          </p:nvPr>
        </p:nvSpPr>
        <p:spPr>
          <a:xfrm>
            <a:off x="854948" y="1678562"/>
            <a:ext cx="6019799" cy="15914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457200" lvl="0" indent="0" rtl="0">
              <a:buNone/>
            </a:pPr>
            <a:r>
              <a:rPr lang="en" sz="1800" b="1">
                <a:solidFill>
                  <a:srgbClr val="000000"/>
                </a:solidFill>
              </a:rPr>
              <a:t>Step 1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Need to use [ ] to ensure CT matrix display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470*704 = 331k pixels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Computation time = 36 seconds 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1069873" y="1817937"/>
            <a:ext cx="7831799" cy="26321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 b="1">
                <a:solidFill>
                  <a:srgbClr val="000000"/>
                </a:solidFill>
              </a:rPr>
              <a:t>Step 2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Use command "hist"</a:t>
            </a:r>
          </a:p>
        </p:txBody>
      </p:sp>
      <p:sp>
        <p:nvSpPr>
          <p:cNvPr id="192" name="Shape 192"/>
          <p:cNvSpPr/>
          <p:nvPr/>
        </p:nvSpPr>
        <p:spPr>
          <a:xfrm>
            <a:off x="4467925" y="2971800"/>
            <a:ext cx="4495800" cy="37147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93" name="Shape 193"/>
          <p:cNvSpPr txBox="1"/>
          <p:nvPr/>
        </p:nvSpPr>
        <p:spPr>
          <a:xfrm>
            <a:off x="1247100" y="4315522"/>
            <a:ext cx="2644800" cy="15444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/>
              <a:t>Goal: </a:t>
            </a:r>
          </a:p>
          <a:p>
            <a:pPr lvl="0" rtl="0">
              <a:buNone/>
            </a:pPr>
            <a:r>
              <a:rPr lang="en" sz="1800"/>
              <a:t>	Histogram </a:t>
            </a:r>
          </a:p>
          <a:p>
            <a:pPr lvl="0" indent="457200" rtl="0">
              <a:buNone/>
            </a:pPr>
            <a:r>
              <a:rPr lang="en" sz="1800"/>
              <a:t>representative of </a:t>
            </a:r>
          </a:p>
          <a:p>
            <a:pPr indent="457200">
              <a:buNone/>
            </a:pPr>
            <a:r>
              <a:rPr lang="en" sz="1800"/>
              <a:t>flowers...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1079173" y="1706412"/>
            <a:ext cx="3882300" cy="5133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 b="1">
                <a:solidFill>
                  <a:srgbClr val="000000"/>
                </a:solidFill>
              </a:rPr>
              <a:t>Step 3</a:t>
            </a:r>
            <a:r>
              <a:rPr lang="en" sz="1800">
                <a:solidFill>
                  <a:srgbClr val="000000"/>
                </a:solidFill>
              </a:rPr>
              <a:t>: Other images histograms...</a:t>
            </a:r>
          </a:p>
        </p:txBody>
      </p:sp>
      <p:sp>
        <p:nvSpPr>
          <p:cNvPr id="200" name="Shape 200"/>
          <p:cNvSpPr/>
          <p:nvPr/>
        </p:nvSpPr>
        <p:spPr>
          <a:xfrm>
            <a:off x="1287315" y="2675930"/>
            <a:ext cx="2126866" cy="146116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01" name="Shape 201"/>
          <p:cNvSpPr/>
          <p:nvPr/>
        </p:nvSpPr>
        <p:spPr>
          <a:xfrm>
            <a:off x="3460821" y="2667496"/>
            <a:ext cx="2190437" cy="150184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02" name="Shape 202"/>
          <p:cNvSpPr txBox="1"/>
          <p:nvPr/>
        </p:nvSpPr>
        <p:spPr>
          <a:xfrm>
            <a:off x="1328875" y="4137100"/>
            <a:ext cx="4847100" cy="373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coast		size 512*763	Comput. time = 43s</a:t>
            </a:r>
          </a:p>
        </p:txBody>
      </p:sp>
      <p:sp>
        <p:nvSpPr>
          <p:cNvPr id="203" name="Shape 203"/>
          <p:cNvSpPr/>
          <p:nvPr/>
        </p:nvSpPr>
        <p:spPr>
          <a:xfrm>
            <a:off x="5767488" y="1918257"/>
            <a:ext cx="2793539" cy="2327286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04" name="Shape 204"/>
          <p:cNvSpPr/>
          <p:nvPr/>
        </p:nvSpPr>
        <p:spPr>
          <a:xfrm>
            <a:off x="1337966" y="4897571"/>
            <a:ext cx="2192829" cy="1587328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205" name="Shape 205"/>
          <p:cNvSpPr/>
          <p:nvPr/>
        </p:nvSpPr>
        <p:spPr>
          <a:xfrm>
            <a:off x="3530796" y="4889353"/>
            <a:ext cx="2144900" cy="1595546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206" name="Shape 206"/>
          <p:cNvSpPr/>
          <p:nvPr/>
        </p:nvSpPr>
        <p:spPr>
          <a:xfrm>
            <a:off x="5717809" y="4425964"/>
            <a:ext cx="2793432" cy="2281200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207" name="Shape 207"/>
          <p:cNvSpPr txBox="1"/>
          <p:nvPr/>
        </p:nvSpPr>
        <p:spPr>
          <a:xfrm>
            <a:off x="1328875" y="6408000"/>
            <a:ext cx="4847100" cy="373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forest	size 400*556	Comput. time = 24s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13" name="Shape 213"/>
          <p:cNvSpPr/>
          <p:nvPr/>
        </p:nvSpPr>
        <p:spPr>
          <a:xfrm>
            <a:off x="74348" y="4487894"/>
            <a:ext cx="2906368" cy="240118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14" name="Shape 214"/>
          <p:cNvSpPr/>
          <p:nvPr/>
        </p:nvSpPr>
        <p:spPr>
          <a:xfrm>
            <a:off x="3123081" y="4440966"/>
            <a:ext cx="2901619" cy="241698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15" name="Shape 215"/>
          <p:cNvSpPr/>
          <p:nvPr/>
        </p:nvSpPr>
        <p:spPr>
          <a:xfrm>
            <a:off x="6063563" y="4411694"/>
            <a:ext cx="2964309" cy="242090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16" name="Shape 216"/>
          <p:cNvSpPr txBox="1">
            <a:spLocks noGrp="1"/>
          </p:cNvSpPr>
          <p:nvPr>
            <p:ph type="body" idx="1"/>
          </p:nvPr>
        </p:nvSpPr>
        <p:spPr>
          <a:xfrm>
            <a:off x="1069873" y="1817937"/>
            <a:ext cx="6298499" cy="17957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480"/>
              </a:spcBef>
              <a:buNone/>
            </a:pPr>
            <a:r>
              <a:rPr lang="en" sz="1800" b="1">
                <a:solidFill>
                  <a:srgbClr val="000000"/>
                </a:solidFill>
              </a:rPr>
              <a:t>Step 4</a:t>
            </a:r>
            <a:r>
              <a:rPr lang="en" sz="1800">
                <a:solidFill>
                  <a:srgbClr val="000000"/>
                </a:solidFill>
              </a:rPr>
              <a:t>: Compare results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Flower: peaks equally distributed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Coast: flat, mostly high values ~255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Forest: flat but higher, mostly low and high values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1079826" y="4148225"/>
            <a:ext cx="1473899" cy="4572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>
              <a:buNone/>
            </a:pPr>
            <a:r>
              <a:rPr lang="en"/>
              <a:t>Flower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x="3917801" y="4148225"/>
            <a:ext cx="1473899" cy="4572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Coast</a:t>
            </a:r>
          </a:p>
        </p:txBody>
      </p:sp>
      <p:sp>
        <p:nvSpPr>
          <p:cNvPr id="219" name="Shape 219"/>
          <p:cNvSpPr txBox="1"/>
          <p:nvPr/>
        </p:nvSpPr>
        <p:spPr>
          <a:xfrm>
            <a:off x="6895176" y="4148225"/>
            <a:ext cx="1473899" cy="4572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Forest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25" name="Shape 225"/>
          <p:cNvSpPr/>
          <p:nvPr/>
        </p:nvSpPr>
        <p:spPr>
          <a:xfrm>
            <a:off x="4427089" y="1670900"/>
            <a:ext cx="2284229" cy="153234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26" name="Shape 226"/>
          <p:cNvSpPr/>
          <p:nvPr/>
        </p:nvSpPr>
        <p:spPr>
          <a:xfrm>
            <a:off x="2105200" y="1682986"/>
            <a:ext cx="2258785" cy="150817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27" name="Shape 227"/>
          <p:cNvSpPr/>
          <p:nvPr/>
        </p:nvSpPr>
        <p:spPr>
          <a:xfrm>
            <a:off x="6804884" y="1670900"/>
            <a:ext cx="2104010" cy="151506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28" name="Shape 228"/>
          <p:cNvSpPr/>
          <p:nvPr/>
        </p:nvSpPr>
        <p:spPr>
          <a:xfrm>
            <a:off x="3993845" y="4197675"/>
            <a:ext cx="3038475" cy="203835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229" name="Shape 229"/>
          <p:cNvSpPr txBox="1"/>
          <p:nvPr/>
        </p:nvSpPr>
        <p:spPr>
          <a:xfrm>
            <a:off x="815745" y="2021225"/>
            <a:ext cx="1062299" cy="6843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algn="ctr">
              <a:buNone/>
            </a:pPr>
            <a:r>
              <a:rPr lang="en"/>
              <a:t>TRAININGIMAGES</a:t>
            </a:r>
          </a:p>
        </p:txBody>
      </p:sp>
      <p:sp>
        <p:nvSpPr>
          <p:cNvPr id="230" name="Shape 230"/>
          <p:cNvSpPr txBox="1"/>
          <p:nvPr/>
        </p:nvSpPr>
        <p:spPr>
          <a:xfrm>
            <a:off x="1463614" y="5017800"/>
            <a:ext cx="1910700" cy="3980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buNone/>
            </a:pPr>
            <a:r>
              <a:rPr lang="en"/>
              <a:t>TEST IMAGE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5233198" y="3992650"/>
            <a:ext cx="3501899" cy="22695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/>
              <a:t>Errors (average mean distance):</a:t>
            </a:r>
          </a:p>
          <a:p>
            <a:pPr lvl="0" rtl="0">
              <a:buNone/>
            </a:pPr>
            <a:r>
              <a:rPr lang="en" sz="800"/>
              <a:t> </a:t>
            </a:r>
          </a:p>
          <a:p>
            <a:pPr lvl="0" rtl="0">
              <a:buNone/>
            </a:pPr>
            <a:r>
              <a:rPr lang="en" sz="1800"/>
              <a:t>	     With flower: 	203</a:t>
            </a:r>
          </a:p>
          <a:p>
            <a:pPr lvl="0" rtl="0">
              <a:buNone/>
            </a:pPr>
            <a:r>
              <a:rPr lang="en" sz="600"/>
              <a:t>	</a:t>
            </a:r>
          </a:p>
          <a:p>
            <a:pPr lvl="0" indent="457200" rtl="0">
              <a:buNone/>
            </a:pPr>
            <a:r>
              <a:rPr lang="en" sz="1800"/>
              <a:t>     With coast:	227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	     With forest: 	201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... not very good...</a:t>
            </a:r>
          </a:p>
          <a:p>
            <a:endParaRPr lang="en" sz="1800"/>
          </a:p>
          <a:p>
            <a:endParaRPr lang="en" sz="1800"/>
          </a:p>
        </p:txBody>
      </p:sp>
      <p:sp>
        <p:nvSpPr>
          <p:cNvPr id="237" name="Shape 237"/>
          <p:cNvSpPr txBox="1"/>
          <p:nvPr/>
        </p:nvSpPr>
        <p:spPr>
          <a:xfrm>
            <a:off x="1495881" y="3663563"/>
            <a:ext cx="1991700" cy="4055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buNone/>
            </a:pPr>
            <a:r>
              <a:rPr lang="en"/>
              <a:t>TRAINING IMAGES</a:t>
            </a:r>
          </a:p>
        </p:txBody>
      </p:sp>
      <p:sp>
        <p:nvSpPr>
          <p:cNvPr id="238" name="Shape 238"/>
          <p:cNvSpPr txBox="1"/>
          <p:nvPr/>
        </p:nvSpPr>
        <p:spPr>
          <a:xfrm>
            <a:off x="3906870" y="6262150"/>
            <a:ext cx="1910700" cy="3980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buNone/>
            </a:pPr>
            <a:r>
              <a:rPr lang="en"/>
              <a:t>TEST IMAGE</a:t>
            </a:r>
          </a:p>
        </p:txBody>
      </p:sp>
      <p:sp>
        <p:nvSpPr>
          <p:cNvPr id="239" name="Shape 239"/>
          <p:cNvSpPr/>
          <p:nvPr/>
        </p:nvSpPr>
        <p:spPr>
          <a:xfrm>
            <a:off x="1202860" y="1864153"/>
            <a:ext cx="2577741" cy="174187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40" name="Shape 240"/>
          <p:cNvSpPr/>
          <p:nvPr/>
        </p:nvSpPr>
        <p:spPr>
          <a:xfrm>
            <a:off x="3906870" y="1830111"/>
            <a:ext cx="2573529" cy="175333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41" name="Shape 241"/>
          <p:cNvSpPr/>
          <p:nvPr/>
        </p:nvSpPr>
        <p:spPr>
          <a:xfrm>
            <a:off x="6514868" y="1808876"/>
            <a:ext cx="2629131" cy="175617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42" name="Shape 242"/>
          <p:cNvSpPr txBox="1"/>
          <p:nvPr/>
        </p:nvSpPr>
        <p:spPr>
          <a:xfrm>
            <a:off x="2094648" y="1617750"/>
            <a:ext cx="1307099" cy="331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Flower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4611730" y="1617750"/>
            <a:ext cx="1307099" cy="331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Coast</a:t>
            </a:r>
          </a:p>
        </p:txBody>
      </p:sp>
      <p:sp>
        <p:nvSpPr>
          <p:cNvPr id="244" name="Shape 244"/>
          <p:cNvSpPr txBox="1"/>
          <p:nvPr/>
        </p:nvSpPr>
        <p:spPr>
          <a:xfrm>
            <a:off x="7252450" y="1617750"/>
            <a:ext cx="1307099" cy="331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Forest</a:t>
            </a:r>
          </a:p>
        </p:txBody>
      </p:sp>
      <p:sp>
        <p:nvSpPr>
          <p:cNvPr id="245" name="Shape 245"/>
          <p:cNvSpPr/>
          <p:nvPr/>
        </p:nvSpPr>
        <p:spPr>
          <a:xfrm>
            <a:off x="1354875" y="4469500"/>
            <a:ext cx="2676525" cy="219075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1069873" y="1817937"/>
            <a:ext cx="7831799" cy="26321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>
                <a:solidFill>
                  <a:srgbClr val="000000"/>
                </a:solidFill>
              </a:rPr>
              <a:t>Ideas for future...</a:t>
            </a:r>
          </a:p>
          <a:p>
            <a:endParaRPr lang="en" sz="1800">
              <a:solidFill>
                <a:srgbClr val="000000"/>
              </a:solidFill>
            </a:endParaRPr>
          </a:p>
          <a:p>
            <a:pPr marL="457200" lvl="0" indent="-419100" rtl="0">
              <a:buClr>
                <a:schemeClr val="lt2"/>
              </a:buClr>
              <a:buSzPct val="277777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Try to "blur", or "average" a bit the CT images.</a:t>
            </a:r>
          </a:p>
          <a:p>
            <a:pPr marL="457200" lvl="0" indent="-419100" rtl="0">
              <a:buClr>
                <a:schemeClr val="lt2"/>
              </a:buClr>
              <a:buSzPct val="277777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Try with another measure of distance for comparison</a:t>
            </a:r>
          </a:p>
          <a:p>
            <a:pPr marL="457200" lvl="0" indent="-419100" rtl="0">
              <a:buClr>
                <a:schemeClr val="lt2"/>
              </a:buClr>
              <a:buSzPct val="277777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Try another way of coding loop call to compare function if possible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body" idx="1"/>
          </p:nvPr>
        </p:nvSpPr>
        <p:spPr>
          <a:xfrm>
            <a:off x="776798" y="2361112"/>
            <a:ext cx="7831799" cy="49881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buNone/>
            </a:pPr>
            <a:r>
              <a:rPr lang="en" sz="4800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Piter: </a:t>
            </a:r>
          </a:p>
          <a:p>
            <a:pPr lvl="0" algn="ctr" rtl="0">
              <a:buNone/>
            </a:pPr>
            <a:r>
              <a:rPr lang="en" sz="48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</a:t>
            </a:r>
          </a:p>
          <a:p>
            <a:pPr lvl="0" algn="ctr" rtl="0">
              <a:buNone/>
            </a:pPr>
            <a:r>
              <a:rPr lang="en" sz="48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 descriptor</a:t>
            </a:r>
            <a:r>
              <a:rPr lang="en" sz="4800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>
            <a:spLocks noGrp="1"/>
          </p:cNvSpPr>
          <p:nvPr>
            <p:ph type="body" idx="1"/>
          </p:nvPr>
        </p:nvSpPr>
        <p:spPr>
          <a:xfrm>
            <a:off x="662700" y="1600200"/>
            <a:ext cx="8405100" cy="5370671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just" rtl="0">
              <a:buNone/>
            </a:pPr>
            <a:r>
              <a:rPr lang="en" sz="1600" b="1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Algorithm Background: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A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distance measure between two histograms has applications in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: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feature selection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image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indexing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retrieval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pattern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classification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- clustering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. </a:t>
            </a:r>
            <a:endParaRPr lang="en" sz="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endParaRPr lang="en" sz="6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We propose a distance between sets of measurement values as a measure of dissimilarity  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of two histograms with three versions of the univariate histogram, such as: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nominal</a:t>
            </a:r>
          </a:p>
          <a:p>
            <a:pPr lvl="0" algn="just" rtl="0">
              <a:buNone/>
            </a:pP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- ordinal</a:t>
            </a:r>
          </a:p>
          <a:p>
            <a:pPr lvl="0" algn="just" rtl="0">
              <a:buNone/>
            </a:pP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- modulo</a:t>
            </a:r>
          </a:p>
          <a:p>
            <a:pPr lvl="0" algn="just" rtl="0">
              <a:buNone/>
            </a:pPr>
            <a:endParaRPr lang="en" sz="6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Their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computational time complexities are 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Θ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(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b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), 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Θ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(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b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) and 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O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(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b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2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)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where 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b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is the number of levels in histograms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.</a:t>
            </a:r>
            <a:endParaRPr lang="en" sz="1800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262" name="Shape 262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700397" y="1768908"/>
            <a:ext cx="8405100" cy="472434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just" rtl="0">
              <a:buNone/>
            </a:pPr>
            <a:r>
              <a:rPr lang="en" sz="1600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Formulating Algorithm - Image </a:t>
            </a:r>
            <a:r>
              <a:rPr lang="en" sz="1600" b="1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Representation: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In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this section we describe the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: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color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feature 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spaces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texture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feature spaces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representation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of distributions (in these spaces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).</a:t>
            </a:r>
          </a:p>
          <a:p>
            <a:pPr lvl="0" algn="just" rtl="0">
              <a:buNone/>
            </a:pPr>
            <a:endParaRPr lang="en" sz="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b="1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Color: 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the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perceived differences between individual nearby colors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implement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the Euclidean distances between the color coordinates.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endParaRPr lang="en" sz="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b="1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Texture</a:t>
            </a:r>
            <a:r>
              <a:rPr lang="en" sz="1800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: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Color is a purely pointwise property of images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;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involves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a notion of spatial extent, a single point has no texture.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Frequency-domain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texture descriptors refer instead to the 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frequency;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content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in a local neighborhood of the point. 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body" idx="1"/>
          </p:nvPr>
        </p:nvSpPr>
        <p:spPr>
          <a:xfrm>
            <a:off x="700397" y="1710958"/>
            <a:ext cx="8405100" cy="4770506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0" lvl="0" indent="0" algn="just">
              <a:spcBef>
                <a:spcPts val="0"/>
              </a:spcBef>
              <a:buNone/>
            </a:pPr>
            <a:r>
              <a:rPr lang="en" sz="18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Representation &amp; Distributions: 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appearance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region </a:t>
            </a: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described: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the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of </a:t>
            </a: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individual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vectors.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endParaRPr lang="en" sz="18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Histograms used as: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non–parametric estimators of empirical feature distributions. </a:t>
            </a:r>
          </a:p>
          <a:p>
            <a:endParaRPr lang="en" sz="1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Issues:</a:t>
            </a:r>
          </a:p>
          <a:p>
            <a:pPr marL="21590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high–dimensional feature spaces a regular binning results in poor performance; </a:t>
            </a:r>
          </a:p>
          <a:p>
            <a:pPr marL="21590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coarse binning dulls resolving power</a:t>
            </a:r>
          </a:p>
          <a:p>
            <a:pPr marL="21590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fine binning leads to statistically insignificant sample sizes for most bins. </a:t>
            </a:r>
          </a:p>
          <a:p>
            <a:endParaRPr lang="en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partial solution is offered by :</a:t>
            </a:r>
          </a:p>
          <a:p>
            <a:pPr marL="21590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adaptive binning, whereby the histogram bins are adapted to the distribution. </a:t>
            </a:r>
          </a:p>
          <a:p>
            <a:pPr marL="21590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The binning is induced by a set of </a:t>
            </a: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prototypes.</a:t>
            </a:r>
            <a:endParaRPr lang="en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Shape 274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748301" y="5562600"/>
            <a:ext cx="2714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Shape 28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0397" y="1676400"/>
                <a:ext cx="8405100" cy="5072962"/>
              </a:xfrm>
              <a:prstGeom prst="rect">
                <a:avLst/>
              </a:prstGeom>
            </p:spPr>
            <p:txBody>
              <a:bodyPr lIns="91425" tIns="91425" rIns="91425" bIns="91425" anchor="t" anchorCtr="0">
                <a:spAutoFit/>
              </a:bodyPr>
              <a:lstStyle/>
              <a:p>
                <a:pPr marL="215900" lvl="0" indent="0" algn="just" rtl="0"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Adaptive histograms are defined by:</a:t>
                </a:r>
              </a:p>
              <a:p>
                <a:pPr marL="215900" lvl="0" indent="0" algn="just" rtl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" sz="1600" i="1" dirty="0" smtClean="0">
                        <a:solidFill>
                          <a:srgbClr val="000000"/>
                        </a:solidFill>
                        <a:latin typeface="Cambria Math"/>
                        <a:ea typeface="Corsiva"/>
                        <a:cs typeface="Corsiva"/>
                        <a:sym typeface="Corsiva"/>
                      </a:rPr>
                      <m:t>𝑓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(i;I)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" sz="16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: </m:t>
                            </m:r>
                            <m:r>
                              <m:rPr>
                                <m:nor/>
                              </m:rPr>
                              <a:rPr lang="en-US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 = 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arg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min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 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en" sz="1600" i="1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" sz="1600" dirty="0">
                                    <a:solidFill>
                                      <a:srgbClr val="000000"/>
                                    </a:solidFill>
                                    <a:latin typeface="Times New Roman" pitchFamily="18" charset="0"/>
                                    <a:ea typeface="Times New Roman"/>
                                    <a:cs typeface="Times New Roman" pitchFamily="18" charset="0"/>
                                    <a:sym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" sz="1600" dirty="0">
                                    <a:solidFill>
                                      <a:srgbClr val="000000"/>
                                    </a:solidFill>
                                    <a:latin typeface="Times New Roman" pitchFamily="18" charset="0"/>
                                    <a:ea typeface="Times New Roman"/>
                                    <a:cs typeface="Times New Roman" pitchFamily="18" charset="0"/>
                                    <a:sym typeface="Times New Roman"/>
                                  </a:rPr>
                                  <m:t> </m:t>
                                </m:r>
                                <m:r>
                                  <a:rPr lang="en-US" sz="16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" sz="16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cs typeface="Times New Roman"/>
                                        <a:sym typeface="Times New Roman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" sz="1600" dirty="0">
                                    <a:solidFill>
                                      <a:srgbClr val="000000"/>
                                    </a:solidFill>
                                    <a:latin typeface="Times New Roman" pitchFamily="18" charset="0"/>
                                    <a:ea typeface="Times New Roman"/>
                                    <a:cs typeface="Times New Roman" pitchFamily="18" charset="0"/>
                                    <a:sym typeface="Times New Roman"/>
                                  </a:rPr>
                                  <m:t>) – </m:t>
                                </m:r>
                                <m:r>
                                  <m:rPr>
                                    <m:nor/>
                                  </m:rPr>
                                  <a:rPr lang="en" sz="1600" dirty="0">
                                    <a:solidFill>
                                      <a:srgbClr val="000000"/>
                                    </a:solidFill>
                                    <a:latin typeface="Times New Roman" pitchFamily="18" charset="0"/>
                                    <a:ea typeface="Times New Roman"/>
                                    <a:cs typeface="Times New Roman" pitchFamily="18" charset="0"/>
                                    <a:sym typeface="Times New Roman"/>
                                  </a:rPr>
                                  <m:t>Cj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 </a:t>
                </a:r>
              </a:p>
              <a:p>
                <a:pPr marL="215900" lvl="0" indent="0" algn="just"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- Here I(x) denotes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the feature vector at image location. </a:t>
                </a:r>
                <a:endParaRPr lang="en" sz="1600" dirty="0" smtClean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215900" lvl="0" indent="0" algn="just"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- The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histogram entry </a:t>
                </a:r>
                <a14:m>
                  <m:oMath xmlns:m="http://schemas.openxmlformats.org/officeDocument/2006/math">
                    <m:r>
                      <a:rPr lang="en" sz="1600" i="1" dirty="0">
                        <a:solidFill>
                          <a:srgbClr val="000000"/>
                        </a:solidFill>
                        <a:latin typeface="Cambria Math"/>
                        <a:ea typeface="Corsiva"/>
                        <a:cs typeface="Corsiva"/>
                        <a:sym typeface="Corsiva"/>
                      </a:rPr>
                      <m:t>𝑓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(i;I)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corresponds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to the number of image pixels in bin i. </a:t>
                </a:r>
                <a:endParaRPr lang="en" sz="1600" dirty="0" smtClean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215900" lvl="0" indent="0" algn="just">
                  <a:spcBef>
                    <a:spcPts val="0"/>
                  </a:spcBef>
                  <a:buNone/>
                </a:pPr>
                <a:endParaRPr lang="en" sz="800" dirty="0" smtClean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215900" lvl="0" indent="0" algn="just">
                  <a:spcBef>
                    <a:spcPts val="0"/>
                  </a:spcBef>
                  <a:buNone/>
                </a:pPr>
                <a:endParaRPr lang="en" sz="800" dirty="0" smtClean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215900" lvl="0" indent="0" algn="just"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We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restrict the notation to complete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images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for convenience. </a:t>
                </a:r>
                <a:endParaRPr lang="en" sz="1600" dirty="0" smtClean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215900" lvl="0" indent="0" algn="just" rtl="0">
                  <a:spcBef>
                    <a:spcPts val="0"/>
                  </a:spcBef>
                  <a:buClr>
                    <a:srgbClr val="000000"/>
                  </a:buClr>
                  <a:buSzPct val="61111"/>
                  <a:buFont typeface="Arial"/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This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adaptation to image regions as needed for segmentation is straightforward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.</a:t>
                </a:r>
              </a:p>
              <a:p>
                <a:pPr marL="215900" lvl="0" indent="0" algn="just" rtl="0">
                  <a:spcBef>
                    <a:spcPts val="0"/>
                  </a:spcBef>
                  <a:buClr>
                    <a:srgbClr val="000000"/>
                  </a:buClr>
                  <a:buSzPct val="61111"/>
                  <a:buFont typeface="Arial"/>
                  <a:buNone/>
                </a:pPr>
                <a:endParaRPr lang="en" sz="800" dirty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0" indent="0"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Issues: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-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information about the joint occurrence of feature coefficients in the different dimensions is lost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- bin contents in the marginals may be significant, those in the full distribution are too sparse. </a:t>
                </a:r>
              </a:p>
              <a:p>
                <a:pPr marL="215900" lvl="0" indent="0" algn="just" rtl="0">
                  <a:spcBef>
                    <a:spcPts val="0"/>
                  </a:spcBef>
                  <a:buNone/>
                </a:pPr>
                <a:endParaRPr lang="en" sz="8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indent="0"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Partial Solutions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   - For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small sample sizes it may be better to estimate solely marginal histograms</a:t>
                </a:r>
                <a:endParaRPr lang="en" sz="1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marginal histograms of the coefficients in feature dimension rare given by: </a:t>
                </a:r>
                <a:endParaRPr lang="en" sz="16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indent="0" algn="just"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</a:t>
                </a:r>
                <a14:m>
                  <m:oMath xmlns:m="http://schemas.openxmlformats.org/officeDocument/2006/math">
                    <m:r>
                      <a:rPr lang="en" sz="1600" i="1" dirty="0">
                        <a:solidFill>
                          <a:srgbClr val="000000"/>
                        </a:solidFill>
                        <a:latin typeface="Cambria Math"/>
                        <a:ea typeface="Corsiva"/>
                        <a:cs typeface="Corsiva"/>
                        <a:sym typeface="Corsiva"/>
                      </a:rPr>
                      <m:t>𝑓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(i;I) =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" sz="16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: </m:t>
                            </m:r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sup>
                            </m:sSubSup>
                            <m:r>
                              <m:rPr>
                                <m:nor/>
                              </m:rPr>
                              <a:rPr lang="en-US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&lt;  </m:t>
                            </m:r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</m:e>
                              <m:sub/>
                              <m:sup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sup>
                            </m:sSubSup>
                            <m:r>
                              <a:rPr lang="en-US" sz="16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 (</m:t>
                            </m:r>
                            <m:acc>
                              <m:accPr>
                                <m:chr m:val="⃗"/>
                                <m:ctrlPr>
                                  <a:rPr lang="en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 ≤   </m:t>
                            </m:r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endParaRPr lang="en" sz="1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-Here, bin is defined as the feature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interval 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en" sz="18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𝑟</m:t>
                            </m:r>
                          </m:sup>
                        </m:sSub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</m:t>
                        </m:r>
                      </m:e>
                    </m:d>
                    <m:d>
                      <m:dPr>
                        <m:begChr m:val=""/>
                        <m:endChr m:val="]"/>
                        <m:ctrlPr>
                          <a:rPr lang="en" sz="18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𝑟</m:t>
                            </m:r>
                          </m:sup>
                        </m:sSubSup>
                      </m:e>
                    </m:d>
                  </m:oMath>
                </a14:m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 lang="en" sz="1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indent="0" algn="just">
                  <a:spcBef>
                    <a:spcPts val="0"/>
                  </a:spcBef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The cumulative histogram for marginal histograms is defined as </a:t>
                </a:r>
                <a14:m>
                  <m:oMath xmlns:m="http://schemas.openxmlformats.org/officeDocument/2006/math">
                    <m:r>
                      <a:rPr lang="en" sz="1600" i="1" dirty="0">
                        <a:solidFill>
                          <a:srgbClr val="000000"/>
                        </a:solidFill>
                        <a:latin typeface="Cambria Math"/>
                        <a:ea typeface="Corsiva"/>
                        <a:cs typeface="Corsiva"/>
                        <a:sym typeface="Corsiva"/>
                      </a:rPr>
                      <m:t>𝑓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(i;I) =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" sz="16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:</m:t>
                            </m:r>
                            <m:r>
                              <m:rPr>
                                <m:nor/>
                              </m:rPr>
                              <a:rPr lang="en-US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</m:e>
                              <m:sub/>
                              <m:sup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sup>
                            </m:sSubSup>
                            <m:r>
                              <a:rPr lang="en-US" sz="16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 (</m:t>
                            </m:r>
                            <m:acc>
                              <m:accPr>
                                <m:chr m:val="⃗"/>
                                <m:ctrlPr>
                                  <a:rPr lang="en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 ≤   </m:t>
                            </m:r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80" name="Shape 28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397" y="1676400"/>
                <a:ext cx="8405100" cy="5072962"/>
              </a:xfrm>
              <a:prstGeom prst="rect">
                <a:avLst/>
              </a:prstGeom>
              <a:blipFill rotWithShape="1">
                <a:blip r:embed="rId3"/>
                <a:stretch>
                  <a:fillRect l="-435" b="-4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Shape 281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Shape 28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0397" y="1600200"/>
                <a:ext cx="8405100" cy="5323350"/>
              </a:xfrm>
              <a:prstGeom prst="rect">
                <a:avLst/>
              </a:prstGeom>
            </p:spPr>
            <p:txBody>
              <a:bodyPr lIns="91425" tIns="91425" rIns="91425" bIns="91425" anchor="t" anchorCtr="0">
                <a:spAutoFit/>
              </a:bodyPr>
              <a:lstStyle/>
              <a:p>
                <a:pPr marL="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Implementing Dissimilarity Measures:</a:t>
                </a:r>
              </a:p>
              <a:p>
                <a:pPr marL="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D(I;J) denotes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dissimilarity measure between the images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 and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J. </a:t>
                </a:r>
                <a:endParaRPr lang="en" sz="16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pPr>
                      <m:e>
                        <m:r>
                          <a:rPr lang="en" sz="1600" b="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𝐷</m:t>
                        </m:r>
                      </m:e>
                      <m:sup>
                        <m:r>
                          <a:rPr lang="en" sz="1600" b="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𝑟</m:t>
                        </m:r>
                      </m:sup>
                    </m:sSup>
                    <m:r>
                      <a:rPr lang="en" sz="1600" b="0" i="1" dirty="0" smtClean="0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I;J), the respective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measure is applied only to the marginal distributions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 dimension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</a:p>
              <a:p>
                <a:pPr marL="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endParaRPr lang="en" sz="8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We </a:t>
                </a: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distinguish the following four categories of dissimilarity measures: </a:t>
                </a:r>
              </a:p>
              <a:p>
                <a:pPr marL="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1 - Heuristic </a:t>
                </a: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histogram distances have been proposed mostly in the context of image retrieval: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i) The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Minkowski-form distance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Lp is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defined by: </a:t>
                </a:r>
                <a:endParaRPr lang="en" sz="16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sz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− 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D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(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I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;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J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) = </m:t>
                      </m:r>
                      <m:sSup>
                        <m:sSupPr>
                          <m:ctrlPr>
                            <a:rPr lang="en" sz="120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/>
                              <a:sym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" sz="1200" i="1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Times New Roman"/>
                                  <a:sym typeface="Times New Roman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" sz="12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Times New Roman"/>
                                      <a:sym typeface="Times New Roman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200" b="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Times New Roman"/>
                                      <a:sym typeface="Times New Roman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" sz="12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cs typeface="Times New Roman"/>
                                          <a:sym typeface="Times New Roman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" sz="12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cs typeface="Times New Roman"/>
                                              <a:sym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" sz="1200" b="0" i="1" dirty="0">
                                              <a:solidFill>
                                                <a:srgbClr val="2E2E2E"/>
                                              </a:solidFill>
                                              <a:latin typeface="Cambria Math"/>
                                              <a:ea typeface="Corsiva"/>
                                              <a:cs typeface="Corsiva"/>
                                              <a:sym typeface="Corsiva"/>
                                            </a:rPr>
                                            <m:t>𝑓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;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) − </m:t>
                                          </m:r>
                                          <m:r>
                                            <a:rPr lang="en" sz="1200" b="0" i="1" dirty="0">
                                              <a:solidFill>
                                                <a:srgbClr val="2E2E2E"/>
                                              </a:solidFill>
                                              <a:latin typeface="Cambria Math"/>
                                              <a:ea typeface="Corsiva"/>
                                              <a:cs typeface="Corsiva"/>
                                              <a:sym typeface="Corsiva"/>
                                            </a:rPr>
                                            <m:t>𝑓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;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200" b="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cs typeface="Times New Roman"/>
                                          <a:sym typeface="Times New Roman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/>
                              <a:sym typeface="Times New Roman"/>
                            </a:rPr>
                            <m:t>1/</m:t>
                          </m:r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/>
                              <a:sym typeface="Times New Roman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1200" dirty="0" smtClean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endParaRPr>
              </a:p>
              <a:p>
                <a:pPr marL="21590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</a:t>
                </a: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L1 Distance has been proposed for:</a:t>
                </a: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computing the dissimilarity scores between color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images</a:t>
                </a:r>
                <a:endParaRPr lang="en" sz="1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texture dissimilarity </a:t>
                </a: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Histogram Intersection (HI), 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to provide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generalization of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L1 to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partial matches. </a:t>
                </a:r>
                <a:endParaRPr lang="en" sz="16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(ii) The Weighted–Mean–Variance (WMV) has been </a:t>
                </a: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proposed, the </a:t>
                </a: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distance is defined </a:t>
                </a: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by: 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pPr>
                      <m:e>
                        <m:r>
                          <a:rPr lang="en" sz="160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𝐷</m:t>
                        </m:r>
                      </m:e>
                      <m:sup>
                        <m:r>
                          <a:rPr lang="en" sz="160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𝑟</m:t>
                        </m:r>
                      </m:sup>
                    </m:sSup>
                    <m:r>
                      <a:rPr lang="en" sz="1600" i="1" dirty="0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(I;J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) </a:t>
                </a: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" sz="16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µ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𝑰</m:t>
                                </m:r>
                              </m:e>
                            </m:d>
                            <m:r>
                              <a:rPr lang="en-US" sz="1600" b="1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µ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𝑱</m:t>
                                </m:r>
                              </m:e>
                            </m:d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" sz="16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 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l-GR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σ</m:t>
                            </m:r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 (</m:t>
                            </m:r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µ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 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1600" b="1" i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" sz="1600" b="1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𝑰</m:t>
                                </m:r>
                              </m:e>
                            </m:d>
                            <m:r>
                              <a:rPr lang="en-US" sz="1600" b="1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𝑱</m:t>
                                </m:r>
                              </m:e>
                            </m:d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" sz="16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 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l-GR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σ</m:t>
                            </m:r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 (</m:t>
                            </m:r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 </m:t>
                            </m:r>
                          </m:sub>
                        </m:sSub>
                      </m:den>
                    </m:f>
                  </m:oMath>
                </a14:m>
                <a:endParaRPr lang="en" sz="1600" b="1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" sz="1600" b="1" dirty="0">
                            <a:solidFill>
                              <a:srgbClr val="000000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µ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𝑰</m:t>
                        </m:r>
                      </m:e>
                    </m:d>
                  </m:oMath>
                </a14:m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" sz="1600" b="1" dirty="0">
                            <a:solidFill>
                              <a:srgbClr val="000000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µ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𝑱</m:t>
                        </m:r>
                      </m:e>
                    </m:d>
                  </m:oMath>
                </a14:m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are </a:t>
                </a: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empirical means </a:t>
                </a:r>
                <a:endParaRPr lang="en" sz="1600" b="1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-US" sz="1600" b="1" dirty="0" smtClean="0">
                    <a:solidFill>
                      <a:srgbClr val="000000"/>
                    </a:solidFill>
                    <a:cs typeface="Times New Roman"/>
                    <a:sym typeface="Times New Roman"/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b="1" i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1600" b="1" dirty="0">
                            <a:solidFill>
                              <a:srgbClr val="000000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σ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𝑰</m:t>
                        </m:r>
                      </m:e>
                    </m:d>
                  </m:oMath>
                </a14:m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600" b="1" dirty="0">
                            <a:solidFill>
                              <a:srgbClr val="000000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σ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𝑱</m:t>
                        </m:r>
                      </m:e>
                    </m:d>
                    <m:r>
                      <a:rPr lang="en-US" sz="1600" b="1" i="1">
                        <a:solidFill>
                          <a:srgbClr val="000000"/>
                        </a:solidFill>
                        <a:latin typeface="Cambria Math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standard deviations of the distributions</a:t>
                </a: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 lang="en" sz="16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 xmlns="">
          <p:sp>
            <p:nvSpPr>
              <p:cNvPr id="286" name="Shape 28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397" y="1600200"/>
                <a:ext cx="8405100" cy="5323350"/>
              </a:xfrm>
              <a:prstGeom prst="rect">
                <a:avLst/>
              </a:prstGeom>
              <a:blipFill rotWithShape="1">
                <a:blip r:embed="rId3"/>
                <a:stretch>
                  <a:fillRect l="-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" name="Shape 287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92" name="Shape 29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0397" y="1768908"/>
                <a:ext cx="8405100" cy="5312258"/>
              </a:xfrm>
              <a:prstGeom prst="rect">
                <a:avLst/>
              </a:prstGeom>
            </p:spPr>
            <p:txBody>
              <a:bodyPr lIns="91425" tIns="91425" rIns="91425" bIns="91425" anchor="t" anchorCtr="0">
                <a:spAutoFit/>
              </a:bodyPr>
              <a:lstStyle/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For Image Segmentation</a:t>
                </a:r>
                <a:endParaRPr lang="en" sz="20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(i) The </a:t>
                </a:r>
                <a:r>
                  <a:rPr lang="en" sz="20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Kolmogorov–Smirnov distance (KS) has been </a:t>
                </a: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proposed. </a:t>
                </a: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It </a:t>
                </a:r>
                <a:r>
                  <a:rPr lang="en" sz="20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is defined as the maximal discrepancy between the cumulative distributions.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sz="20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pPr>
                      <m:e>
                        <m:r>
                          <a:rPr lang="en" sz="2000" b="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𝐷</m:t>
                        </m:r>
                      </m:e>
                      <m:sup>
                        <m:r>
                          <a:rPr lang="en" sz="2000" b="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𝑟</m:t>
                        </m:r>
                      </m:sup>
                    </m:sSup>
                    <m:r>
                      <a:rPr lang="en" sz="2000" b="0" i="1" dirty="0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en" sz="20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(I;J) =</a:t>
                </a:r>
                <a:r>
                  <a:rPr lang="en" sz="20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sz="20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a:rPr lang="en" sz="2000" b="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𝑚𝑎𝑥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𝑖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" sz="2000" i="1" dirty="0" smtClean="0">
                            <a:solidFill>
                              <a:srgbClr val="2E2E2E"/>
                            </a:solidFill>
                            <a:latin typeface="Cambria Math"/>
                            <a:sym typeface="Corsiv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" sz="2000" i="1" dirty="0">
                                <a:solidFill>
                                  <a:srgbClr val="2E2E2E"/>
                                </a:solidFill>
                                <a:latin typeface="Cambria Math"/>
                                <a:sym typeface="Corsiva"/>
                              </a:rPr>
                            </m:ctrlPr>
                          </m:sSubPr>
                          <m:e>
                            <m:r>
                              <a:rPr lang="en" sz="2000" b="0" i="1" dirty="0">
                                <a:solidFill>
                                  <a:srgbClr val="2E2E2E"/>
                                </a:solidFill>
                                <a:latin typeface="Cambria Math"/>
                                <a:ea typeface="Corsiva"/>
                                <a:cs typeface="Corsiva"/>
                                <a:sym typeface="Corsiva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0" i="1" dirty="0">
                                <a:solidFill>
                                  <a:srgbClr val="2E2E2E"/>
                                </a:solidFill>
                                <a:latin typeface="Cambria Math"/>
                                <a:sym typeface="Corsiva"/>
                              </a:rPr>
                              <m:t>𝑟</m:t>
                            </m:r>
                          </m:sub>
                        </m:sSub>
                        <m:r>
                          <a:rPr lang="en" sz="2000" b="0" i="1" dirty="0">
                            <a:solidFill>
                              <a:srgbClr val="2E2E2E"/>
                            </a:solidFill>
                            <a:latin typeface="Cambria Math"/>
                            <a:ea typeface="Corsiva"/>
                            <a:cs typeface="Corsiva"/>
                            <a:sym typeface="Corsiva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;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) −</m:t>
                        </m:r>
                        <m:sSub>
                          <m:sSubPr>
                            <m:ctrlPr>
                              <a:rPr lang="en" sz="2000" i="1" dirty="0">
                                <a:solidFill>
                                  <a:srgbClr val="2E2E2E"/>
                                </a:solidFill>
                                <a:latin typeface="Cambria Math"/>
                                <a:sym typeface="Corsiva"/>
                              </a:rPr>
                            </m:ctrlPr>
                          </m:sSubPr>
                          <m:e>
                            <m:r>
                              <a:rPr lang="en" sz="2000" b="0" i="1" dirty="0">
                                <a:solidFill>
                                  <a:srgbClr val="2E2E2E"/>
                                </a:solidFill>
                                <a:latin typeface="Cambria Math"/>
                                <a:ea typeface="Corsiva"/>
                                <a:cs typeface="Corsiva"/>
                                <a:sym typeface="Corsiva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0" i="1" dirty="0">
                                <a:solidFill>
                                  <a:srgbClr val="2E2E2E"/>
                                </a:solidFill>
                                <a:latin typeface="Cambria Math"/>
                                <a:sym typeface="Corsiva"/>
                              </a:rPr>
                              <m:t>𝑟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;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) </m:t>
                        </m:r>
                      </m:e>
                    </m:d>
                  </m:oMath>
                </a14:m>
                <a:endParaRPr lang="en" sz="20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:r>
                  <a:rPr lang="en" sz="20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property to be invariant to arbitrary monotonic feature transformations.</a:t>
                </a:r>
              </a:p>
              <a:p>
                <a:endParaRPr lang="en" sz="20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(ii) A statistic of the Cramer/von Mises </a:t>
                </a: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(CvM) defined </a:t>
                </a:r>
                <a:r>
                  <a:rPr lang="en" sz="20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based on cumulative distributions</a:t>
                </a: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: </a:t>
                </a:r>
                <a:endParaRPr lang="en" sz="20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(iii)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sz="2000" b="1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pPr>
                      <m:e>
                        <m:r>
                          <a:rPr lang="en" sz="2000" b="1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𝑿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–statistic </a:t>
                </a:r>
                <a:r>
                  <a:rPr lang="en" sz="20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is given by </a:t>
                </a: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: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" sz="2000" i="1" dirty="0" smtClean="0">
                              <a:solidFill>
                                <a:srgbClr val="2E2E2E"/>
                              </a:solidFill>
                              <a:latin typeface="Cambria Math"/>
                              <a:cs typeface="Times New Roman"/>
                              <a:sym typeface="Times New Roman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" sz="2000" i="1" dirty="0" smtClean="0">
                                  <a:solidFill>
                                    <a:srgbClr val="2E2E2E"/>
                                  </a:solidFill>
                                  <a:latin typeface="Cambria Math"/>
                                  <a:cs typeface="Times New Roman"/>
                                  <a:sym typeface="Times New Roman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solidFill>
                                    <a:srgbClr val="2E2E2E"/>
                                  </a:solidFill>
                                  <a:latin typeface="Cambria Math"/>
                                  <a:cs typeface="Times New Roman"/>
                                  <a:sym typeface="Times New Roman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" sz="2000" i="1" dirty="0" smtClean="0">
                                      <a:solidFill>
                                        <a:srgbClr val="2E2E2E"/>
                                      </a:solidFill>
                                      <a:latin typeface="Cambria Math"/>
                                      <a:cs typeface="Times New Roman"/>
                                      <a:sym typeface="Times New Roman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" sz="2000" i="1" dirty="0">
                                          <a:solidFill>
                                            <a:srgbClr val="2E2E2E"/>
                                          </a:solidFill>
                                          <a:latin typeface="Cambria Math"/>
                                          <a:cs typeface="Times New Roman"/>
                                          <a:sym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" sz="2000" i="1" dirty="0">
                                          <a:solidFill>
                                            <a:srgbClr val="2E2E2E"/>
                                          </a:solidFill>
                                          <a:latin typeface="Cambria Math"/>
                                          <a:ea typeface="Corsiva"/>
                                          <a:cs typeface="Corsiva"/>
                                          <a:sym typeface="Corsiva"/>
                                        </a:rPr>
                                        <m:t>𝑓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;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) − </m:t>
                                      </m:r>
                                      <m:r>
                                        <a:rPr lang="en" sz="2000" i="1" dirty="0">
                                          <a:solidFill>
                                            <a:srgbClr val="2E2E2E"/>
                                          </a:solidFill>
                                          <a:latin typeface="Cambria Math"/>
                                          <a:ea typeface="Corsiva"/>
                                          <a:cs typeface="Corsiva"/>
                                          <a:sym typeface="Corsiva"/>
                                        </a:rPr>
                                        <m:t>𝑓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)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" sz="2000" i="1" dirty="0">
                                      <a:solidFill>
                                        <a:srgbClr val="2E2E2E"/>
                                      </a:solidFill>
                                      <a:latin typeface="Cambria Math"/>
                                      <a:ea typeface="Corsiva"/>
                                      <a:cs typeface="Corsiva"/>
                                      <a:sym typeface="Corsiva"/>
                                    </a:rPr>
                                    <m:t>𝑓</m:t>
                                  </m:r>
                                  <m:r>
                                    <m:rPr>
                                      <m:nor/>
                                    </m:rPr>
                                    <a:rPr lang="en" sz="2000" dirty="0">
                                      <a:solidFill>
                                        <a:srgbClr val="2E2E2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" sz="2000" dirty="0" smtClean="0">
                                      <a:solidFill>
                                        <a:srgbClr val="2E2E2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i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rgbClr val="2E2E2E"/>
                                      </a:solidFill>
                                      <a:latin typeface="Cambria Math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  <m:sup>
                          <m:r>
                            <a:rPr lang="en-US" sz="2000" b="0" i="1" dirty="0" smtClean="0">
                              <a:solidFill>
                                <a:srgbClr val="2E2E2E"/>
                              </a:solidFill>
                              <a:latin typeface="Cambria Math"/>
                              <a:cs typeface="Times New Roman"/>
                              <a:sym typeface="Times New Roman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" sz="2000" b="1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14:m>
                  <m:oMath xmlns:m="http://schemas.openxmlformats.org/officeDocument/2006/math">
                    <m:r>
                      <a:rPr lang="en" sz="2000" i="1" dirty="0">
                        <a:solidFill>
                          <a:srgbClr val="2E2E2E"/>
                        </a:solidFill>
                        <a:latin typeface="Cambria Math"/>
                        <a:ea typeface="Corsiva"/>
                        <a:cs typeface="Corsiva"/>
                        <a:sym typeface="Corsiva"/>
                      </a:rPr>
                      <m:t>𝑓</m:t>
                    </m:r>
                    <m:r>
                      <m:rPr>
                        <m:nor/>
                      </m:rPr>
                      <a:rPr lang="en" sz="2000" dirty="0">
                        <a:solidFill>
                          <a:srgbClr val="2E2E2E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m:t>(</m:t>
                    </m:r>
                    <m:r>
                      <m:rPr>
                        <m:nor/>
                      </m:rPr>
                      <a:rPr lang="en" sz="2000" dirty="0">
                        <a:solidFill>
                          <a:srgbClr val="2E2E2E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m:t>i</m:t>
                    </m:r>
                    <m:r>
                      <a:rPr lang="en-US" sz="2000" i="1" dirty="0">
                        <a:solidFill>
                          <a:srgbClr val="2E2E2E"/>
                        </a:solidFill>
                        <a:latin typeface="Cambria Math"/>
                        <a:ea typeface="Times New Roman"/>
                        <a:cs typeface="Times New Roman"/>
                        <a:sym typeface="Times New Roman"/>
                      </a:rPr>
                      <m:t>) </m:t>
                    </m:r>
                  </m:oMath>
                </a14:m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dirty="0">
                            <a:solidFill>
                              <a:srgbClr val="2E2E2E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" sz="2000" i="1" dirty="0">
                                <a:solidFill>
                                  <a:srgbClr val="2E2E2E"/>
                                </a:solidFill>
                                <a:latin typeface="Cambria Math"/>
                                <a:sym typeface="Corsiva"/>
                              </a:rPr>
                            </m:ctrlPr>
                          </m:dPr>
                          <m:e>
                            <m:r>
                              <a:rPr lang="en" sz="2000" i="1" dirty="0">
                                <a:solidFill>
                                  <a:srgbClr val="2E2E2E"/>
                                </a:solidFill>
                                <a:latin typeface="Cambria Math"/>
                                <a:ea typeface="Corsiva"/>
                                <a:cs typeface="Corsiva"/>
                                <a:sym typeface="Corsiva"/>
                              </a:rPr>
                              <m:t>𝑓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;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 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+ </m:t>
                            </m:r>
                            <m:r>
                              <a:rPr lang="en" sz="2000" i="1" dirty="0">
                                <a:solidFill>
                                  <a:srgbClr val="2E2E2E"/>
                                </a:solidFill>
                                <a:latin typeface="Cambria Math"/>
                                <a:ea typeface="Corsiva"/>
                                <a:cs typeface="Corsiva"/>
                                <a:sym typeface="Corsiva"/>
                              </a:rPr>
                              <m:t>𝑓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;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J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US" sz="2000" b="0" i="1" dirty="0" smtClean="0">
                            <a:solidFill>
                              <a:srgbClr val="2E2E2E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2</m:t>
                        </m:r>
                      </m:den>
                    </m:f>
                  </m:oMath>
                </a14:m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lang="en" sz="20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denotes the joint estimate. 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endParaRPr lang="en" sz="1600" b="1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>
          <p:sp>
            <p:nvSpPr>
              <p:cNvPr id="292" name="Shape 29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397" y="1768908"/>
                <a:ext cx="8405100" cy="5312258"/>
              </a:xfrm>
              <a:prstGeom prst="rect">
                <a:avLst/>
              </a:prstGeom>
              <a:blipFill rotWithShape="1">
                <a:blip r:embed="rId3"/>
                <a:stretch>
                  <a:fillRect r="-725" b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Shape 293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 txBox="1">
            <a:spLocks noGrp="1"/>
          </p:cNvSpPr>
          <p:nvPr>
            <p:ph type="body" idx="1"/>
          </p:nvPr>
        </p:nvSpPr>
        <p:spPr>
          <a:xfrm>
            <a:off x="700397" y="1768908"/>
            <a:ext cx="8405100" cy="3231624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just" rtl="0"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performance has been estimated in a leave–one–out procedure for 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combinations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parameters.</a:t>
            </a:r>
          </a:p>
          <a:p>
            <a:pPr lvl="0" algn="just" rtl="0">
              <a:buNone/>
            </a:pPr>
            <a:endParaRPr lang="en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buNone/>
            </a:pP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results are summarized </a:t>
            </a: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en" sz="2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Figure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(color) </a:t>
            </a:r>
            <a:endParaRPr lang="en" sz="24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Figure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(texture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still working on it. </a:t>
            </a:r>
          </a:p>
          <a:p>
            <a:pPr lvl="0" algn="just" rtl="0">
              <a:buNone/>
            </a:pPr>
            <a:endParaRPr lang="en"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Shape 311"/>
          <p:cNvSpPr txBox="1"/>
          <p:nvPr/>
        </p:nvSpPr>
        <p:spPr>
          <a:xfrm>
            <a:off x="634675" y="282075"/>
            <a:ext cx="7510200" cy="738633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algn="just"/>
            <a:r>
              <a:rPr lang="e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700397" y="1768908"/>
            <a:ext cx="8405100" cy="49499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
</a:t>
            </a:r>
          </a:p>
          <a:p>
            <a:endParaRPr lang="en" sz="16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" sz="16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Shape 324"/>
          <p:cNvSpPr txBox="1"/>
          <p:nvPr/>
        </p:nvSpPr>
        <p:spPr>
          <a:xfrm>
            <a:off x="634675" y="282075"/>
            <a:ext cx="7510200" cy="738633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 dirty="0" smtClean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Coding Descriptor</a:t>
            </a:r>
            <a:endParaRPr lang="en" sz="3600" b="1" dirty="0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0875" y="1910239"/>
            <a:ext cx="8509325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clc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% Clear the command window.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close all; % Close all figures (except those of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imtool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.)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imtool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close all; % Close all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imtool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figures.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clear; % Erase all existing variables.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workspace; % Make sure the workspace panel is showing.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20;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% Read in standard MATLAB color demo image.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imread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('OrangeFlower.jpg');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[rows columns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numberOfColorBands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] = size(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subplot(2, 2, 1);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[]);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title('Original Color Image', '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',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set(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gcf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'Position', get(0,'Screensize')); % Maximize figure.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redPlane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(:, :, 1);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greenPlane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(:, :, 2);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bluePlane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(:, :, 3);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54948" y="1579562"/>
            <a:ext cx="7831799" cy="5202238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Let's get its histograms.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pixelCountR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grayLevelsR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redPlane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subplot(2, 2, 2);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bar(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pixelCountR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'r');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title('Histogram of red plane', '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',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xlim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([0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grayLevelsR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(end)]); % Scale x axis manually.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pixelCountG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grayLevelsG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greenPlane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subplot(2, 2, 3);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bar(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pixelCountG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'g');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title('Histogram of green plane', '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',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xlim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([0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grayLevelsG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(end)]); % Scale x axis manually.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pixelCountB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grayLevelsB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bluePlane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subplot(2, 2, 4);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bar(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pixelCountB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'b');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title('Histogram of blue plane', '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',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xlim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([0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grayLevelsB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(end)]); % Scale x axis manually.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001" y="216537"/>
            <a:ext cx="7831799" cy="1143000"/>
          </a:xfrm>
        </p:spPr>
        <p:txBody>
          <a:bodyPr/>
          <a:lstStyle/>
          <a:p>
            <a:r>
              <a:rPr lang="en-US" dirty="0" smtClean="0"/>
              <a:t>Coding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7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700397" y="1768908"/>
            <a:ext cx="8405100" cy="49499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
</a:t>
            </a:r>
          </a:p>
          <a:p>
            <a:endParaRPr lang="en" sz="16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" sz="16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Shape 324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 dirty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  <p:pic>
        <p:nvPicPr>
          <p:cNvPr id="6" name="Picture 2" descr="C:\Users\Puchito\Desktop\ColorHisotgram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95" y="1771650"/>
            <a:ext cx="8394959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742063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[h area labels]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invhist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im,weightoff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%function [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area labels]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invhist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im,weightoff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given an image, get an invariant color histogram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%INPUT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&lt;-&gt; image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weightoff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&lt;-&gt; 0: create invariant histogram  1: create traditional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              histogram (default 0)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&lt;-&gt; number of bins in each color dimension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              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deault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5)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OUTPUT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h         &lt;-&gt; 3d array containing the histogram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area      &lt;-&gt; shows relative contributions of different image pixels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labels    &lt;-&gt; to which 'label' does each pixel color correspond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216537"/>
            <a:ext cx="7831799" cy="1143000"/>
          </a:xfrm>
        </p:spPr>
        <p:txBody>
          <a:bodyPr/>
          <a:lstStyle/>
          <a:p>
            <a:r>
              <a:rPr lang="en-US" dirty="0" smtClean="0"/>
              <a:t>Coding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027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54948" y="1579562"/>
            <a:ext cx="7831799" cy="5126038"/>
          </a:xfrm>
        </p:spPr>
        <p:txBody>
          <a:bodyPr numCol="2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nargin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&lt;2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weightoff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nargin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&lt; 3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5;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end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imread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('OrangeFlower.jpg');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double(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/max(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(:));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toohigh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find(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&gt;1);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toohigh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1;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toolow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= find(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&lt;0);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toolow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0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ly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lx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lz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 = size(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[-1 0 1];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.5*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(:,:,3) + ...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.5*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(:,:,2);</a:t>
            </a:r>
          </a:p>
          <a:p>
            <a:pPr marL="0" indent="0">
              <a:buNone/>
            </a:pP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(:,:,1);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myim1 =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(:,:,1);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myim2 =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(:,:,2);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myim3 =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(:,:,3);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if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weightoff</a:t>
            </a: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fy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gx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gy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else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conv2(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fim,filt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,'same');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gx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conv2(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gim,filt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,'same');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fy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conv2(fim,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','same');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gy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conv2(gim,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','same');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end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152400"/>
            <a:ext cx="7831799" cy="1143000"/>
          </a:xfrm>
        </p:spPr>
        <p:txBody>
          <a:bodyPr/>
          <a:lstStyle/>
          <a:p>
            <a:r>
              <a:rPr lang="en-US" dirty="0" smtClean="0"/>
              <a:t>Coding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57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test = (0==conv2(double(max(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(sum(im,3)),(0==sum(im,3)))),ones(5),'same'));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killa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zeros(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ly,lx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killa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(6:end-5,6:end-5) = test(6:end-5,6:end-5);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ok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killa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.* not(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(myim1.*myim2.*myim3)) .* (myim1.*myim2.*myim3 &gt; 0) .* ...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not(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 .* not(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fy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 .* not(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gx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 .* not(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gy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area   = 0*myim1;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labels = 0*myim1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216537"/>
            <a:ext cx="7831799" cy="1143000"/>
          </a:xfrm>
        </p:spPr>
        <p:txBody>
          <a:bodyPr/>
          <a:lstStyle/>
          <a:p>
            <a:r>
              <a:rPr lang="en-US" dirty="0" smtClean="0"/>
              <a:t>Coding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54948" y="1579562"/>
            <a:ext cx="7831799" cy="5126038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zeros(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rez,rez,rez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=1:ly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for j=1:lx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if ok(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place_bin1 = max(1,ceil(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*myim1(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place_bin2 = max(1,ceil(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*myim2(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place_bin3 = max(1,ceil(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*myim3(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)));       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weight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)*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gy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)-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fy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)*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gx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weight = abs(weight);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if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weightoff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  weight = 1;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end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area(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weight;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labels(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(place_bin3-1)*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(place_bin2-1)*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place_bin1;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h(place_bin1,place_bin2,place_bin3) = h(place_bin1,place_bin2,place_bin3)+weight;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end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end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end</a:t>
            </a: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801" y="216537"/>
            <a:ext cx="7831799" cy="1143000"/>
          </a:xfrm>
        </p:spPr>
        <p:txBody>
          <a:bodyPr/>
          <a:lstStyle/>
          <a:p>
            <a:r>
              <a:rPr lang="en-US" dirty="0" smtClean="0"/>
              <a:t>Coding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69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ans(:,:,1) =</a:t>
            </a: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162.3451   14.8270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0            0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18.8685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47.9392   23.4087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0         0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8.9383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13.8357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1.5157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0.0133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6.0077   36.2946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1.0821            0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1.2027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41.1247   15.7288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1.0230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ans(:,:,2) =</a:t>
            </a: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0.1076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0.0902     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0.2665   24.7070   10.2587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0.0253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6.6795   10.4342    0.3830         0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0     8.2565     5.1790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0.0733         0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0     2.8292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13.8757    0.8957         0</a:t>
            </a:r>
          </a:p>
          <a:p>
            <a:pPr marL="0" indent="0">
              <a:buNone/>
            </a:pPr>
            <a:endParaRPr lang="fr-FR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ans(:,:,3) =</a:t>
            </a:r>
          </a:p>
          <a:p>
            <a:pPr marL="0" indent="0">
              <a:buNone/>
            </a:pPr>
            <a:endParaRPr lang="fr-FR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0             0             0            0            0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0    0.0888    0.0428            0             0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0    0.2082    2.8168   0.1724             0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0    0.0437    2.4997   0.6249    0.0006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0             0    1.7981   3.1453             0</a:t>
            </a:r>
          </a:p>
          <a:p>
            <a:pPr marL="0" indent="0">
              <a:buNone/>
            </a:pPr>
            <a:endParaRPr lang="fr-FR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ans(:,:,4) =</a:t>
            </a:r>
          </a:p>
          <a:p>
            <a:pPr marL="0" indent="0">
              <a:buNone/>
            </a:pPr>
            <a:endParaRPr lang="fr-FR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0         0             0             0             0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0         0             0             0             0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0         0    0.0799    0.0072             0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0         0    0.0887    1.0875    0.0216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0         0             0    0.7856    0.0894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152400"/>
            <a:ext cx="7831799" cy="1143000"/>
          </a:xfrm>
        </p:spPr>
        <p:txBody>
          <a:bodyPr/>
          <a:lstStyle/>
          <a:p>
            <a:r>
              <a:rPr lang="en-US" dirty="0" smtClean="0"/>
              <a:t>Color Histogram Output Table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90600" y="22098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90600" y="3657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029200" y="2179529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029200" y="3657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90600" y="4800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029200" y="4800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90600" y="6248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29200" y="6248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7526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5146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2004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8862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3340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0198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294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3152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3058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6764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4384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1242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8862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2672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3340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8674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64770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71628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3058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990600" y="2514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990600" y="2819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990600" y="3124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990600" y="33528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029200" y="2438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029200" y="2743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029200" y="30480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5029200" y="33528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90600" y="5105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990600" y="5410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990600" y="57150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990600" y="5943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5029200" y="5105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5029200" y="5410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029200" y="57150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029200" y="60198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9906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0292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0292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9906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8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ans(:,:,5) =</a:t>
            </a: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0             0</a:t>
            </a: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0             0</a:t>
            </a: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0             0</a:t>
            </a: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0         0         0    0.0180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</a:t>
            </a: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0         0         0    0.0001    0.1776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Histogram Analysis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990600" y="2743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990600" y="41910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336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5146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2004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2672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90600" y="30480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90600" y="33528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90600" y="3657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90600" y="3886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906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6764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82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body" idx="1"/>
          </p:nvPr>
        </p:nvSpPr>
        <p:spPr>
          <a:xfrm>
            <a:off x="700397" y="1768908"/>
            <a:ext cx="8405100" cy="4675096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215900" indent="0" algn="just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68750"/>
              <a:buNone/>
            </a:pP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in Development Still to Apply</a:t>
            </a:r>
            <a:endParaRPr lang="en" sz="2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5900" lvl="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en" sz="2400" b="1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5900" lvl="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Issues based </a:t>
            </a:r>
            <a:r>
              <a:rPr lang="en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cumulative histograms:</a:t>
            </a:r>
          </a:p>
          <a:p>
            <a:pPr marL="215900" lvl="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their measures are defined only in one dimension </a:t>
            </a:r>
          </a:p>
          <a:p>
            <a:pPr marL="215900" lvl="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-cannot exploit the ground distance in the full feature space.</a:t>
            </a:r>
          </a:p>
          <a:p>
            <a:pPr marL="215900" lvl="0" indent="0" algn="just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68750"/>
              <a:buFont typeface="Arial"/>
              <a:buNone/>
            </a:pPr>
            <a:endParaRPr lang="en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/>
            <a:endParaRPr lang="en" sz="2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5900" lvl="0" indent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Employing </a:t>
            </a: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BRD distance </a:t>
            </a:r>
            <a:r>
              <a:rPr lang="en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improve:</a:t>
            </a:r>
          </a:p>
          <a:p>
            <a:pPr marL="215900" lvl="0" indent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the dissimilarity measure between two distributions. </a:t>
            </a:r>
          </a:p>
          <a:p>
            <a:endParaRPr lang="en" sz="16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" sz="16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Shape 299"/>
          <p:cNvSpPr txBox="1"/>
          <p:nvPr/>
        </p:nvSpPr>
        <p:spPr>
          <a:xfrm>
            <a:off x="634675" y="282075"/>
            <a:ext cx="7510200" cy="738633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 dirty="0" smtClean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Concluding Update</a:t>
            </a:r>
            <a:endParaRPr lang="en" sz="3600" b="1" dirty="0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  <p:extLst>
      <p:ext uri="{BB962C8B-B14F-4D97-AF65-F5344CB8AC3E}">
        <p14:creationId xmlns:p14="http://schemas.microsoft.com/office/powerpoint/2010/main" val="407806700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Custom 1">
      <a:dk1>
        <a:srgbClr val="FFFFFF"/>
      </a:dk1>
      <a:lt1>
        <a:srgbClr val="FFFFFF"/>
      </a:lt1>
      <a:dk2>
        <a:srgbClr val="5956A7"/>
      </a:dk2>
      <a:lt2>
        <a:srgbClr val="FED47D"/>
      </a:lt2>
      <a:accent1>
        <a:srgbClr val="FF7500"/>
      </a:accent1>
      <a:accent2>
        <a:srgbClr val="8B87FF"/>
      </a:accent2>
      <a:accent3>
        <a:srgbClr val="BF8AC9"/>
      </a:accent3>
      <a:accent4>
        <a:srgbClr val="A14141"/>
      </a:accent4>
      <a:accent5>
        <a:srgbClr val="E06163"/>
      </a:accent5>
      <a:accent6>
        <a:srgbClr val="BB8107"/>
      </a:accent6>
      <a:hlink>
        <a:srgbClr val="FF7500"/>
      </a:hlink>
      <a:folHlink>
        <a:srgbClr val="A7A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452</TotalTime>
  <Words>2417</Words>
  <Application>Microsoft Office PowerPoint</Application>
  <PresentationFormat>On-screen Show (4:3)</PresentationFormat>
  <Paragraphs>410</Paragraphs>
  <Slides>37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/>
      <vt:lpstr>Scene Classification Update 1</vt:lpstr>
      <vt:lpstr>PowerPoint Presentation</vt:lpstr>
      <vt:lpstr>Gabor descriptor</vt:lpstr>
      <vt:lpstr>Gabor descriptor</vt:lpstr>
      <vt:lpstr>Gabor descriptor</vt:lpstr>
      <vt:lpstr>Gabor descriptor</vt:lpstr>
      <vt:lpstr>Gabor descriptor</vt:lpstr>
      <vt:lpstr>Gabor descriptor</vt:lpstr>
      <vt:lpstr>Planning the network already</vt:lpstr>
      <vt:lpstr>PowerPoint Presentation</vt:lpstr>
      <vt:lpstr>CENTRIST descriptor</vt:lpstr>
      <vt:lpstr>CENTRIST descriptor</vt:lpstr>
      <vt:lpstr>CENTRIST descriptor</vt:lpstr>
      <vt:lpstr>CENTRIST descriptor</vt:lpstr>
      <vt:lpstr>CENTRIST descriptor</vt:lpstr>
      <vt:lpstr>CENTRIST descriptor</vt:lpstr>
      <vt:lpstr>CENTRIST descriptor</vt:lpstr>
      <vt:lpstr>CENTRIST descriptor</vt:lpstr>
      <vt:lpstr>CENTRIST descriptor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Coding Descriptor</vt:lpstr>
      <vt:lpstr>PowerPoint Presentation</vt:lpstr>
      <vt:lpstr>Coding Descriptor</vt:lpstr>
      <vt:lpstr>Coding Descriptor</vt:lpstr>
      <vt:lpstr>Coding Descriptor</vt:lpstr>
      <vt:lpstr>Coding Descriptor</vt:lpstr>
      <vt:lpstr>Color Histogram Output Table</vt:lpstr>
      <vt:lpstr>Color Histogram Analysis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Scene Classification Update 1</dc:title>
  <dc:creator>Puchito</dc:creator>
  <cp:lastModifiedBy>Puchito</cp:lastModifiedBy>
  <cp:revision>20</cp:revision>
  <dcterms:modified xsi:type="dcterms:W3CDTF">2013-01-17T13:56:36Z</dcterms:modified>
</cp:coreProperties>
</file>