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FBE10B5C-C157-402D-8EF7-0FB96DED42CD}">
  <a:tblStyle styleName="Table_0" styleId="{FBE10B5C-C157-402D-8EF7-0FB96DED42CD}"/>
</a:tblStyleLst>
</file>

<file path=ppt/_rels/presentation.xml.rels><?xml version="1.0" encoding="UTF-8" standalone="yes"?><Relationships xmlns="http://schemas.openxmlformats.org/package/2006/relationships"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presProps.xml" Type="http://schemas.openxmlformats.org/officeDocument/2006/relationships/presProps" Id="rId2"/><Relationship Target="slides/slide7.xml" Type="http://schemas.openxmlformats.org/officeDocument/2006/relationships/slide" Id="rId12"/><Relationship Target="theme/theme3.xml" Type="http://schemas.openxmlformats.org/officeDocument/2006/relationships/theme" Id="rId1"/><Relationship Target="slides/slide8.xml" Type="http://schemas.openxmlformats.org/officeDocument/2006/relationships/slide" Id="rId13"/><Relationship Target="slideMasters/slideMaster1.xml" Type="http://schemas.openxmlformats.org/officeDocument/2006/relationships/slideMaster" Id="rId4"/><Relationship Target="slides/slide5.xml" Type="http://schemas.openxmlformats.org/officeDocument/2006/relationships/slide" Id="rId10"/><Relationship Target="tableStyles.xml" Type="http://schemas.openxmlformats.org/officeDocument/2006/relationships/tableStyles" Id="rId3"/><Relationship Target="slides/slide6.xml" Type="http://schemas.openxmlformats.org/officeDocument/2006/relationships/slide" Id="rId11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1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3" name="Shape 7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4" name="Shape 74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5" name="Shape 7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4" name="Shape 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0" name="Shape 9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7" name="Shape 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3" name="Shape 1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4" name="Shape 10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4" name="Shape 11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5" name="Shape 11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1" name="Shape 1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8" name="Shape 1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5" name="Shape 1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1" name="Shape 1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2" name="Shape 14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3" name="Shape 14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7" name="Shape 14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8" name="Shape 14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7" name="Shape 1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8" name="Shape 15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9" name="Shape 15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3" name="Shape 16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4" name="Shape 16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65" name="Shape 16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/>
          <p:nvPr/>
        </p:nvSpPr>
        <p:spPr>
          <a:xfrm>
            <a:off y="1600200" x="0"/>
            <a:ext cy="3657600" cx="91440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9" name="Shape 9"/>
          <p:cNvGrpSpPr/>
          <p:nvPr/>
        </p:nvGrpSpPr>
        <p:grpSpPr>
          <a:xfrm>
            <a:off y="-1438" x="0"/>
            <a:ext cy="6859503" cx="1827407"/>
            <a:chOff y="-1438" x="0"/>
            <a:chExt cy="6859503" cx="798029"/>
          </a:xfrm>
        </p:grpSpPr>
        <p:sp>
          <p:nvSpPr>
            <p:cNvPr id="10" name="Shape 10"/>
            <p:cNvSpPr/>
            <p:nvPr/>
          </p:nvSpPr>
          <p:spPr>
            <a:xfrm>
              <a:off y="-1438" x="0"/>
              <a:ext cy="6858065" cx="798029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11" name="Shape 11"/>
            <p:cNvSpPr/>
            <p:nvPr/>
          </p:nvSpPr>
          <p:spPr>
            <a:xfrm>
              <a:off y="0" x="0"/>
              <a:ext cy="6858065" cx="399014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12" name="Shape 12"/>
          <p:cNvGrpSpPr/>
          <p:nvPr/>
        </p:nvGrpSpPr>
        <p:grpSpPr>
          <a:xfrm flipH="1">
            <a:off y="0" x="7316591"/>
            <a:ext cy="6859503" cx="1827407"/>
            <a:chOff y="-1438" x="0"/>
            <a:chExt cy="6859503" cx="798029"/>
          </a:xfrm>
        </p:grpSpPr>
        <p:sp>
          <p:nvSpPr>
            <p:cNvPr id="13" name="Shape 13"/>
            <p:cNvSpPr/>
            <p:nvPr/>
          </p:nvSpPr>
          <p:spPr>
            <a:xfrm>
              <a:off y="-1438" x="0"/>
              <a:ext cy="6858065" cx="798029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14" name="Shape 14"/>
            <p:cNvSpPr/>
            <p:nvPr/>
          </p:nvSpPr>
          <p:spPr>
            <a:xfrm>
              <a:off y="0" x="0"/>
              <a:ext cy="6858065" cx="399014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15" name="Shape 15"/>
          <p:cNvSpPr txBox="1"/>
          <p:nvPr>
            <p:ph type="ctrTitle"/>
          </p:nvPr>
        </p:nvSpPr>
        <p:spPr>
          <a:xfrm>
            <a:off y="2090913" x="685800"/>
            <a:ext cy="1650599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ctr" rtl="0" indent="3048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ctr" rtl="0" indent="3048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ctr" rtl="0" indent="3048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ctr" rtl="0" indent="3048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ctr" rtl="0" indent="3048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ctr" rtl="0" indent="3048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ctr" rtl="0" indent="3048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ctr" rtl="0" indent="3048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ctr" rtl="0" indent="3048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48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" type="subTitle"/>
          </p:nvPr>
        </p:nvSpPr>
        <p:spPr>
          <a:xfrm>
            <a:off y="3886200" x="685800"/>
            <a:ext cy="878099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0" cap="none" baseline="0" sz="24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0" cap="none" baseline="0" sz="24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0" cap="none" baseline="0" sz="24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0" cap="none" baseline="0" sz="24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0" cap="none" baseline="0" sz="24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0" cap="none" baseline="0" sz="24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0" cap="none" baseline="0" sz="24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0" cap="none" baseline="0" sz="24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ctr" rtl="0" indent="1524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0" cap="none" baseline="0" sz="24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7" name="Shape 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Shape 18"/>
          <p:cNvSpPr/>
          <p:nvPr/>
        </p:nvSpPr>
        <p:spPr>
          <a:xfrm>
            <a:off y="-1438" x="0"/>
            <a:ext cy="15254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19" name="Shape 19"/>
          <p:cNvGrpSpPr/>
          <p:nvPr/>
        </p:nvGrpSpPr>
        <p:grpSpPr>
          <a:xfrm>
            <a:off y="-1438" x="0"/>
            <a:ext cy="6859503" cx="649180"/>
            <a:chOff y="-1438" x="0"/>
            <a:chExt cy="6859503" cx="649180"/>
          </a:xfrm>
        </p:grpSpPr>
        <p:sp>
          <p:nvSpPr>
            <p:cNvPr id="20" name="Shape 20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21" name="Shape 21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22" name="Shape 22"/>
          <p:cNvGrpSpPr/>
          <p:nvPr/>
        </p:nvGrpSpPr>
        <p:grpSpPr>
          <a:xfrm flipH="1">
            <a:off y="0" x="8494493"/>
            <a:ext cy="6859503" cx="649180"/>
            <a:chOff y="-1438" x="0"/>
            <a:chExt cy="6859503" cx="649180"/>
          </a:xfrm>
        </p:grpSpPr>
        <p:sp>
          <p:nvSpPr>
            <p:cNvPr id="23" name="Shape 23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24" name="Shape 24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25" name="Shape 25"/>
          <p:cNvSpPr/>
          <p:nvPr/>
        </p:nvSpPr>
        <p:spPr>
          <a:xfrm>
            <a:off y="6324600" x="0"/>
            <a:ext cy="5348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26" name="Shape 2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28" name="Shape 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9" name="Shape 29"/>
          <p:cNvSpPr/>
          <p:nvPr/>
        </p:nvSpPr>
        <p:spPr>
          <a:xfrm>
            <a:off y="-1438" x="0"/>
            <a:ext cy="15254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30" name="Shape 30"/>
          <p:cNvGrpSpPr/>
          <p:nvPr/>
        </p:nvGrpSpPr>
        <p:grpSpPr>
          <a:xfrm>
            <a:off y="-1438" x="0"/>
            <a:ext cy="6859503" cx="649180"/>
            <a:chOff y="-1438" x="0"/>
            <a:chExt cy="6859503" cx="649180"/>
          </a:xfrm>
        </p:grpSpPr>
        <p:sp>
          <p:nvSpPr>
            <p:cNvPr id="31" name="Shape 31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32" name="Shape 32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33" name="Shape 33"/>
          <p:cNvGrpSpPr/>
          <p:nvPr/>
        </p:nvGrpSpPr>
        <p:grpSpPr>
          <a:xfrm flipH="1">
            <a:off y="0" x="8494493"/>
            <a:ext cy="6859503" cx="649180"/>
            <a:chOff y="-1438" x="0"/>
            <a:chExt cy="6859503" cx="649180"/>
          </a:xfrm>
        </p:grpSpPr>
        <p:sp>
          <p:nvSpPr>
            <p:cNvPr id="34" name="Shape 34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35" name="Shape 35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36" name="Shape 36"/>
          <p:cNvSpPr/>
          <p:nvPr/>
        </p:nvSpPr>
        <p:spPr>
          <a:xfrm>
            <a:off y="6324600" x="0"/>
            <a:ext cy="5348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y="1600200" x="457200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y="1600200" x="4692273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40" name="Shape 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1" name="Shape 41"/>
          <p:cNvSpPr/>
          <p:nvPr/>
        </p:nvSpPr>
        <p:spPr>
          <a:xfrm>
            <a:off y="-1438" x="0"/>
            <a:ext cy="15254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42" name="Shape 42"/>
          <p:cNvGrpSpPr/>
          <p:nvPr/>
        </p:nvGrpSpPr>
        <p:grpSpPr>
          <a:xfrm>
            <a:off y="-1438" x="0"/>
            <a:ext cy="6859503" cx="649180"/>
            <a:chOff y="-1438" x="0"/>
            <a:chExt cy="6859503" cx="649180"/>
          </a:xfrm>
        </p:grpSpPr>
        <p:sp>
          <p:nvSpPr>
            <p:cNvPr id="43" name="Shape 43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44" name="Shape 44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45" name="Shape 45"/>
          <p:cNvGrpSpPr/>
          <p:nvPr/>
        </p:nvGrpSpPr>
        <p:grpSpPr>
          <a:xfrm flipH="1">
            <a:off y="0" x="8494493"/>
            <a:ext cy="6859503" cx="649180"/>
            <a:chOff y="-1438" x="0"/>
            <a:chExt cy="6859503" cx="649180"/>
          </a:xfrm>
        </p:grpSpPr>
        <p:sp>
          <p:nvSpPr>
            <p:cNvPr id="46" name="Shape 46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47" name="Shape 47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48" name="Shape 48"/>
          <p:cNvSpPr/>
          <p:nvPr/>
        </p:nvSpPr>
        <p:spPr>
          <a:xfrm>
            <a:off y="6324600" x="0"/>
            <a:ext cy="5348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49" name="Shape 4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>
              <a:spcBef>
                <a:spcPts val="0"/>
              </a:spcBef>
              <a:buSzPct val="100000"/>
              <a:buFont typeface="Trebuchet MS"/>
              <a:buNone/>
              <a:defRPr b="1" sz="36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50" name="Shape 5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1" name="Shape 51"/>
          <p:cNvSpPr/>
          <p:nvPr/>
        </p:nvSpPr>
        <p:spPr>
          <a:xfrm>
            <a:off y="-1438" x="0"/>
            <a:ext cy="15254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52" name="Shape 52"/>
          <p:cNvGrpSpPr/>
          <p:nvPr/>
        </p:nvGrpSpPr>
        <p:grpSpPr>
          <a:xfrm>
            <a:off y="-1438" x="0"/>
            <a:ext cy="6859503" cx="649180"/>
            <a:chOff y="-1438" x="0"/>
            <a:chExt cy="6859503" cx="649180"/>
          </a:xfrm>
        </p:grpSpPr>
        <p:sp>
          <p:nvSpPr>
            <p:cNvPr id="53" name="Shape 53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54" name="Shape 54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55" name="Shape 55"/>
          <p:cNvGrpSpPr/>
          <p:nvPr/>
        </p:nvGrpSpPr>
        <p:grpSpPr>
          <a:xfrm flipH="1">
            <a:off y="0" x="8494493"/>
            <a:ext cy="6859503" cx="649180"/>
            <a:chOff y="-1438" x="0"/>
            <a:chExt cy="6859503" cx="649180"/>
          </a:xfrm>
        </p:grpSpPr>
        <p:sp>
          <p:nvSpPr>
            <p:cNvPr id="56" name="Shape 56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57" name="Shape 57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58" name="Shape 58"/>
          <p:cNvSpPr/>
          <p:nvPr/>
        </p:nvSpPr>
        <p:spPr>
          <a:xfrm>
            <a:off y="6324600" x="0"/>
            <a:ext cy="5348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y="5875078" x="457200"/>
            <a:ext cy="692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>
                <a:solidFill>
                  <a:schemeClr val="lt2"/>
                </a:solidFill>
              </a:defRPr>
            </a:lvl1pPr>
            <a:lvl2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>
                <a:solidFill>
                  <a:schemeClr val="lt2"/>
                </a:solidFill>
              </a:defRPr>
            </a:lvl2pPr>
            <a:lvl3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>
                <a:solidFill>
                  <a:schemeClr val="lt2"/>
                </a:solidFill>
              </a:defRPr>
            </a:lvl3pPr>
            <a:lvl4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>
                <a:solidFill>
                  <a:schemeClr val="lt2"/>
                </a:solidFill>
              </a:defRPr>
            </a:lvl4pPr>
            <a:lvl5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>
                <a:solidFill>
                  <a:schemeClr val="lt2"/>
                </a:solidFill>
              </a:defRPr>
            </a:lvl5pPr>
            <a:lvl6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>
                <a:solidFill>
                  <a:schemeClr val="lt2"/>
                </a:solidFill>
              </a:defRPr>
            </a:lvl6pPr>
            <a:lvl7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66666"/>
              <a:buFont typeface="Arial"/>
              <a:buChar char="•"/>
              <a:defRPr sz="1800">
                <a:solidFill>
                  <a:schemeClr val="lt2"/>
                </a:solidFill>
              </a:defRPr>
            </a:lvl7pPr>
            <a:lvl8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ourier New"/>
              <a:buChar char="o"/>
              <a:defRPr sz="1800">
                <a:solidFill>
                  <a:schemeClr val="lt2"/>
                </a:solidFill>
              </a:defRPr>
            </a:lvl8pPr>
            <a:lvl9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Wingdings"/>
              <a:buChar char="§"/>
              <a:defRPr sz="18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60" name="Shape 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1" name="Shape 61"/>
          <p:cNvSpPr/>
          <p:nvPr/>
        </p:nvSpPr>
        <p:spPr>
          <a:xfrm>
            <a:off y="-1438" x="0"/>
            <a:ext cy="1525499" cx="9144000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grpSp>
        <p:nvGrpSpPr>
          <p:cNvPr id="62" name="Shape 62"/>
          <p:cNvGrpSpPr/>
          <p:nvPr/>
        </p:nvGrpSpPr>
        <p:grpSpPr>
          <a:xfrm>
            <a:off y="-1438" x="0"/>
            <a:ext cy="6859503" cx="649180"/>
            <a:chOff y="-1438" x="0"/>
            <a:chExt cy="6859503" cx="649180"/>
          </a:xfrm>
        </p:grpSpPr>
        <p:sp>
          <p:nvSpPr>
            <p:cNvPr id="63" name="Shape 63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64" name="Shape 64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grpSp>
        <p:nvGrpSpPr>
          <p:cNvPr id="65" name="Shape 65"/>
          <p:cNvGrpSpPr/>
          <p:nvPr/>
        </p:nvGrpSpPr>
        <p:grpSpPr>
          <a:xfrm flipH="1">
            <a:off y="0" x="8494493"/>
            <a:ext cy="6859503" cx="649180"/>
            <a:chOff y="-1438" x="0"/>
            <a:chExt cy="6859503" cx="649180"/>
          </a:xfrm>
        </p:grpSpPr>
        <p:sp>
          <p:nvSpPr>
            <p:cNvPr id="66" name="Shape 66"/>
            <p:cNvSpPr/>
            <p:nvPr/>
          </p:nvSpPr>
          <p:spPr>
            <a:xfrm>
              <a:off y="-1438" x="0"/>
              <a:ext cy="6858065" cx="649180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  <p:sp>
          <p:nvSpPr>
            <p:cNvPr id="67" name="Shape 67"/>
            <p:cNvSpPr/>
            <p:nvPr/>
          </p:nvSpPr>
          <p:spPr>
            <a:xfrm>
              <a:off y="0" x="0"/>
              <a:ext cy="6858065" cx="500331"/>
            </a:xfrm>
            <a:custGeom>
              <a:pathLst>
                <a:path w="500332" extrusionOk="0" h="6875253">
                  <a:moveTo>
                    <a:pt y="0" x="0"/>
                  </a:moveTo>
                  <a:lnTo>
                    <a:pt y="0" x="500332"/>
                  </a:lnTo>
                  <a:lnTo>
                    <a:pt y="6875253" x="301925"/>
                  </a:lnTo>
                  <a:lnTo>
                    <a:pt y="6875253" x="0"/>
                  </a:lnTo>
                  <a:lnTo>
                    <a:pt y="0" x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bIns="45700" rIns="91425" lIns="91425" tIns="45700" anchor="ctr" anchorCtr="0">
              <a:noAutofit/>
            </a:bodyPr>
            <a:lstStyle/>
            <a:p/>
          </p:txBody>
        </p:sp>
      </p:grpSp>
      <p:sp>
        <p:nvSpPr>
          <p:cNvPr id="68" name="Shape 68"/>
          <p:cNvSpPr/>
          <p:nvPr/>
        </p:nvSpPr>
        <p:spPr>
          <a:xfrm>
            <a:off y="6324600" x="0"/>
            <a:ext cy="534899" cx="914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2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t="50%" b="50%" r="50%" l="50%"/>
          </a:path>
          <a:tileRect/>
        </a:gra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2286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2286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2286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2286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2286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2286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2286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2286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228600" marL="0"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trike="noStrike" u="none" b="1" cap="none" baseline="0" sz="360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342900" marL="342900">
              <a:spcBef>
                <a:spcPts val="600"/>
              </a:spcBef>
              <a:buClr>
                <a:schemeClr val="lt1"/>
              </a:buClr>
              <a:buSzPct val="166666"/>
              <a:buFont typeface="Arial"/>
              <a:buChar char="•"/>
              <a:defRPr strike="noStrike" u="none" b="0" cap="none" baseline="0" sz="300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algn="l" rtl="0" indent="-285750" marL="742950">
              <a:spcBef>
                <a:spcPts val="480"/>
              </a:spcBef>
              <a:buClr>
                <a:schemeClr val="lt1"/>
              </a:buClr>
              <a:buSzPct val="100000"/>
              <a:buFont typeface="Courier New"/>
              <a:buChar char="o"/>
              <a:defRPr strike="noStrike" u="none" b="0" cap="none" baseline="0" sz="240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algn="l" rtl="0" indent="-228600" marL="1143000">
              <a:spcBef>
                <a:spcPts val="480"/>
              </a:spcBef>
              <a:buClr>
                <a:schemeClr val="lt1"/>
              </a:buClr>
              <a:buSzPct val="100000"/>
              <a:buFont typeface="Wingdings"/>
              <a:buChar char="§"/>
              <a:defRPr strike="noStrike" u="none" b="0" cap="none" baseline="0" sz="240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algn="l" rtl="0" indent="-228600" marL="1600200">
              <a:spcBef>
                <a:spcPts val="360"/>
              </a:spcBef>
              <a:buClr>
                <a:schemeClr val="lt1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algn="l" rtl="0" indent="-228600" marL="2057400">
              <a:spcBef>
                <a:spcPts val="360"/>
              </a:spcBef>
              <a:buClr>
                <a:schemeClr val="lt1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algn="l" rtl="0" indent="-228600" marL="2514600">
              <a:spcBef>
                <a:spcPts val="360"/>
              </a:spcBef>
              <a:buClr>
                <a:schemeClr val="lt1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algn="l" rtl="0" indent="-228600" marL="2971800">
              <a:spcBef>
                <a:spcPts val="360"/>
              </a:spcBef>
              <a:buClr>
                <a:schemeClr val="lt1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algn="l" rtl="0" indent="-228600" marL="3429000">
              <a:spcBef>
                <a:spcPts val="360"/>
              </a:spcBef>
              <a:buClr>
                <a:schemeClr val="lt1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algn="l" rtl="0" indent="-228600" marL="3886200">
              <a:spcBef>
                <a:spcPts val="360"/>
              </a:spcBef>
              <a:buClr>
                <a:schemeClr val="lt1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0.png" Type="http://schemas.openxmlformats.org/officeDocument/2006/relationships/image" Id="rId3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0" name="Shape 70"/>
          <p:cNvSpPr txBox="1"/>
          <p:nvPr>
            <p:ph type="ctrTitle"/>
          </p:nvPr>
        </p:nvSpPr>
        <p:spPr>
          <a:xfrm>
            <a:off y="2090913" x="685800"/>
            <a:ext cy="1650599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Scene Classification</a:t>
            </a:r>
          </a:p>
        </p:txBody>
      </p:sp>
      <p:sp>
        <p:nvSpPr>
          <p:cNvPr id="71" name="Shape 71"/>
          <p:cNvSpPr txBox="1"/>
          <p:nvPr>
            <p:ph idx="1" type="subTitle"/>
          </p:nvPr>
        </p:nvSpPr>
        <p:spPr>
          <a:xfrm>
            <a:off y="3886200" x="685800"/>
            <a:ext cy="878099" cx="77724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b="1" sz="3600" lang="en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Proposal Presentation</a:t>
            </a:r>
          </a:p>
        </p:txBody>
      </p:sp>
      <p:sp>
        <p:nvSpPr>
          <p:cNvPr id="72" name="Shape 72"/>
          <p:cNvSpPr txBox="1"/>
          <p:nvPr/>
        </p:nvSpPr>
        <p:spPr>
          <a:xfrm>
            <a:off y="5683250" x="1679200"/>
            <a:ext cy="857400" cx="55566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b="1" sz="1800" lang="en" i="1">
                <a:latin typeface="Times New Roman"/>
                <a:ea typeface="Times New Roman"/>
                <a:cs typeface="Times New Roman"/>
                <a:sym typeface="Times New Roman"/>
              </a:rPr>
              <a:t>Authors:</a:t>
            </a:r>
          </a:p>
          <a:p>
            <a:pPr algn="ctr">
              <a:buNone/>
            </a:pPr>
            <a:r>
              <a:rPr b="1" sz="1800" lang="en">
                <a:latin typeface="Times New Roman"/>
                <a:ea typeface="Times New Roman"/>
                <a:cs typeface="Times New Roman"/>
                <a:sym typeface="Times New Roman"/>
              </a:rPr>
              <a:t>Piter Garcia        Karina Damico      Pauline Martial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7" name="Shape 7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Outline</a:t>
            </a:r>
          </a:p>
        </p:txBody>
      </p:sp>
      <p:sp>
        <p:nvSpPr>
          <p:cNvPr id="78" name="Shape 78"/>
          <p:cNvSpPr txBox="1"/>
          <p:nvPr/>
        </p:nvSpPr>
        <p:spPr>
          <a:xfrm>
            <a:off y="1960150" x="1832450"/>
            <a:ext cy="4152899" cx="5183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latin typeface="Georgia"/>
                <a:ea typeface="Georgia"/>
                <a:cs typeface="Georgia"/>
                <a:sym typeface="Georgia"/>
              </a:rPr>
              <a:t>1. Introduction</a:t>
            </a:r>
          </a:p>
          <a:p>
            <a:pPr rtl="0" lv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latin typeface="Georgia"/>
                <a:ea typeface="Georgia"/>
                <a:cs typeface="Georgia"/>
                <a:sym typeface="Georgia"/>
              </a:rPr>
              <a:t>2. Timeline</a:t>
            </a:r>
          </a:p>
          <a:p>
            <a:pPr rtl="0" lv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latin typeface="Georgia"/>
                <a:ea typeface="Georgia"/>
                <a:cs typeface="Georgia"/>
                <a:sym typeface="Georgia"/>
              </a:rPr>
              <a:t>3. Results expected</a:t>
            </a:r>
          </a:p>
          <a:p>
            <a:pPr rtl="0" lv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latin typeface="Georgia"/>
                <a:ea typeface="Georgia"/>
                <a:cs typeface="Georgia"/>
                <a:sym typeface="Georgia"/>
              </a:rPr>
              <a:t>4. Descriptors chosen</a:t>
            </a:r>
          </a:p>
          <a:p>
            <a:pPr rtl="0" lvl="0" indent="45720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latin typeface="Georgia"/>
                <a:ea typeface="Georgia"/>
                <a:cs typeface="Georgia"/>
                <a:sym typeface="Georgia"/>
              </a:rPr>
              <a:t>4.a. GABOR</a:t>
            </a:r>
          </a:p>
          <a:p>
            <a:pPr rtl="0" lvl="0" indent="45720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latin typeface="Georgia"/>
                <a:ea typeface="Georgia"/>
                <a:cs typeface="Georgia"/>
                <a:sym typeface="Georgia"/>
              </a:rPr>
              <a:t>4.b. CENTRIST </a:t>
            </a:r>
          </a:p>
          <a:p>
            <a:pPr rtl="0" lvl="0" indent="45720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latin typeface="Georgia"/>
                <a:ea typeface="Georgia"/>
                <a:cs typeface="Georgia"/>
                <a:sym typeface="Georgia"/>
              </a:rPr>
              <a:t>4.c. Color Histogram </a:t>
            </a:r>
          </a:p>
          <a:p>
            <a:pPr rtl="0" lvl="0">
              <a:spcBef>
                <a:spcPts val="600"/>
              </a:spcBef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latin typeface="Georgia"/>
                <a:ea typeface="Georgia"/>
                <a:cs typeface="Georgia"/>
                <a:sym typeface="Georgia"/>
              </a:rPr>
              <a:t>5. Classifier </a:t>
            </a:r>
          </a:p>
          <a:p>
            <a:r>
              <a:t/>
            </a:r>
          </a:p>
        </p:txBody>
      </p:sp>
      <p:sp>
        <p:nvSpPr>
          <p:cNvPr id="79" name="Shape 79"/>
          <p:cNvSpPr/>
          <p:nvPr/>
        </p:nvSpPr>
        <p:spPr>
          <a:xfrm flipH="1">
            <a:off y="2233894" x="1520636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0" name="Shape 80"/>
          <p:cNvSpPr/>
          <p:nvPr/>
        </p:nvSpPr>
        <p:spPr>
          <a:xfrm flipH="1">
            <a:off y="2683994" x="1520636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1" name="Shape 81"/>
          <p:cNvSpPr/>
          <p:nvPr/>
        </p:nvSpPr>
        <p:spPr>
          <a:xfrm flipH="1">
            <a:off y="5248069" x="1520636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2" name="Shape 82"/>
          <p:cNvSpPr/>
          <p:nvPr/>
        </p:nvSpPr>
        <p:spPr>
          <a:xfrm flipH="1">
            <a:off y="3106519" x="1520636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83" name="Shape 83"/>
          <p:cNvSpPr/>
          <p:nvPr/>
        </p:nvSpPr>
        <p:spPr>
          <a:xfrm flipH="1">
            <a:off y="3477244" x="1520636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8" name="Shape 8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Introduction</a:t>
            </a:r>
          </a:p>
        </p:txBody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y="1862718" x="703312"/>
            <a:ext cy="4393499" cx="77541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Scene classification VS. object recognition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results: Multiple feature sets extracted.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Separate analysis.</a:t>
            </a:r>
          </a:p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Features combined.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y="783262" x="377900"/>
            <a:ext cy="6507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Timeline</a:t>
            </a:r>
          </a:p>
        </p:txBody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
</a:t>
            </a:r>
          </a:p>
          <a:p>
            <a:r>
              <a:t/>
            </a:r>
          </a:p>
        </p:txBody>
      </p:sp>
      <p:graphicFrame>
        <p:nvGraphicFramePr>
          <p:cNvPr id="96" name="Shape 96"/>
          <p:cNvGraphicFramePr/>
          <p:nvPr/>
        </p:nvGraphicFramePr>
        <p:xfrm>
          <a:off y="1608900" x="518550"/>
          <a:ext cy="3000000" cx="3000000"/>
        </p:xfrm>
        <a:graphic>
          <a:graphicData uri="http://schemas.openxmlformats.org/drawingml/2006/table">
            <a:tbl>
              <a:tblPr>
                <a:noFill/>
                <a:tableStyleId>{FBE10B5C-C157-402D-8EF7-0FB96DED42CD}</a:tableStyleId>
              </a:tblPr>
              <a:tblGrid>
                <a:gridCol w="782275"/>
                <a:gridCol w="2072700"/>
                <a:gridCol w="5222775"/>
              </a:tblGrid>
              <a:tr h="499925"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b="1"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</a:p>
                    <a:p>
                      <a:r>
                        <a:t/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b="1"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Updates</a:t>
                      </a:r>
                    </a:p>
                    <a:p>
                      <a:r>
                        <a:t/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b="1"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</a:t>
                      </a:r>
                    </a:p>
                    <a:p>
                      <a:r>
                        <a:t/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1219425"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01/15</a:t>
                      </a:r>
                    </a:p>
                    <a:p>
                      <a:r>
                        <a:t/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b="1"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Update  Report</a:t>
                      </a:r>
                    </a:p>
                    <a:p>
                      <a:r>
                        <a:t/>
                      </a:r>
                    </a:p>
                    <a:p>
                      <a:r>
                        <a:t/>
                      </a:r>
                    </a:p>
                    <a:p>
                      <a:r>
                        <a:t/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Start of 3 descriptors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Gabor: selection of optimal parameters, testing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Centrist: calculation of CT values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Color Histogram descriptor.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 dataset selection.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1028325"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01/22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b="1"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SECOND Update Report</a:t>
                      </a:r>
                    </a:p>
                    <a:p>
                      <a:r>
                        <a:t/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results of 3 descriptors without particular improvements.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Gabor: formation of the Gabor filter bank,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Centrist: calculation of centrist values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Color Histogram descriptor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1259825"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01/29</a:t>
                      </a:r>
                    </a:p>
                    <a:p>
                      <a:r>
                        <a:t/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b="1"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THIRD Update Report</a:t>
                      </a:r>
                    </a:p>
                    <a:p>
                      <a:r>
                        <a:t/>
                      </a:r>
                    </a:p>
                    <a:p>
                      <a:r>
                        <a:t/>
                      </a:r>
                    </a:p>
                    <a:p>
                      <a:r>
                        <a:t/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results of 3 descriptors with improvements: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Gabor: feature vector formation,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Centrist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Color Histogram descriptor.</a:t>
                      </a:r>
                    </a:p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Neural Network classifier implementation. Result examination of three approaches individually.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388775"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02/05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b="1"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FOURTH Update Report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- combined feature vector of three descriptors. Result examination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86025"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02/12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2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Project Report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 indent="0" marL="50800">
                        <a:lnSpc>
                          <a:spcPct val="115000"/>
                        </a:lnSpc>
                        <a:buNone/>
                      </a:pPr>
                      <a:r>
                        <a:rPr sz="1100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Comparison of approaches. Conclusion.</a:t>
                      </a:r>
                    </a:p>
                  </a:txBody>
                  <a:tcPr marR="28575" marB="28575" marT="28575" marL="28575">
                    <a:lnL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000000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1" name="Shape 10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Expected results</a:t>
            </a:r>
          </a:p>
        </p:txBody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y="1447800" x="457200"/>
            <a:ext cy="4967700" cx="8468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just" rtl="0" lvl="0">
              <a:buNone/>
            </a:pPr>
            <a:r>
              <a:rPr b="1"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Achieve:</a:t>
            </a:r>
          </a:p>
          <a:p>
            <a:pPr algn="just" rtl="0" lvl="0" indent="457200"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Scene and Category development with each descriptor:</a:t>
            </a:r>
          </a:p>
          <a:p>
            <a:pPr algn="just" rtl="0" lvl="0" indent="457200"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Gabor, Centrist, and Color Histogram .</a:t>
            </a:r>
          </a:p>
          <a:p>
            <a:r>
              <a:t/>
            </a:r>
          </a:p>
          <a:p>
            <a:pPr algn="just" rtl="0" lvl="0">
              <a:buNone/>
            </a:pPr>
            <a:r>
              <a:rPr b="1"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Improve:</a:t>
            </a:r>
          </a:p>
          <a:p>
            <a:pPr algn="just" rtl="0" lvl="0" indent="457200"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Scene and Category development with a hybrid method </a:t>
            </a:r>
          </a:p>
          <a:p>
            <a:pPr algn="just" rtl="0" lvl="0" indent="457200" marL="0"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-combining all descriptors for a better image categorization.</a:t>
            </a:r>
          </a:p>
          <a:p>
            <a:r>
              <a:t/>
            </a:r>
          </a:p>
          <a:p>
            <a:pPr algn="just" rtl="0" lvl="0">
              <a:buNone/>
            </a:pPr>
            <a:r>
              <a:rPr b="1"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Obtain:</a:t>
            </a:r>
          </a:p>
          <a:p>
            <a:pPr algn="just" rtl="0" lvl="0"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 higher accuracy in image categorization with a hybrid method. </a:t>
            </a:r>
          </a:p>
          <a:p>
            <a:pPr algn="just" rtl="0" lvl="0" indent="457200"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Better than any of the descriptors accuracy used to combine.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7" name="Shape 107"/>
          <p:cNvSpPr txBox="1"/>
          <p:nvPr>
            <p:ph idx="1" type="body"/>
          </p:nvPr>
        </p:nvSpPr>
        <p:spPr>
          <a:xfrm>
            <a:off y="1770462" x="1493600"/>
            <a:ext cy="5190300" cx="67080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just" rtl="0" lvl="0">
              <a:lnSpc>
                <a:spcPct val="115000"/>
              </a:lnSpc>
              <a:spcBef>
                <a:spcPts val="0"/>
              </a:spcBef>
              <a:buNone/>
            </a:pPr>
            <a:r>
              <a:rPr sz="1800" lang="en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Gabor filters possess localization properties in both spatial and frequency domain. </a:t>
            </a:r>
          </a:p>
          <a:p>
            <a:r>
              <a:t/>
            </a:r>
          </a:p>
          <a:p>
            <a:pPr algn="just" rtl="0" lvl="0">
              <a:lnSpc>
                <a:spcPct val="115000"/>
              </a:lnSpc>
              <a:spcBef>
                <a:spcPts val="0"/>
              </a:spcBef>
              <a:buNone/>
            </a:pPr>
            <a:r>
              <a:rPr sz="1800" lang="en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Frequency and orientation representations of Gabor filters are similar to those of the human visual system</a:t>
            </a:r>
          </a:p>
          <a:p>
            <a:r>
              <a:t/>
            </a:r>
          </a:p>
          <a:p>
            <a:pPr algn="just" rtl="0" lvl="0">
              <a:lnSpc>
                <a:spcPct val="115000"/>
              </a:lnSpc>
              <a:spcBef>
                <a:spcPts val="0"/>
              </a:spcBef>
              <a:buNone/>
            </a:pPr>
            <a:r>
              <a:rPr sz="1800" lang="en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 the spatial domain, a 2D Gabor filter is a Gaussian kernel function modulated by a sinusoidal plane wave.</a:t>
            </a:r>
          </a:p>
          <a:p>
            <a:r>
              <a:t/>
            </a:r>
          </a:p>
          <a:p>
            <a:pPr algn="just" rtl="0" lvl="0">
              <a:lnSpc>
                <a:spcPct val="115000"/>
              </a:lnSpc>
              <a:spcBef>
                <a:spcPts val="0"/>
              </a:spcBef>
              <a:buNone/>
            </a:pPr>
            <a:r>
              <a:rPr sz="1800" lang="en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Texture as a feature (</a:t>
            </a:r>
            <a:r>
              <a:rPr sz="1800" lang="en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texture can be considered to be repeating patterns of local variation of pixel intensities.</a:t>
            </a:r>
            <a:r>
              <a:rPr sz="1800" lang="en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</a:p>
          <a:p>
            <a:r>
              <a:t/>
            </a:r>
          </a:p>
          <a:p>
            <a:pPr algn="just" rtl="0" lvl="0">
              <a:lnSpc>
                <a:spcPct val="115000"/>
              </a:lnSpc>
              <a:spcBef>
                <a:spcPts val="0"/>
              </a:spcBef>
              <a:buNone/>
            </a:pPr>
            <a:r>
              <a:rPr sz="1800" lang="en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Gabor filter = texture descriptor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108" name="Shape 108"/>
          <p:cNvSpPr txBox="1"/>
          <p:nvPr>
            <p:ph type="title"/>
          </p:nvPr>
        </p:nvSpPr>
        <p:spPr>
          <a:xfrm>
            <a:off y="2305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Gabor descriptor</a:t>
            </a:r>
          </a:p>
        </p:txBody>
      </p:sp>
      <p:sp>
        <p:nvSpPr>
          <p:cNvPr id="109" name="Shape 109"/>
          <p:cNvSpPr/>
          <p:nvPr/>
        </p:nvSpPr>
        <p:spPr>
          <a:xfrm flipH="1">
            <a:off y="5622944" x="1245011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0" name="Shape 110"/>
          <p:cNvSpPr/>
          <p:nvPr/>
        </p:nvSpPr>
        <p:spPr>
          <a:xfrm flipH="1">
            <a:off y="4694819" x="1245011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1" name="Shape 111"/>
          <p:cNvSpPr/>
          <p:nvPr/>
        </p:nvSpPr>
        <p:spPr>
          <a:xfrm flipH="1">
            <a:off y="3755669" x="1245011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2" name="Shape 112"/>
          <p:cNvSpPr/>
          <p:nvPr/>
        </p:nvSpPr>
        <p:spPr>
          <a:xfrm flipH="1">
            <a:off y="2839744" x="1245011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13" name="Shape 113"/>
          <p:cNvSpPr/>
          <p:nvPr/>
        </p:nvSpPr>
        <p:spPr>
          <a:xfrm flipH="1">
            <a:off y="1866369" x="1245011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8" name="Shape 11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Gabor descriptor</a:t>
            </a:r>
          </a:p>
        </p:txBody>
      </p:sp>
      <p:sp>
        <p:nvSpPr>
          <p:cNvPr id="119" name="Shape 119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120" name="Shape 120"/>
          <p:cNvSpPr txBox="1"/>
          <p:nvPr/>
        </p:nvSpPr>
        <p:spPr>
          <a:xfrm>
            <a:off y="1922500" x="767700"/>
            <a:ext cy="3798000" cx="7608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algn="just" rtl="0" lvl="0" indent="457200">
              <a:lnSpc>
                <a:spcPct val="115000"/>
              </a:lnSpc>
              <a:buNone/>
            </a:pPr>
            <a:r>
              <a:rPr sz="2400" lang="en">
                <a:latin typeface="Times New Roman"/>
                <a:ea typeface="Times New Roman"/>
                <a:cs typeface="Times New Roman"/>
                <a:sym typeface="Times New Roman"/>
              </a:rPr>
              <a:t>Feature extraction using Gabor filters consist of the following steps:</a:t>
            </a:r>
          </a:p>
          <a:p>
            <a:r>
              <a:t/>
            </a:r>
          </a:p>
          <a:p>
            <a:pPr algn="just" rtl="0" lvl="0" indent="457200">
              <a:lnSpc>
                <a:spcPct val="115000"/>
              </a:lnSpc>
              <a:buNone/>
            </a:pPr>
            <a:r>
              <a:rPr sz="2400" lang="en"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sz="2400" lang="en" i="1">
                <a:latin typeface="Times New Roman"/>
                <a:ea typeface="Times New Roman"/>
                <a:cs typeface="Times New Roman"/>
                <a:sym typeface="Times New Roman"/>
              </a:rPr>
              <a:t>configuring Gabor filters in the spatio-frequency domain</a:t>
            </a:r>
            <a:r>
              <a:rPr sz="2400" lang="en">
                <a:latin typeface="Times New Roman"/>
                <a:ea typeface="Times New Roman"/>
                <a:cs typeface="Times New Roman"/>
                <a:sym typeface="Times New Roman"/>
              </a:rPr>
              <a:t> - choosing optimal filter parameters (orientation, phase offset, aspect ration, number of directions)</a:t>
            </a:r>
          </a:p>
          <a:p>
            <a:r>
              <a:t/>
            </a:r>
          </a:p>
          <a:p>
            <a:pPr algn="just" rtl="0" lvl="0" indent="457200">
              <a:lnSpc>
                <a:spcPct val="115000"/>
              </a:lnSpc>
              <a:buNone/>
            </a:pPr>
            <a:r>
              <a:rPr sz="2400" lang="en">
                <a:latin typeface="Times New Roman"/>
                <a:ea typeface="Times New Roman"/>
                <a:cs typeface="Times New Roman"/>
                <a:sym typeface="Times New Roman"/>
              </a:rPr>
              <a:t>2) </a:t>
            </a:r>
            <a:r>
              <a:rPr sz="2400" lang="en" i="1">
                <a:latin typeface="Times New Roman"/>
                <a:ea typeface="Times New Roman"/>
                <a:cs typeface="Times New Roman"/>
                <a:sym typeface="Times New Roman"/>
              </a:rPr>
              <a:t>combining Gabor filter bank</a:t>
            </a:r>
            <a:r>
              <a:rPr sz="2400" lang="en">
                <a:latin typeface="Times New Roman"/>
                <a:ea typeface="Times New Roman"/>
                <a:cs typeface="Times New Roman"/>
                <a:sym typeface="Times New Roman"/>
              </a:rPr>
              <a:t> that will be applied on images to form feature vectors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5" name="Shape 12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Centrist Visual Descriptor</a:t>
            </a:r>
          </a:p>
        </p:txBody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000000"/>
                </a:solidFill>
              </a:rPr>
              <a:t>- Calculate CT values by comparing neighborhood,</a:t>
            </a:r>
          </a:p>
          <a:p>
            <a:pPr rtl="0" lvl="0">
              <a:buNone/>
            </a:pPr>
            <a:r>
              <a:rPr lang="en">
                <a:solidFill>
                  <a:srgbClr val="000000"/>
                </a:solidFill>
              </a:rPr>
              <a:t>- Generate histogram = CENTRIST</a:t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127" name="Shape 127"/>
          <p:cNvSpPr/>
          <p:nvPr/>
        </p:nvSpPr>
        <p:spPr>
          <a:xfrm>
            <a:off y="3819050" x="641400"/>
            <a:ext cy="1331465" cx="76046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2" name="Shape 13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Centrist Visual Descriptor</a:t>
            </a:r>
          </a:p>
        </p:txBody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000000"/>
                </a:solidFill>
              </a:rPr>
              <a:t>Very good results! 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>
                <a:solidFill>
                  <a:srgbClr val="000000"/>
                </a:solidFill>
              </a:rPr>
              <a:t>Structure is encoded in the CENTRIST descriptor.</a:t>
            </a:r>
          </a:p>
          <a:p>
            <a:r>
              <a:t/>
            </a:r>
          </a:p>
        </p:txBody>
      </p:sp>
      <p:sp>
        <p:nvSpPr>
          <p:cNvPr id="134" name="Shape 134"/>
          <p:cNvSpPr/>
          <p:nvPr/>
        </p:nvSpPr>
        <p:spPr>
          <a:xfrm>
            <a:off y="3447200" x="781890"/>
            <a:ext cy="2768561" cx="758021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9" name="Shape 139"/>
          <p:cNvSpPr txBox="1"/>
          <p:nvPr>
            <p:ph type="title"/>
          </p:nvPr>
        </p:nvSpPr>
        <p:spPr>
          <a:xfrm>
            <a:off y="646502" x="533400"/>
            <a:ext cy="716400" cx="68991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
</a:t>
            </a:r>
          </a:p>
          <a:p>
            <a:pPr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Color Histograms Descriptor</a:t>
            </a:r>
          </a:p>
        </p:txBody>
      </p:sp>
      <p:sp>
        <p:nvSpPr>
          <p:cNvPr id="140" name="Shape 140"/>
          <p:cNvSpPr txBox="1"/>
          <p:nvPr>
            <p:ph idx="1" type="body"/>
          </p:nvPr>
        </p:nvSpPr>
        <p:spPr>
          <a:xfrm>
            <a:off y="1514289" x="527746"/>
            <a:ext cy="4814099" cx="80931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18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Bin-ratio provides important information that is collected from ratios between bin values of histograms that are used for scene and category classifications. </a:t>
            </a:r>
          </a:p>
          <a:p>
            <a:r>
              <a:t/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u="sng"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advantages are as follows:</a:t>
            </a:r>
          </a:p>
          <a:p>
            <a:pPr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-BRD is robust to cluttering, partial occlusion and histogram normalization.</a:t>
            </a:r>
          </a:p>
          <a:p>
            <a:r>
              <a:t/>
            </a:r>
          </a:p>
          <a:p>
            <a:pPr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-BRD captures rich co-occurrence information, and has a linear computational complexity.</a:t>
            </a:r>
          </a:p>
          <a:p>
            <a:r>
              <a:t/>
            </a:r>
          </a:p>
          <a:p>
            <a:pPr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-BRD easy to combined with other methods to gather complementary information.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5" name="Shape 145"/>
          <p:cNvSpPr txBox="1"/>
          <p:nvPr>
            <p:ph idx="1" type="body"/>
          </p:nvPr>
        </p:nvSpPr>
        <p:spPr>
          <a:xfrm>
            <a:off y="1447800" x="457200"/>
            <a:ext cy="47969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Histogram-based representation will capture rich information to be used within the bag-of-words models, where each image will be represented by its histogram of quantized visual words and combined with classifiers for categorization purpose.</a:t>
            </a:r>
          </a:p>
          <a:p>
            <a:r>
              <a:t/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u="sng"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 Development and Approaches</a:t>
            </a:r>
          </a:p>
          <a:p>
            <a:r>
              <a:t/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Partial matching information:</a:t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large amount of clutter that brings noises to the object-of-interest.</a:t>
            </a:r>
          </a:p>
          <a:p>
            <a:r>
              <a:t/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Co-occurrence information:</a:t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the correlation information between pairs of histogram bins of visual words </a:t>
            </a:r>
          </a:p>
          <a:p>
            <a:r>
              <a:t/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u="sng"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recent matching algorithms with high-order statistics:</a:t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Second-order programming,</a:t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Matching</a:t>
            </a:r>
          </a:p>
          <a:p>
            <a:pPr algn="just" rtl="0" lvl="0">
              <a:lnSpc>
                <a:spcPct val="100000"/>
              </a:lnSpc>
              <a:spcBef>
                <a:spcPts val="0"/>
              </a:spcBef>
              <a:buNone/>
            </a:pPr>
            <a:r>
              <a:rPr sz="22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High order matching.</a:t>
            </a:r>
          </a:p>
          <a:p>
            <a:r>
              <a:t/>
            </a:r>
          </a:p>
        </p:txBody>
      </p:sp>
      <p:sp>
        <p:nvSpPr>
          <p:cNvPr id="146" name="Shape 146"/>
          <p:cNvSpPr txBox="1"/>
          <p:nvPr>
            <p:ph type="title"/>
          </p:nvPr>
        </p:nvSpPr>
        <p:spPr>
          <a:xfrm>
            <a:off y="646502" x="152400"/>
            <a:ext cy="716400" cx="68991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
</a:t>
            </a:r>
          </a:p>
          <a:p>
            <a:pPr rtl="0" lvl="0"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Color Histograms Descriptor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1" name="Shape 15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Classifier</a:t>
            </a:r>
          </a:p>
        </p:txBody>
      </p:sp>
      <p:sp>
        <p:nvSpPr>
          <p:cNvPr id="152" name="Shape 152"/>
          <p:cNvSpPr txBox="1"/>
          <p:nvPr>
            <p:ph idx="1" type="body"/>
          </p:nvPr>
        </p:nvSpPr>
        <p:spPr>
          <a:xfrm>
            <a:off y="1890300" x="1074600"/>
            <a:ext cy="4967700" cx="7612200"/>
          </a:xfrm>
          <a:prstGeom prst="rect">
            <a:avLst/>
          </a:prstGeom>
          <a:ln>
            <a:noFill/>
          </a:ln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classifier </a:t>
            </a:r>
            <a:r>
              <a:rPr sz="24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Neural Network</a:t>
            </a: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selected.</a:t>
            </a:r>
          </a:p>
          <a:p>
            <a:r>
              <a:t/>
            </a:r>
          </a:p>
          <a:p>
            <a:pPr rtl="0" lvl="0"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Tool:</a:t>
            </a: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Matlab Neural Network Toolbox</a:t>
            </a:r>
          </a:p>
          <a:p>
            <a:r>
              <a:t/>
            </a:r>
          </a:p>
          <a:p>
            <a:pPr rtl="0" lvl="0"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 using </a:t>
            </a:r>
            <a:r>
              <a:rPr sz="2400" lang="en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 forward back propagation</a:t>
            </a:r>
            <a:r>
              <a:rPr sz="2400" lang="en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 </a:t>
            </a:r>
          </a:p>
          <a:p>
            <a:r>
              <a:t/>
            </a:r>
          </a:p>
          <a:p>
            <a:pPr rtl="0" lvl="0"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layer</a:t>
            </a: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s: to be determined (most probably 1 hidden layer)</a:t>
            </a:r>
          </a:p>
          <a:p>
            <a:r>
              <a:t/>
            </a:r>
          </a:p>
        </p:txBody>
      </p:sp>
      <p:sp>
        <p:nvSpPr>
          <p:cNvPr id="153" name="Shape 153"/>
          <p:cNvSpPr/>
          <p:nvPr/>
        </p:nvSpPr>
        <p:spPr>
          <a:xfrm flipH="1">
            <a:off y="2982294" x="852124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54" name="Shape 154"/>
          <p:cNvSpPr/>
          <p:nvPr/>
        </p:nvSpPr>
        <p:spPr>
          <a:xfrm flipH="1">
            <a:off y="2147894" x="865899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55" name="Shape 155"/>
          <p:cNvSpPr/>
          <p:nvPr/>
        </p:nvSpPr>
        <p:spPr>
          <a:xfrm flipH="1">
            <a:off y="3795469" x="852124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156" name="Shape 156"/>
          <p:cNvSpPr/>
          <p:nvPr/>
        </p:nvSpPr>
        <p:spPr>
          <a:xfrm flipH="1">
            <a:off y="4977919" x="852124"/>
            <a:ext cy="190200" cx="190200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1" name="Shape 161"/>
          <p:cNvSpPr txBox="1"/>
          <p:nvPr>
            <p:ph type="title"/>
          </p:nvPr>
        </p:nvSpPr>
        <p:spPr>
          <a:xfrm>
            <a:off y="798902" x="381000"/>
            <a:ext cy="716400" cx="8059199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4800"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
</a:t>
            </a:r>
          </a:p>
          <a:p>
            <a:pPr rtl="0" lvl="0">
              <a:buNone/>
            </a:pPr>
            <a:r>
              <a:rPr sz="4800" lang="en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Conclusion</a:t>
            </a:r>
          </a:p>
        </p:txBody>
      </p:sp>
      <p:sp>
        <p:nvSpPr>
          <p:cNvPr id="162" name="Shape 162"/>
          <p:cNvSpPr txBox="1"/>
          <p:nvPr>
            <p:ph idx="1" type="body"/>
          </p:nvPr>
        </p:nvSpPr>
        <p:spPr>
          <a:xfrm>
            <a:off y="1732500" x="644700"/>
            <a:ext cy="4967700" cx="7854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just" rtl="0" lvl="0" indent="457200">
              <a:lnSpc>
                <a:spcPct val="115000"/>
              </a:lnSpc>
              <a:spcBef>
                <a:spcPts val="0"/>
              </a:spcBef>
              <a:buNone/>
            </a:pPr>
            <a:r>
              <a:rPr sz="2400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Gabor, Centrist, and Color Histogram descriptors can be easily combined into one method. This combination will give place to a hybrid methodology to gather complementary information for a better categorization and scene classification tasks using a bag-of-words framework.</a:t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Custom 439">
      <a:dk1>
        <a:srgbClr val="000000"/>
      </a:dk1>
      <a:lt1>
        <a:srgbClr val="FFFFFF"/>
      </a:lt1>
      <a:dk2>
        <a:srgbClr val="5C6E95"/>
      </a:dk2>
      <a:lt2>
        <a:srgbClr val="ACB4C2"/>
      </a:lt2>
      <a:accent1>
        <a:srgbClr val="667E50"/>
      </a:accent1>
      <a:accent2>
        <a:srgbClr val="CFBF73"/>
      </a:accent2>
      <a:accent3>
        <a:srgbClr val="8C7C82"/>
      </a:accent3>
      <a:accent4>
        <a:srgbClr val="9ABF87"/>
      </a:accent4>
      <a:accent5>
        <a:srgbClr val="CF9462"/>
      </a:accent5>
      <a:accent6>
        <a:srgbClr val="A25642"/>
      </a:accent6>
      <a:hlink>
        <a:srgbClr val="5173A5"/>
      </a:hlink>
      <a:folHlink>
        <a:srgbClr val="687282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